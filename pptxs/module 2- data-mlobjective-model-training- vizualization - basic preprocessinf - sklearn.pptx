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y="5143500" cx="9144000"/>
  <p:notesSz cx="6858000" cy="9144000"/>
  <p:embeddedFontLst>
    <p:embeddedFont>
      <p:font typeface="Montserrat"/>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C519A4-8B63-471A-9573-9005C2BE45B1}">
  <a:tblStyle styleId="{96C519A4-8B63-471A-9573-9005C2BE45B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3" Type="http://schemas.openxmlformats.org/officeDocument/2006/relationships/font" Target="fonts/Montserrat-boldItalic.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Montserrat-regular.fntdata"/><Relationship Id="rId82" Type="http://schemas.openxmlformats.org/officeDocument/2006/relationships/font" Target="fonts/Montserrat-italic.fntdata"/><Relationship Id="rId81" Type="http://schemas.openxmlformats.org/officeDocument/2006/relationships/font" Target="fonts/Montserra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a2c199a24_0_45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g3fa2c199a24_0_45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g3fa2c199a24_0_45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a2c199a24_0_4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g3fa2c199a24_0_46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g3fa2c199a24_0_46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a2c199a24_0_47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fa2c199a24_0_47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g3fa2c199a24_0_47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a2c199a24_0_48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fa2c199a24_0_48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3fa2c199a24_0_48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a2c199a24_0_50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g3fa2c199a24_0_50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g3fa2c199a24_0_50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a2c199a24_0_5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g3fa2c199a24_0_51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g3fa2c199a24_0_51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a2c199a24_0_5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3fa2c199a24_0_52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fa2c199a24_0_52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a2c199a24_0_5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g3fa2c199a24_0_53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fa2c199a24_0_53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a2c199a24_0_5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fa2c199a24_0_55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fa2c199a24_0_55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a2c199a24_0_56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fa2c199a24_0_56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fa2c199a24_0_56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a2c199a24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fa2c199a24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fa2c199a24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a2c199a24_0_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fa2c199a24_0_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fa2c199a24_0_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a2c199a24_0_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fa2c199a24_0_2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g3fa2c199a24_0_2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fa2c199a24_0_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3fa2c199a24_0_5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3fa2c199a24_0_5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a2c199a24_0_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fa2c199a24_0_6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3fa2c199a24_0_6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a2c199a24_0_7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fa2c199a24_0_7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g3fa2c199a24_0_7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fa2c199a24_0_9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3fa2c199a24_0_9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3fa2c199a24_0_9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a2c199a24_0_12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g3fa2c199a24_0_12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fa2c199a24_0_12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a2c199a24_0_1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3fa2c199a24_0_15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g3fa2c199a24_0_15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fa2c199a24_0_1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3fa2c199a24_0_16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3fa2c199a24_0_16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a2c199a24_0_18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3fa2c199a24_0_18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g3fa2c199a24_0_18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fa2c199a24_0_1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g3fa2c199a24_0_1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fa2c199a24_0_1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fa2c199a24_0_2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g3fa2c199a24_0_21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g3fa2c199a24_0_21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fa2c199a24_0_2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g3fa2c199a24_0_22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g3fa2c199a24_0_22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fa2c199a24_0_2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fa2c199a24_0_26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3fa2c199a24_0_26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fa2c199a24_0_94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g3fa2c199a24_0_94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g3fa2c199a24_0_94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fa2c199a24_0_9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g3fa2c199a24_0_94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g3fa2c199a24_0_94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fa2c199a24_0_9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g3fa2c199a24_0_95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g3fa2c199a24_0_95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fa2c199a24_0_97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fa2c199a24_0_97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g3fa2c199a24_0_97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a2c199a24_0_98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1" name="Google Shape;551;g3fa2c199a24_0_98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3fa2c199a24_0_98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fa2c199a24_0_100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3fa2c199a24_0_100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g3fa2c199a24_0_100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fa2c199a24_0_10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3fa2c199a24_0_10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g3fa2c199a24_0_10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fa2c199a24_0_10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g3fa2c199a24_0_103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g3fa2c199a24_0_103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fa2c199a24_0_104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g3fa2c199a24_0_104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g3fa2c199a24_0_104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fa2c199a24_0_10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g3fa2c199a24_0_105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g3fa2c199a24_0_105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fa2c199a24_0_10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g3fa2c199a24_0_106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g3fa2c199a24_0_106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fa2c199a24_0_10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g3fa2c199a24_0_107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g3fa2c199a24_0_107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fa2c199a24_0_10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fa2c199a24_0_10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5" name="Google Shape;665;g3fa2c199a24_0_10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fa2c199a24_0_110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g3fa2c199a24_0_110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g3fa2c199a24_0_110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fa2c199a24_0_11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g3fa2c199a24_0_111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1" name="Google Shape;691;g3fa2c199a24_0_111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fa2c199a24_0_11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fa2c199a24_0_112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g3fa2c199a24_0_112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fa2c199a24_0_11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g3fa2c199a24_0_115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g3fa2c199a24_0_115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fa2c199a24_0_11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fa2c199a24_0_116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4" name="Google Shape;744;g3fa2c199a24_0_116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fa2c199a24_0_118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g3fa2c199a24_0_118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g3fa2c199a24_0_118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fa2c199a24_0_119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fa2c199a24_0_119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g3fa2c199a24_0_119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fa2c199a24_0_12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g3fa2c199a24_0_120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8" name="Google Shape;788;g3fa2c199a24_0_120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fa2c199a24_0_12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5" name="Google Shape;805;g3fa2c199a24_0_122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g3fa2c199a24_0_122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fa2c199a24_0_12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2" name="Google Shape;832;g3fa2c199a24_0_125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3" name="Google Shape;833;g3fa2c199a24_0_125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fa2c199a24_0_12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g3fa2c199a24_0_126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g3fa2c199a24_0_126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fa2c199a24_0_12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6" name="Google Shape;866;g3fa2c199a24_0_128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g3fa2c199a24_0_128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fa2c199a24_0_12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g3fa2c199a24_0_12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g3fa2c199a24_0_12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fa2c199a24_0_13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1" name="Google Shape;891;g3fa2c199a24_0_130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g3fa2c199a24_0_130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fa2c199a24_0_3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g3fa2c199a24_0_37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4" name="Google Shape;904;g3fa2c199a24_0_37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3fa2c199a24_0_38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1" name="Google Shape;921;g3fa2c199a24_0_38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2" name="Google Shape;922;g3fa2c199a24_0_38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fa2c199a24_0_65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5" name="Google Shape;945;g3fa2c199a24_0_65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g3fa2c199a24_0_65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fa2c199a24_0_65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g3fa2c199a24_0_65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g3fa2c199a24_0_65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fa2c199a24_0_6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g3fa2c199a24_0_66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g3fa2c199a24_0_66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fa2c199a24_0_67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g3fa2c199a24_0_67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2" name="Google Shape;972;g3fa2c199a24_0_67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fa2c199a24_0_68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g3fa2c199a24_0_68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g3fa2c199a24_0_68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fa2c199a24_0_7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4" name="Google Shape;1004;g3fa2c199a24_0_70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5" name="Google Shape;1005;g3fa2c199a24_0_70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fa2c199a24_0_7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8" name="Google Shape;1018;g3fa2c199a24_0_71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9" name="Google Shape;1019;g3fa2c199a24_0_71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fa2c199a24_0_7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g3fa2c199a24_0_73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3" name="Google Shape;1033;g3fa2c199a24_0_73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a2c199a24_0_7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g3fa2c199a24_0_74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7" name="Google Shape;1047;g3fa2c199a24_0_74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fa2c199a24_0_75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 name="Google Shape;1057;g3fa2c199a24_0_75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8" name="Google Shape;1058;g3fa2c199a24_0_75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fa2c199a24_0_7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g3fa2c199a24_0_75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g3fa2c199a24_0_75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fa2c199a24_0_77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g3fa2c199a24_0_77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g3fa2c199a24_0_77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fa2c199a24_0_79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9" name="Google Shape;1099;g3fa2c199a24_0_79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0" name="Google Shape;1100;g3fa2c199a24_0_79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fa2c199a24_0_80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3" name="Google Shape;1113;g3fa2c199a24_0_80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4" name="Google Shape;1114;g3fa2c199a24_0_80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fa2c199a24_0_81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g3fa2c199a24_0_81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6" name="Google Shape;1126;g3fa2c199a24_0_81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3fa2c199a24_0_8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2" name="Google Shape;1132;g3fa2c199a24_0_82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3" name="Google Shape;1133;g3fa2c199a24_0_82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fa2c199a24_0_8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4" name="Google Shape;1144;g3fa2c199a24_0_833: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5" name="Google Shape;1145;g3fa2c199a24_0_833: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3fa2c199a24_0_8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7" name="Google Shape;1157;g3fa2c199a24_0_845: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8" name="Google Shape;1158;g3fa2c199a24_0_845: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3fa2c199a24_0_8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g3fa2c199a24_0_85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2" name="Google Shape;1172;g3fa2c199a24_0_85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4.png"/><Relationship Id="rId4" Type="http://schemas.openxmlformats.org/officeDocument/2006/relationships/image" Target="../media/image4.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8.png"/><Relationship Id="rId4" Type="http://schemas.openxmlformats.org/officeDocument/2006/relationships/image" Target="../media/image31.png"/><Relationship Id="rId5" Type="http://schemas.openxmlformats.org/officeDocument/2006/relationships/hyperlink" Target="https://en.wikipedia.org/wiki/Transformer_(deep_learning_architecture)" TargetMode="External"/><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15.png"/><Relationship Id="rId7" Type="http://schemas.openxmlformats.org/officeDocument/2006/relationships/image" Target="../media/image6.png"/><Relationship Id="rId8"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3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33.png"/><Relationship Id="rId5" Type="http://schemas.openxmlformats.org/officeDocument/2006/relationships/image" Target="../media/image1.png"/><Relationship Id="rId6"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1" Type="http://schemas.openxmlformats.org/officeDocument/2006/relationships/image" Target="../media/image29.png"/><Relationship Id="rId10" Type="http://schemas.openxmlformats.org/officeDocument/2006/relationships/image" Target="../media/image28.png"/><Relationship Id="rId12" Type="http://schemas.openxmlformats.org/officeDocument/2006/relationships/image" Target="../media/image1.png"/><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7.png"/><Relationship Id="rId5" Type="http://schemas.openxmlformats.org/officeDocument/2006/relationships/image" Target="../media/image39.png"/><Relationship Id="rId6" Type="http://schemas.openxmlformats.org/officeDocument/2006/relationships/image" Target="../media/image18.png"/><Relationship Id="rId7" Type="http://schemas.openxmlformats.org/officeDocument/2006/relationships/image" Target="../media/image23.png"/><Relationship Id="rId8"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4.png"/><Relationship Id="rId5" Type="http://schemas.openxmlformats.org/officeDocument/2006/relationships/image" Target="../media/image42.png"/><Relationship Id="rId6" Type="http://schemas.openxmlformats.org/officeDocument/2006/relationships/image" Target="../media/image30.png"/><Relationship Id="rId7"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5.png"/><Relationship Id="rId5" Type="http://schemas.openxmlformats.org/officeDocument/2006/relationships/image" Target="../media/image43.png"/><Relationship Id="rId6" Type="http://schemas.openxmlformats.org/officeDocument/2006/relationships/image" Target="../media/image26.png"/><Relationship Id="rId7" Type="http://schemas.openxmlformats.org/officeDocument/2006/relationships/image" Target="../media/image5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76.png"/><Relationship Id="rId5"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62.png"/><Relationship Id="rId9" Type="http://schemas.openxmlformats.org/officeDocument/2006/relationships/image" Target="../media/image29.png"/><Relationship Id="rId5" Type="http://schemas.openxmlformats.org/officeDocument/2006/relationships/image" Target="../media/image58.png"/><Relationship Id="rId6" Type="http://schemas.openxmlformats.org/officeDocument/2006/relationships/image" Target="../media/image52.png"/><Relationship Id="rId7" Type="http://schemas.openxmlformats.org/officeDocument/2006/relationships/image" Target="../media/image40.png"/><Relationship Id="rId8"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55.png"/><Relationship Id="rId5" Type="http://schemas.openxmlformats.org/officeDocument/2006/relationships/image" Target="../media/image6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7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75.png"/><Relationship Id="rId5" Type="http://schemas.openxmlformats.org/officeDocument/2006/relationships/image" Target="../media/image64.png"/><Relationship Id="rId6" Type="http://schemas.openxmlformats.org/officeDocument/2006/relationships/image" Target="../media/image49.png"/><Relationship Id="rId7" Type="http://schemas.openxmlformats.org/officeDocument/2006/relationships/image" Target="../media/image48.png"/><Relationship Id="rId8"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7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68.gif"/><Relationship Id="rId5" Type="http://schemas.openxmlformats.org/officeDocument/2006/relationships/image" Target="../media/image66.png"/><Relationship Id="rId6" Type="http://schemas.openxmlformats.org/officeDocument/2006/relationships/image" Target="../media/image61.png"/><Relationship Id="rId7" Type="http://schemas.openxmlformats.org/officeDocument/2006/relationships/image" Target="../media/image5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81.png"/><Relationship Id="rId5" Type="http://schemas.openxmlformats.org/officeDocument/2006/relationships/image" Target="../media/image62.png"/><Relationship Id="rId6" Type="http://schemas.openxmlformats.org/officeDocument/2006/relationships/image" Target="../media/image5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83.png"/><Relationship Id="rId5" Type="http://schemas.openxmlformats.org/officeDocument/2006/relationships/image" Target="../media/image6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86.png"/><Relationship Id="rId4" Type="http://schemas.openxmlformats.org/officeDocument/2006/relationships/image" Target="../media/image67.png"/><Relationship Id="rId5" Type="http://schemas.openxmlformats.org/officeDocument/2006/relationships/image" Target="../media/image71.png"/><Relationship Id="rId6"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69.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82.png"/><Relationship Id="rId4" Type="http://schemas.openxmlformats.org/officeDocument/2006/relationships/image" Target="../media/image47.png"/><Relationship Id="rId5" Type="http://schemas.openxmlformats.org/officeDocument/2006/relationships/image" Target="../media/image79.png"/><Relationship Id="rId6"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91.png"/><Relationship Id="rId4" Type="http://schemas.openxmlformats.org/officeDocument/2006/relationships/image" Target="../media/image72.png"/><Relationship Id="rId5"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73.png"/><Relationship Id="rId4" Type="http://schemas.openxmlformats.org/officeDocument/2006/relationships/image" Target="../media/image77.png"/><Relationship Id="rId9" Type="http://schemas.openxmlformats.org/officeDocument/2006/relationships/image" Target="../media/image90.png"/><Relationship Id="rId5" Type="http://schemas.openxmlformats.org/officeDocument/2006/relationships/image" Target="../media/image93.png"/><Relationship Id="rId6" Type="http://schemas.openxmlformats.org/officeDocument/2006/relationships/image" Target="../media/image84.png"/><Relationship Id="rId7" Type="http://schemas.openxmlformats.org/officeDocument/2006/relationships/image" Target="../media/image94.png"/><Relationship Id="rId8" Type="http://schemas.openxmlformats.org/officeDocument/2006/relationships/image" Target="../media/image8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73.png"/><Relationship Id="rId4" Type="http://schemas.openxmlformats.org/officeDocument/2006/relationships/image" Target="../media/image95.png"/><Relationship Id="rId5" Type="http://schemas.openxmlformats.org/officeDocument/2006/relationships/image" Target="../media/image97.png"/><Relationship Id="rId6"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99.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88.png"/><Relationship Id="rId4" Type="http://schemas.openxmlformats.org/officeDocument/2006/relationships/image" Target="../media/image101.png"/><Relationship Id="rId5"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87.png"/><Relationship Id="rId4" Type="http://schemas.openxmlformats.org/officeDocument/2006/relationships/image" Target="../media/image107.png"/><Relationship Id="rId5"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89.pn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11.png"/><Relationship Id="rId4" Type="http://schemas.openxmlformats.org/officeDocument/2006/relationships/image" Target="../media/image96.png"/><Relationship Id="rId5"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99.pn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1.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83.png"/><Relationship Id="rId5" Type="http://schemas.openxmlformats.org/officeDocument/2006/relationships/image" Target="../media/image63.png"/><Relationship Id="rId6" Type="http://schemas.openxmlformats.org/officeDocument/2006/relationships/image" Target="../media/image102.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83.png"/><Relationship Id="rId5" Type="http://schemas.openxmlformats.org/officeDocument/2006/relationships/image" Target="../media/image104.gif"/><Relationship Id="rId6" Type="http://schemas.openxmlformats.org/officeDocument/2006/relationships/image" Target="../media/image102.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1.png"/><Relationship Id="rId4" Type="http://schemas.openxmlformats.org/officeDocument/2006/relationships/image" Target="../media/image10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1.png"/><Relationship Id="rId4" Type="http://schemas.openxmlformats.org/officeDocument/2006/relationships/image" Target="../media/image1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11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1.png"/><Relationship Id="rId4" Type="http://schemas.openxmlformats.org/officeDocument/2006/relationships/image" Target="../media/image1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1.png"/><Relationship Id="rId4" Type="http://schemas.openxmlformats.org/officeDocument/2006/relationships/image" Target="../media/image1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1.png"/><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image" Target="../media/image1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1.png"/><Relationship Id="rId4" Type="http://schemas.openxmlformats.org/officeDocument/2006/relationships/image" Target="../media/image11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1.png"/><Relationship Id="rId4" Type="http://schemas.openxmlformats.org/officeDocument/2006/relationships/image" Target="../media/image1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1.png"/><Relationship Id="rId4" Type="http://schemas.openxmlformats.org/officeDocument/2006/relationships/image" Target="../media/image12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1.png"/><Relationship Id="rId4" Type="http://schemas.openxmlformats.org/officeDocument/2006/relationships/image" Target="../media/image11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image" Target="../media/image1.png"/><Relationship Id="rId4" Type="http://schemas.openxmlformats.org/officeDocument/2006/relationships/image" Target="../media/image1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 Id="rId3" Type="http://schemas.openxmlformats.org/officeDocument/2006/relationships/image" Target="../media/image1.png"/><Relationship Id="rId4" Type="http://schemas.openxmlformats.org/officeDocument/2006/relationships/image" Target="../media/image1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 Id="rId3" Type="http://schemas.openxmlformats.org/officeDocument/2006/relationships/image" Target="../media/image1.png"/><Relationship Id="rId4" Type="http://schemas.openxmlformats.org/officeDocument/2006/relationships/image" Target="../media/image1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55" name="Shape 55"/>
        <p:cNvGrpSpPr/>
        <p:nvPr/>
      </p:nvGrpSpPr>
      <p:grpSpPr>
        <a:xfrm>
          <a:off x="0" y="0"/>
          <a:ext cx="0" cy="0"/>
          <a:chOff x="0" y="0"/>
          <a:chExt cx="0" cy="0"/>
        </a:xfrm>
      </p:grpSpPr>
      <p:pic>
        <p:nvPicPr>
          <p:cNvPr id="56" name="Google Shape;56;p14"/>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57" name="Google Shape;57;p14"/>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AI - Landing Overview</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2" name="Shape 62"/>
        <p:cNvGrpSpPr/>
        <p:nvPr/>
      </p:nvGrpSpPr>
      <p:grpSpPr>
        <a:xfrm>
          <a:off x="0" y="0"/>
          <a:ext cx="0" cy="0"/>
          <a:chOff x="0" y="0"/>
          <a:chExt cx="0" cy="0"/>
        </a:xfrm>
      </p:grpSpPr>
      <p:sp>
        <p:nvSpPr>
          <p:cNvPr id="63" name="Google Shape;63;p1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AI : Definitions</a:t>
            </a:r>
            <a:endParaRPr b="1" sz="2400">
              <a:solidFill>
                <a:srgbClr val="0F2B46"/>
              </a:solidFill>
              <a:latin typeface="Trebuchet MS"/>
              <a:ea typeface="Trebuchet MS"/>
              <a:cs typeface="Trebuchet MS"/>
              <a:sym typeface="Trebuchet MS"/>
            </a:endParaRPr>
          </a:p>
        </p:txBody>
      </p:sp>
      <p:sp>
        <p:nvSpPr>
          <p:cNvPr id="66" name="Google Shape;66;p15"/>
          <p:cNvSpPr txBox="1"/>
          <p:nvPr/>
        </p:nvSpPr>
        <p:spPr>
          <a:xfrm>
            <a:off x="3372150" y="4765399"/>
            <a:ext cx="5540700" cy="272700"/>
          </a:xfrm>
          <a:prstGeom prst="rect">
            <a:avLst/>
          </a:prstGeom>
          <a:noFill/>
          <a:ln>
            <a:noFill/>
          </a:ln>
        </p:spPr>
        <p:txBody>
          <a:bodyPr anchorCtr="0" anchor="t" bIns="85225" lIns="85225" spcFirstLastPara="1" rIns="85225" wrap="square" tIns="85225">
            <a:spAutoFit/>
          </a:bodyPr>
          <a:lstStyle/>
          <a:p>
            <a:pPr indent="0" lvl="0" marL="0" rtl="0" algn="l">
              <a:spcBef>
                <a:spcPts val="0"/>
              </a:spcBef>
              <a:spcAft>
                <a:spcPts val="0"/>
              </a:spcAft>
              <a:buNone/>
            </a:pPr>
            <a:r>
              <a:rPr lang="fr" sz="652">
                <a:solidFill>
                  <a:schemeClr val="dk2"/>
                </a:solidFill>
                <a:latin typeface="Montserrat"/>
                <a:ea typeface="Montserrat"/>
                <a:cs typeface="Montserrat"/>
                <a:sym typeface="Montserrat"/>
              </a:rPr>
              <a:t>source: https://medium.com/geekculture/ai-revolution-your-fast-paced-introduction-to-machine-learning-914ce9b6ddf</a:t>
            </a:r>
            <a:endParaRPr sz="652">
              <a:solidFill>
                <a:schemeClr val="dk2"/>
              </a:solidFill>
              <a:latin typeface="Montserrat"/>
              <a:ea typeface="Montserrat"/>
              <a:cs typeface="Montserrat"/>
              <a:sym typeface="Montserrat"/>
            </a:endParaRPr>
          </a:p>
        </p:txBody>
      </p:sp>
      <p:grpSp>
        <p:nvGrpSpPr>
          <p:cNvPr id="67" name="Google Shape;67;p15"/>
          <p:cNvGrpSpPr/>
          <p:nvPr/>
        </p:nvGrpSpPr>
        <p:grpSpPr>
          <a:xfrm>
            <a:off x="3372232" y="1063962"/>
            <a:ext cx="5120493" cy="3590170"/>
            <a:chOff x="1825249" y="850425"/>
            <a:chExt cx="5493501" cy="3851700"/>
          </a:xfrm>
        </p:grpSpPr>
        <p:pic>
          <p:nvPicPr>
            <p:cNvPr id="68" name="Google Shape;68;p15"/>
            <p:cNvPicPr preferRelativeResize="0"/>
            <p:nvPr/>
          </p:nvPicPr>
          <p:blipFill>
            <a:blip r:embed="rId3">
              <a:alphaModFix/>
            </a:blip>
            <a:stretch>
              <a:fillRect/>
            </a:stretch>
          </p:blipFill>
          <p:spPr>
            <a:xfrm>
              <a:off x="1825249" y="850425"/>
              <a:ext cx="5493501" cy="3851700"/>
            </a:xfrm>
            <a:prstGeom prst="rect">
              <a:avLst/>
            </a:prstGeom>
            <a:noFill/>
            <a:ln>
              <a:noFill/>
            </a:ln>
          </p:spPr>
        </p:pic>
        <p:sp>
          <p:nvSpPr>
            <p:cNvPr id="69" name="Google Shape;69;p15"/>
            <p:cNvSpPr/>
            <p:nvPr/>
          </p:nvSpPr>
          <p:spPr>
            <a:xfrm>
              <a:off x="5595800" y="4464225"/>
              <a:ext cx="980400" cy="237900"/>
            </a:xfrm>
            <a:prstGeom prst="rect">
              <a:avLst/>
            </a:prstGeom>
            <a:solidFill>
              <a:schemeClr val="lt1"/>
            </a:solidFill>
            <a:ln cap="flat" cmpd="sng" w="8875">
              <a:solidFill>
                <a:schemeClr val="lt1"/>
              </a:solidFill>
              <a:prstDash val="solid"/>
              <a:round/>
              <a:headEnd len="sm" w="sm" type="none"/>
              <a:tailEnd len="sm" w="sm" type="none"/>
            </a:ln>
          </p:spPr>
          <p:txBody>
            <a:bodyPr anchorCtr="0" anchor="ctr" bIns="85225" lIns="85225" spcFirstLastPara="1" rIns="85225" wrap="square" tIns="85225">
              <a:noAutofit/>
            </a:bodyPr>
            <a:lstStyle/>
            <a:p>
              <a:pPr indent="0" lvl="0" marL="0" rtl="0" algn="ctr">
                <a:spcBef>
                  <a:spcPts val="0"/>
                </a:spcBef>
                <a:spcAft>
                  <a:spcPts val="0"/>
                </a:spcAft>
                <a:buNone/>
              </a:pPr>
              <a:r>
                <a:t/>
              </a:r>
              <a:endParaRPr sz="1305"/>
            </a:p>
          </p:txBody>
        </p:sp>
        <p:sp>
          <p:nvSpPr>
            <p:cNvPr id="70" name="Google Shape;70;p15"/>
            <p:cNvSpPr/>
            <p:nvPr/>
          </p:nvSpPr>
          <p:spPr>
            <a:xfrm>
              <a:off x="5872050" y="4317325"/>
              <a:ext cx="980400" cy="237900"/>
            </a:xfrm>
            <a:prstGeom prst="rect">
              <a:avLst/>
            </a:prstGeom>
            <a:solidFill>
              <a:schemeClr val="lt1"/>
            </a:solidFill>
            <a:ln cap="flat" cmpd="sng" w="8875">
              <a:solidFill>
                <a:schemeClr val="lt1"/>
              </a:solidFill>
              <a:prstDash val="solid"/>
              <a:round/>
              <a:headEnd len="sm" w="sm" type="none"/>
              <a:tailEnd len="sm" w="sm" type="none"/>
            </a:ln>
          </p:spPr>
          <p:txBody>
            <a:bodyPr anchorCtr="0" anchor="ctr" bIns="85225" lIns="85225" spcFirstLastPara="1" rIns="85225" wrap="square" tIns="85225">
              <a:noAutofit/>
            </a:bodyPr>
            <a:lstStyle/>
            <a:p>
              <a:pPr indent="0" lvl="0" marL="0" rtl="0" algn="ctr">
                <a:spcBef>
                  <a:spcPts val="0"/>
                </a:spcBef>
                <a:spcAft>
                  <a:spcPts val="0"/>
                </a:spcAft>
                <a:buNone/>
              </a:pPr>
              <a:r>
                <a:t/>
              </a:r>
              <a:endParaRPr sz="1305"/>
            </a:p>
          </p:txBody>
        </p:sp>
      </p:grpSp>
      <p:sp>
        <p:nvSpPr>
          <p:cNvPr id="71" name="Google Shape;71;p15"/>
          <p:cNvSpPr/>
          <p:nvPr/>
        </p:nvSpPr>
        <p:spPr>
          <a:xfrm>
            <a:off x="0" y="868800"/>
            <a:ext cx="3052500" cy="4273500"/>
          </a:xfrm>
          <a:prstGeom prst="rect">
            <a:avLst/>
          </a:prstGeom>
          <a:solidFill>
            <a:srgbClr val="F5F5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 name="Google Shape;72;p15"/>
          <p:cNvSpPr/>
          <p:nvPr/>
        </p:nvSpPr>
        <p:spPr>
          <a:xfrm>
            <a:off x="215625" y="1125300"/>
            <a:ext cx="2534700" cy="37605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AI</a:t>
            </a:r>
            <a:r>
              <a:rPr lang="fr" sz="1200">
                <a:solidFill>
                  <a:srgbClr val="2A2921"/>
                </a:solidFill>
                <a:latin typeface="Calibri"/>
                <a:ea typeface="Calibri"/>
                <a:cs typeface="Calibri"/>
                <a:sym typeface="Calibri"/>
              </a:rPr>
              <a:t>: Automation involving algorithms to reproduce cognitive capabilities such as reasoning, perception, and decision-making.</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ML</a:t>
            </a:r>
            <a:r>
              <a:rPr lang="fr" sz="1200">
                <a:solidFill>
                  <a:srgbClr val="2A2921"/>
                </a:solidFill>
                <a:latin typeface="Calibri"/>
                <a:ea typeface="Calibri"/>
                <a:cs typeface="Calibri"/>
                <a:sym typeface="Calibri"/>
              </a:rPr>
              <a:t>: Statistical algorithms that automatically learn patterns from data without being explicitly programmed for each task.</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DL</a:t>
            </a:r>
            <a:r>
              <a:rPr lang="fr" sz="1200">
                <a:solidFill>
                  <a:srgbClr val="2A2921"/>
                </a:solidFill>
                <a:latin typeface="Calibri"/>
                <a:ea typeface="Calibri"/>
                <a:cs typeface="Calibri"/>
                <a:sym typeface="Calibri"/>
              </a:rPr>
              <a:t>: Neural networks with multiple layers (millions of parameters) that can learn complex representations from raw data.</a:t>
            </a:r>
            <a:endParaRPr sz="1200">
              <a:solidFill>
                <a:srgbClr val="2A2921"/>
              </a:solidFill>
              <a:latin typeface="Calibri"/>
              <a:ea typeface="Calibri"/>
              <a:cs typeface="Calibri"/>
              <a:sym typeface="Calibri"/>
            </a:endParaRPr>
          </a:p>
        </p:txBody>
      </p:sp>
      <p:pic>
        <p:nvPicPr>
          <p:cNvPr id="73" name="Google Shape;73;p15"/>
          <p:cNvPicPr preferRelativeResize="0"/>
          <p:nvPr/>
        </p:nvPicPr>
        <p:blipFill>
          <a:blip r:embed="rId4">
            <a:alphaModFix/>
          </a:blip>
          <a:stretch>
            <a:fillRect/>
          </a:stretch>
        </p:blipFill>
        <p:spPr>
          <a:xfrm>
            <a:off x="8382675" y="4745600"/>
            <a:ext cx="761325" cy="397900"/>
          </a:xfrm>
          <a:prstGeom prst="rect">
            <a:avLst/>
          </a:prstGeom>
          <a:noFill/>
          <a:ln>
            <a:noFill/>
          </a:ln>
        </p:spPr>
      </p:pic>
      <p:sp>
        <p:nvSpPr>
          <p:cNvPr id="74" name="Google Shape;74;p15"/>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9" name="Shape 79"/>
        <p:cNvGrpSpPr/>
        <p:nvPr/>
      </p:nvGrpSpPr>
      <p:grpSpPr>
        <a:xfrm>
          <a:off x="0" y="0"/>
          <a:ext cx="0" cy="0"/>
          <a:chOff x="0" y="0"/>
          <a:chExt cx="0" cy="0"/>
        </a:xfrm>
      </p:grpSpPr>
      <p:sp>
        <p:nvSpPr>
          <p:cNvPr id="80" name="Google Shape;80;p1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AI : Applications</a:t>
            </a:r>
            <a:endParaRPr b="1" sz="2400">
              <a:solidFill>
                <a:srgbClr val="0F2B46"/>
              </a:solidFill>
              <a:latin typeface="Trebuchet MS"/>
              <a:ea typeface="Trebuchet MS"/>
              <a:cs typeface="Trebuchet MS"/>
              <a:sym typeface="Trebuchet MS"/>
            </a:endParaRPr>
          </a:p>
        </p:txBody>
      </p:sp>
      <p:pic>
        <p:nvPicPr>
          <p:cNvPr id="83" name="Google Shape;83;p16"/>
          <p:cNvPicPr preferRelativeResize="0"/>
          <p:nvPr/>
        </p:nvPicPr>
        <p:blipFill>
          <a:blip r:embed="rId3">
            <a:alphaModFix/>
          </a:blip>
          <a:stretch>
            <a:fillRect/>
          </a:stretch>
        </p:blipFill>
        <p:spPr>
          <a:xfrm>
            <a:off x="263150" y="1070550"/>
            <a:ext cx="4211700" cy="3447974"/>
          </a:xfrm>
          <a:prstGeom prst="rect">
            <a:avLst/>
          </a:prstGeom>
          <a:noFill/>
          <a:ln>
            <a:noFill/>
          </a:ln>
        </p:spPr>
      </p:pic>
      <p:sp>
        <p:nvSpPr>
          <p:cNvPr id="84" name="Google Shape;84;p1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5" name="Google Shape;85;p16"/>
          <p:cNvPicPr preferRelativeResize="0"/>
          <p:nvPr/>
        </p:nvPicPr>
        <p:blipFill>
          <a:blip r:embed="rId4">
            <a:alphaModFix/>
          </a:blip>
          <a:stretch>
            <a:fillRect/>
          </a:stretch>
        </p:blipFill>
        <p:spPr>
          <a:xfrm>
            <a:off x="8382675" y="4745600"/>
            <a:ext cx="761325" cy="397900"/>
          </a:xfrm>
          <a:prstGeom prst="rect">
            <a:avLst/>
          </a:prstGeom>
          <a:noFill/>
          <a:ln>
            <a:noFill/>
          </a:ln>
        </p:spPr>
      </p:pic>
      <p:pic>
        <p:nvPicPr>
          <p:cNvPr id="86" name="Google Shape;86;p16"/>
          <p:cNvPicPr preferRelativeResize="0"/>
          <p:nvPr/>
        </p:nvPicPr>
        <p:blipFill>
          <a:blip r:embed="rId5">
            <a:alphaModFix/>
          </a:blip>
          <a:stretch>
            <a:fillRect/>
          </a:stretch>
        </p:blipFill>
        <p:spPr>
          <a:xfrm>
            <a:off x="4627450" y="1070550"/>
            <a:ext cx="3896318" cy="3447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1" name="Shape 91"/>
        <p:cNvGrpSpPr/>
        <p:nvPr/>
      </p:nvGrpSpPr>
      <p:grpSpPr>
        <a:xfrm>
          <a:off x="0" y="0"/>
          <a:ext cx="0" cy="0"/>
          <a:chOff x="0" y="0"/>
          <a:chExt cx="0" cy="0"/>
        </a:xfrm>
      </p:grpSpPr>
      <p:sp>
        <p:nvSpPr>
          <p:cNvPr id="92" name="Google Shape;92;p17"/>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7"/>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7"/>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AI : History</a:t>
            </a:r>
            <a:endParaRPr b="1" sz="2400">
              <a:solidFill>
                <a:srgbClr val="0F2B46"/>
              </a:solidFill>
              <a:latin typeface="Trebuchet MS"/>
              <a:ea typeface="Trebuchet MS"/>
              <a:cs typeface="Trebuchet MS"/>
              <a:sym typeface="Trebuchet MS"/>
            </a:endParaRPr>
          </a:p>
        </p:txBody>
      </p:sp>
      <p:pic>
        <p:nvPicPr>
          <p:cNvPr id="95" name="Google Shape;95;p17"/>
          <p:cNvPicPr preferRelativeResize="0"/>
          <p:nvPr/>
        </p:nvPicPr>
        <p:blipFill>
          <a:blip r:embed="rId3">
            <a:alphaModFix/>
          </a:blip>
          <a:stretch>
            <a:fillRect/>
          </a:stretch>
        </p:blipFill>
        <p:spPr>
          <a:xfrm>
            <a:off x="1053542" y="868800"/>
            <a:ext cx="6702991" cy="4101626"/>
          </a:xfrm>
          <a:prstGeom prst="rect">
            <a:avLst/>
          </a:prstGeom>
          <a:noFill/>
          <a:ln>
            <a:noFill/>
          </a:ln>
        </p:spPr>
      </p:pic>
      <p:sp>
        <p:nvSpPr>
          <p:cNvPr id="96" name="Google Shape;96;p17"/>
          <p:cNvSpPr txBox="1"/>
          <p:nvPr/>
        </p:nvSpPr>
        <p:spPr>
          <a:xfrm>
            <a:off x="3478500" y="4864799"/>
            <a:ext cx="5665500" cy="278700"/>
          </a:xfrm>
          <a:prstGeom prst="rect">
            <a:avLst/>
          </a:prstGeom>
          <a:noFill/>
          <a:ln>
            <a:noFill/>
          </a:ln>
        </p:spPr>
        <p:txBody>
          <a:bodyPr anchorCtr="0" anchor="t" bIns="87125" lIns="87125" spcFirstLastPara="1" rIns="87125" wrap="square" tIns="87125">
            <a:spAutoFit/>
          </a:bodyPr>
          <a:lstStyle/>
          <a:p>
            <a:pPr indent="0" lvl="0" marL="0" rtl="0" algn="l">
              <a:spcBef>
                <a:spcPts val="0"/>
              </a:spcBef>
              <a:spcAft>
                <a:spcPts val="0"/>
              </a:spcAft>
              <a:buNone/>
            </a:pPr>
            <a:r>
              <a:rPr lang="fr" sz="667">
                <a:solidFill>
                  <a:schemeClr val="dk2"/>
                </a:solidFill>
              </a:rPr>
              <a:t>source: https://commons.wikimedia.org/wiki/File:AI-History-Timeline-300dpi.jpg</a:t>
            </a:r>
            <a:endParaRPr sz="667">
              <a:solidFill>
                <a:schemeClr val="dk2"/>
              </a:solidFill>
            </a:endParaRPr>
          </a:p>
        </p:txBody>
      </p:sp>
      <p:pic>
        <p:nvPicPr>
          <p:cNvPr id="97" name="Google Shape;97;p17"/>
          <p:cNvPicPr preferRelativeResize="0"/>
          <p:nvPr/>
        </p:nvPicPr>
        <p:blipFill>
          <a:blip r:embed="rId4">
            <a:alphaModFix/>
          </a:blip>
          <a:stretch>
            <a:fillRect/>
          </a:stretch>
        </p:blipFill>
        <p:spPr>
          <a:xfrm>
            <a:off x="7525242" y="4035821"/>
            <a:ext cx="432556" cy="432556"/>
          </a:xfrm>
          <a:prstGeom prst="rect">
            <a:avLst/>
          </a:prstGeom>
          <a:noFill/>
          <a:ln>
            <a:noFill/>
          </a:ln>
        </p:spPr>
      </p:pic>
      <p:sp>
        <p:nvSpPr>
          <p:cNvPr id="98" name="Google Shape;98;p17"/>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99" name="Google Shape;99;p17"/>
          <p:cNvPicPr preferRelativeResize="0"/>
          <p:nvPr/>
        </p:nvPicPr>
        <p:blipFill>
          <a:blip r:embed="rId5">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4" name="Shape 104"/>
        <p:cNvGrpSpPr/>
        <p:nvPr/>
      </p:nvGrpSpPr>
      <p:grpSpPr>
        <a:xfrm>
          <a:off x="0" y="0"/>
          <a:ext cx="0" cy="0"/>
          <a:chOff x="0" y="0"/>
          <a:chExt cx="0" cy="0"/>
        </a:xfrm>
      </p:grpSpPr>
      <p:sp>
        <p:nvSpPr>
          <p:cNvPr id="105" name="Google Shape;105;p18"/>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8"/>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8"/>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The Deep Learning Revolution</a:t>
            </a:r>
            <a:endParaRPr b="1" sz="2400">
              <a:solidFill>
                <a:srgbClr val="0F2B46"/>
              </a:solidFill>
              <a:latin typeface="Trebuchet MS"/>
              <a:ea typeface="Trebuchet MS"/>
              <a:cs typeface="Trebuchet MS"/>
              <a:sym typeface="Trebuchet MS"/>
            </a:endParaRPr>
          </a:p>
        </p:txBody>
      </p:sp>
      <p:sp>
        <p:nvSpPr>
          <p:cNvPr id="108" name="Google Shape;108;p18"/>
          <p:cNvSpPr txBox="1"/>
          <p:nvPr/>
        </p:nvSpPr>
        <p:spPr>
          <a:xfrm>
            <a:off x="3199500" y="4882700"/>
            <a:ext cx="59445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700">
                <a:solidFill>
                  <a:schemeClr val="dk2"/>
                </a:solidFill>
              </a:rPr>
              <a:t>Source: https://trends.google.fr/trends/explore?date=all&amp;q=deep%20learning&amp;hl=en</a:t>
            </a:r>
            <a:endParaRPr sz="700">
              <a:solidFill>
                <a:schemeClr val="dk2"/>
              </a:solidFill>
            </a:endParaRPr>
          </a:p>
        </p:txBody>
      </p:sp>
      <p:pic>
        <p:nvPicPr>
          <p:cNvPr id="109" name="Google Shape;109;p18"/>
          <p:cNvPicPr preferRelativeResize="0"/>
          <p:nvPr/>
        </p:nvPicPr>
        <p:blipFill>
          <a:blip r:embed="rId3">
            <a:alphaModFix/>
          </a:blip>
          <a:stretch>
            <a:fillRect/>
          </a:stretch>
        </p:blipFill>
        <p:spPr>
          <a:xfrm>
            <a:off x="199825" y="1100595"/>
            <a:ext cx="8839204" cy="2779515"/>
          </a:xfrm>
          <a:prstGeom prst="rect">
            <a:avLst/>
          </a:prstGeom>
          <a:noFill/>
          <a:ln>
            <a:noFill/>
          </a:ln>
        </p:spPr>
      </p:pic>
      <p:sp>
        <p:nvSpPr>
          <p:cNvPr id="110" name="Google Shape;110;p18"/>
          <p:cNvSpPr/>
          <p:nvPr/>
        </p:nvSpPr>
        <p:spPr>
          <a:xfrm>
            <a:off x="1899925" y="4112000"/>
            <a:ext cx="5439000" cy="770700"/>
          </a:xfrm>
          <a:prstGeom prst="rect">
            <a:avLst/>
          </a:prstGeom>
          <a:noFill/>
          <a:ln>
            <a:noFill/>
          </a:ln>
        </p:spPr>
        <p:txBody>
          <a:bodyPr anchorCtr="0" anchor="t" bIns="0" lIns="0" spcFirstLastPara="1" rIns="0" wrap="square" tIns="0">
            <a:noAutofit/>
          </a:bodyPr>
          <a:lstStyle/>
          <a:p>
            <a:pPr indent="0" lvl="0" marL="0" marR="0" rtl="0" algn="l">
              <a:lnSpc>
                <a:spcPct val="134933"/>
              </a:lnSpc>
              <a:spcBef>
                <a:spcPts val="0"/>
              </a:spcBef>
              <a:spcAft>
                <a:spcPts val="0"/>
              </a:spcAft>
              <a:buClr>
                <a:srgbClr val="000000"/>
              </a:buClr>
              <a:buSzPts val="1100"/>
              <a:buFont typeface="Geist"/>
              <a:buNone/>
            </a:pPr>
            <a:r>
              <a:rPr lang="fr" sz="1100">
                <a:latin typeface="Calibri"/>
                <a:ea typeface="Calibri"/>
                <a:cs typeface="Calibri"/>
                <a:sym typeface="Calibri"/>
              </a:rPr>
              <a:t>The convergence of three critical factors enabled the deep learning revolution -&gt;</a:t>
            </a:r>
            <a:endParaRPr sz="1100">
              <a:latin typeface="Calibri"/>
              <a:ea typeface="Calibri"/>
              <a:cs typeface="Calibri"/>
              <a:sym typeface="Calibri"/>
            </a:endParaRPr>
          </a:p>
        </p:txBody>
      </p:sp>
      <p:sp>
        <p:nvSpPr>
          <p:cNvPr id="111" name="Google Shape;111;p18"/>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12" name="Google Shape;112;p18"/>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17" name="Shape 117"/>
        <p:cNvGrpSpPr/>
        <p:nvPr/>
      </p:nvGrpSpPr>
      <p:grpSpPr>
        <a:xfrm>
          <a:off x="0" y="0"/>
          <a:ext cx="0" cy="0"/>
          <a:chOff x="0" y="0"/>
          <a:chExt cx="0" cy="0"/>
        </a:xfrm>
      </p:grpSpPr>
      <p:sp>
        <p:nvSpPr>
          <p:cNvPr id="118" name="Google Shape;118;p19"/>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9"/>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1. Big Data</a:t>
            </a:r>
            <a:endParaRPr b="1" sz="2400">
              <a:solidFill>
                <a:srgbClr val="0F2B46"/>
              </a:solidFill>
              <a:latin typeface="Trebuchet MS"/>
              <a:ea typeface="Trebuchet MS"/>
              <a:cs typeface="Trebuchet MS"/>
              <a:sym typeface="Trebuchet MS"/>
            </a:endParaRPr>
          </a:p>
        </p:txBody>
      </p:sp>
      <p:sp>
        <p:nvSpPr>
          <p:cNvPr id="121" name="Google Shape;121;p19"/>
          <p:cNvSpPr txBox="1"/>
          <p:nvPr/>
        </p:nvSpPr>
        <p:spPr>
          <a:xfrm>
            <a:off x="3372150" y="4765399"/>
            <a:ext cx="5540700" cy="272700"/>
          </a:xfrm>
          <a:prstGeom prst="rect">
            <a:avLst/>
          </a:prstGeom>
          <a:noFill/>
          <a:ln>
            <a:noFill/>
          </a:ln>
        </p:spPr>
        <p:txBody>
          <a:bodyPr anchorCtr="0" anchor="t" bIns="85225" lIns="85225" spcFirstLastPara="1" rIns="85225" wrap="square" tIns="85225">
            <a:spAutoFit/>
          </a:bodyPr>
          <a:lstStyle/>
          <a:p>
            <a:pPr indent="0" lvl="0" marL="0" rtl="0" algn="l">
              <a:spcBef>
                <a:spcPts val="0"/>
              </a:spcBef>
              <a:spcAft>
                <a:spcPts val="0"/>
              </a:spcAft>
              <a:buNone/>
            </a:pPr>
            <a:r>
              <a:rPr lang="fr" sz="652">
                <a:solidFill>
                  <a:schemeClr val="dk2"/>
                </a:solidFill>
                <a:latin typeface="Montserrat"/>
                <a:ea typeface="Montserrat"/>
                <a:cs typeface="Montserrat"/>
                <a:sym typeface="Montserrat"/>
              </a:rPr>
              <a:t>source: https://medium.com/geekculture/ai-revolution-your-fast-paced-introduction-to-machine-learning-914ce9b6ddf</a:t>
            </a:r>
            <a:endParaRPr sz="652">
              <a:solidFill>
                <a:schemeClr val="dk2"/>
              </a:solidFill>
              <a:latin typeface="Montserrat"/>
              <a:ea typeface="Montserrat"/>
              <a:cs typeface="Montserrat"/>
              <a:sym typeface="Montserrat"/>
            </a:endParaRPr>
          </a:p>
        </p:txBody>
      </p:sp>
      <p:sp>
        <p:nvSpPr>
          <p:cNvPr id="122" name="Google Shape;122;p19"/>
          <p:cNvSpPr/>
          <p:nvPr/>
        </p:nvSpPr>
        <p:spPr>
          <a:xfrm>
            <a:off x="0" y="868800"/>
            <a:ext cx="3052500" cy="4273500"/>
          </a:xfrm>
          <a:prstGeom prst="rect">
            <a:avLst/>
          </a:prstGeom>
          <a:solidFill>
            <a:srgbClr val="F5F5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9"/>
          <p:cNvSpPr/>
          <p:nvPr/>
        </p:nvSpPr>
        <p:spPr>
          <a:xfrm>
            <a:off x="215625" y="1125300"/>
            <a:ext cx="2534700" cy="37605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2A2921"/>
              </a:buClr>
              <a:buSzPts val="2400"/>
              <a:buFont typeface="Montserrat"/>
              <a:buNone/>
            </a:pPr>
            <a:r>
              <a:rPr lang="fr" sz="1200">
                <a:solidFill>
                  <a:srgbClr val="2A2921"/>
                </a:solidFill>
                <a:latin typeface="Calibri"/>
                <a:ea typeface="Calibri"/>
                <a:cs typeface="Calibri"/>
                <a:sym typeface="Calibri"/>
              </a:rPr>
              <a:t>The internet era generated massive datasets: billions of images, text documents, videos, and user interactions.</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lang="fr" sz="1200">
                <a:solidFill>
                  <a:srgbClr val="2A2921"/>
                </a:solidFill>
                <a:latin typeface="Calibri"/>
                <a:ea typeface="Calibri"/>
                <a:cs typeface="Calibri"/>
                <a:sym typeface="Calibri"/>
              </a:rPr>
              <a:t>This data explosion provided the fuel needed to train complex models that require millions of examples to learn robust patterns.</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p:txBody>
      </p:sp>
      <p:pic>
        <p:nvPicPr>
          <p:cNvPr id="124" name="Google Shape;124;p19"/>
          <p:cNvPicPr preferRelativeResize="0"/>
          <p:nvPr/>
        </p:nvPicPr>
        <p:blipFill>
          <a:blip r:embed="rId3">
            <a:alphaModFix/>
          </a:blip>
          <a:stretch>
            <a:fillRect/>
          </a:stretch>
        </p:blipFill>
        <p:spPr>
          <a:xfrm>
            <a:off x="3421625" y="964576"/>
            <a:ext cx="3779009" cy="3800825"/>
          </a:xfrm>
          <a:prstGeom prst="rect">
            <a:avLst/>
          </a:prstGeom>
          <a:noFill/>
          <a:ln>
            <a:noFill/>
          </a:ln>
        </p:spPr>
      </p:pic>
      <p:sp>
        <p:nvSpPr>
          <p:cNvPr id="125" name="Google Shape;125;p19"/>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26" name="Google Shape;126;p19"/>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31" name="Shape 131"/>
        <p:cNvGrpSpPr/>
        <p:nvPr/>
      </p:nvGrpSpPr>
      <p:grpSpPr>
        <a:xfrm>
          <a:off x="0" y="0"/>
          <a:ext cx="0" cy="0"/>
          <a:chOff x="0" y="0"/>
          <a:chExt cx="0" cy="0"/>
        </a:xfrm>
      </p:grpSpPr>
      <p:sp>
        <p:nvSpPr>
          <p:cNvPr id="132" name="Google Shape;132;p20"/>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0"/>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2. Computational Power</a:t>
            </a:r>
            <a:endParaRPr b="1" sz="2400">
              <a:solidFill>
                <a:srgbClr val="0F2B46"/>
              </a:solidFill>
              <a:latin typeface="Trebuchet MS"/>
              <a:ea typeface="Trebuchet MS"/>
              <a:cs typeface="Trebuchet MS"/>
              <a:sym typeface="Trebuchet MS"/>
            </a:endParaRPr>
          </a:p>
        </p:txBody>
      </p:sp>
      <p:sp>
        <p:nvSpPr>
          <p:cNvPr id="135" name="Google Shape;135;p20"/>
          <p:cNvSpPr/>
          <p:nvPr/>
        </p:nvSpPr>
        <p:spPr>
          <a:xfrm>
            <a:off x="6091500" y="868800"/>
            <a:ext cx="3052500" cy="4273500"/>
          </a:xfrm>
          <a:prstGeom prst="rect">
            <a:avLst/>
          </a:prstGeom>
          <a:solidFill>
            <a:srgbClr val="F5F5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20"/>
          <p:cNvSpPr/>
          <p:nvPr/>
        </p:nvSpPr>
        <p:spPr>
          <a:xfrm>
            <a:off x="6307125" y="1125300"/>
            <a:ext cx="2534700" cy="37605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2A2921"/>
              </a:buClr>
              <a:buSzPts val="2400"/>
              <a:buFont typeface="Montserrat"/>
              <a:buNone/>
            </a:pPr>
            <a:r>
              <a:rPr lang="fr" sz="1200">
                <a:solidFill>
                  <a:srgbClr val="2A2921"/>
                </a:solidFill>
                <a:latin typeface="Calibri"/>
                <a:ea typeface="Calibri"/>
                <a:cs typeface="Calibri"/>
                <a:sym typeface="Calibri"/>
              </a:rPr>
              <a:t>GPUs originally designed for gaming proved perfect for neural network computations. A single modern GPU can perform trillions of operations per second, enabling training of models with billions of parameters in days rather than years.</a:t>
            </a:r>
            <a:endParaRPr sz="1200">
              <a:solidFill>
                <a:srgbClr val="2A2921"/>
              </a:solidFill>
              <a:latin typeface="Calibri"/>
              <a:ea typeface="Calibri"/>
              <a:cs typeface="Calibri"/>
              <a:sym typeface="Calibri"/>
            </a:endParaRPr>
          </a:p>
        </p:txBody>
      </p:sp>
      <p:pic>
        <p:nvPicPr>
          <p:cNvPr id="137" name="Google Shape;137;p20"/>
          <p:cNvPicPr preferRelativeResize="0"/>
          <p:nvPr/>
        </p:nvPicPr>
        <p:blipFill>
          <a:blip r:embed="rId3">
            <a:alphaModFix/>
          </a:blip>
          <a:stretch>
            <a:fillRect/>
          </a:stretch>
        </p:blipFill>
        <p:spPr>
          <a:xfrm>
            <a:off x="369627" y="1010551"/>
            <a:ext cx="5309500" cy="3566750"/>
          </a:xfrm>
          <a:prstGeom prst="rect">
            <a:avLst/>
          </a:prstGeom>
          <a:noFill/>
          <a:ln>
            <a:noFill/>
          </a:ln>
        </p:spPr>
      </p:pic>
      <p:sp>
        <p:nvSpPr>
          <p:cNvPr id="138" name="Google Shape;138;p20"/>
          <p:cNvSpPr txBox="1"/>
          <p:nvPr/>
        </p:nvSpPr>
        <p:spPr>
          <a:xfrm>
            <a:off x="125650" y="4670200"/>
            <a:ext cx="71091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700">
                <a:solidFill>
                  <a:schemeClr val="dk2"/>
                </a:solidFill>
              </a:rPr>
              <a:t>Source: https://www.researchgate.net/figure/The-exponential-progress-of-computing-power-from-1900-to-2013-with-projections-into_fig1_335422453</a:t>
            </a:r>
            <a:endParaRPr sz="700">
              <a:solidFill>
                <a:schemeClr val="dk2"/>
              </a:solidFill>
            </a:endParaRPr>
          </a:p>
        </p:txBody>
      </p:sp>
      <p:sp>
        <p:nvSpPr>
          <p:cNvPr id="139" name="Google Shape;139;p20"/>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40" name="Google Shape;140;p20"/>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45" name="Shape 145"/>
        <p:cNvGrpSpPr/>
        <p:nvPr/>
      </p:nvGrpSpPr>
      <p:grpSpPr>
        <a:xfrm>
          <a:off x="0" y="0"/>
          <a:ext cx="0" cy="0"/>
          <a:chOff x="0" y="0"/>
          <a:chExt cx="0" cy="0"/>
        </a:xfrm>
      </p:grpSpPr>
      <p:sp>
        <p:nvSpPr>
          <p:cNvPr id="146" name="Google Shape;146;p21"/>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1"/>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1"/>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3. Algorithmic Innovation</a:t>
            </a:r>
            <a:endParaRPr b="1" sz="2400">
              <a:solidFill>
                <a:srgbClr val="0F2B46"/>
              </a:solidFill>
              <a:latin typeface="Trebuchet MS"/>
              <a:ea typeface="Trebuchet MS"/>
              <a:cs typeface="Trebuchet MS"/>
              <a:sym typeface="Trebuchet MS"/>
            </a:endParaRPr>
          </a:p>
        </p:txBody>
      </p:sp>
      <p:sp>
        <p:nvSpPr>
          <p:cNvPr id="149" name="Google Shape;149;p21"/>
          <p:cNvSpPr/>
          <p:nvPr/>
        </p:nvSpPr>
        <p:spPr>
          <a:xfrm>
            <a:off x="0" y="868800"/>
            <a:ext cx="3052500" cy="4273500"/>
          </a:xfrm>
          <a:prstGeom prst="rect">
            <a:avLst/>
          </a:prstGeom>
          <a:solidFill>
            <a:srgbClr val="F5F5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21"/>
          <p:cNvSpPr/>
          <p:nvPr/>
        </p:nvSpPr>
        <p:spPr>
          <a:xfrm>
            <a:off x="215625" y="1125300"/>
            <a:ext cx="2534700" cy="37605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2A2921"/>
              </a:buClr>
              <a:buSzPts val="2400"/>
              <a:buFont typeface="Montserrat"/>
              <a:buNone/>
            </a:pPr>
            <a:r>
              <a:rPr lang="fr" sz="1200">
                <a:solidFill>
                  <a:srgbClr val="2A2921"/>
                </a:solidFill>
                <a:latin typeface="Calibri"/>
                <a:ea typeface="Calibri"/>
                <a:cs typeface="Calibri"/>
                <a:sym typeface="Calibri"/>
              </a:rPr>
              <a:t>Breakthrough techniques like ReLU activation, batch normalization, dropout, and attention mechanisms solved critical training challenges.</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lang="fr" sz="1200">
                <a:solidFill>
                  <a:srgbClr val="2A2921"/>
                </a:solidFill>
                <a:latin typeface="Calibri"/>
                <a:ea typeface="Calibri"/>
                <a:cs typeface="Calibri"/>
                <a:sym typeface="Calibri"/>
              </a:rPr>
              <a:t>These innovations made it practical to train networks with dozens or even hundreds of layers. Open source code with big communities.</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p:txBody>
      </p:sp>
      <p:pic>
        <p:nvPicPr>
          <p:cNvPr id="151" name="Google Shape;151;p21"/>
          <p:cNvPicPr preferRelativeResize="0"/>
          <p:nvPr/>
        </p:nvPicPr>
        <p:blipFill>
          <a:blip r:embed="rId3">
            <a:alphaModFix/>
          </a:blip>
          <a:stretch>
            <a:fillRect/>
          </a:stretch>
        </p:blipFill>
        <p:spPr>
          <a:xfrm>
            <a:off x="4429825" y="3990923"/>
            <a:ext cx="3122072" cy="770700"/>
          </a:xfrm>
          <a:prstGeom prst="rect">
            <a:avLst/>
          </a:prstGeom>
          <a:noFill/>
          <a:ln>
            <a:noFill/>
          </a:ln>
        </p:spPr>
      </p:pic>
      <p:pic>
        <p:nvPicPr>
          <p:cNvPr id="152" name="Google Shape;152;p21"/>
          <p:cNvPicPr preferRelativeResize="0"/>
          <p:nvPr/>
        </p:nvPicPr>
        <p:blipFill>
          <a:blip r:embed="rId4">
            <a:alphaModFix/>
          </a:blip>
          <a:stretch>
            <a:fillRect/>
          </a:stretch>
        </p:blipFill>
        <p:spPr>
          <a:xfrm>
            <a:off x="4887025" y="1004525"/>
            <a:ext cx="2085808" cy="2898237"/>
          </a:xfrm>
          <a:prstGeom prst="rect">
            <a:avLst/>
          </a:prstGeom>
          <a:noFill/>
          <a:ln>
            <a:noFill/>
          </a:ln>
        </p:spPr>
      </p:pic>
      <p:sp>
        <p:nvSpPr>
          <p:cNvPr id="153" name="Google Shape;153;p21"/>
          <p:cNvSpPr txBox="1"/>
          <p:nvPr/>
        </p:nvSpPr>
        <p:spPr>
          <a:xfrm>
            <a:off x="3911725" y="4849800"/>
            <a:ext cx="47463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700">
                <a:solidFill>
                  <a:schemeClr val="dk2"/>
                </a:solidFill>
                <a:latin typeface="Calibri"/>
                <a:ea typeface="Calibri"/>
                <a:cs typeface="Calibri"/>
                <a:sym typeface="Calibri"/>
              </a:rPr>
              <a:t>Source: </a:t>
            </a:r>
            <a:r>
              <a:rPr lang="fr" sz="700" u="sng">
                <a:solidFill>
                  <a:schemeClr val="hlink"/>
                </a:solidFill>
                <a:latin typeface="Calibri"/>
                <a:ea typeface="Calibri"/>
                <a:cs typeface="Calibri"/>
                <a:sym typeface="Calibri"/>
                <a:hlinkClick r:id="rId5"/>
              </a:rPr>
              <a:t>https://en.wikipedia.org/wiki/Transformer_(deep_learning_architecture)</a:t>
            </a:r>
            <a:r>
              <a:rPr lang="fr" sz="700">
                <a:solidFill>
                  <a:schemeClr val="dk2"/>
                </a:solidFill>
                <a:latin typeface="Calibri"/>
                <a:ea typeface="Calibri"/>
                <a:cs typeface="Calibri"/>
                <a:sym typeface="Calibri"/>
              </a:rPr>
              <a:t> Source: https://pytorch.org/</a:t>
            </a:r>
            <a:endParaRPr sz="700">
              <a:solidFill>
                <a:schemeClr val="dk2"/>
              </a:solidFill>
              <a:latin typeface="Calibri"/>
              <a:ea typeface="Calibri"/>
              <a:cs typeface="Calibri"/>
              <a:sym typeface="Calibri"/>
            </a:endParaRPr>
          </a:p>
        </p:txBody>
      </p:sp>
      <p:sp>
        <p:nvSpPr>
          <p:cNvPr id="154" name="Google Shape;154;p21"/>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55" name="Google Shape;155;p21"/>
          <p:cNvPicPr preferRelativeResize="0"/>
          <p:nvPr/>
        </p:nvPicPr>
        <p:blipFill>
          <a:blip r:embed="rId6">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60" name="Shape 160"/>
        <p:cNvGrpSpPr/>
        <p:nvPr/>
      </p:nvGrpSpPr>
      <p:grpSpPr>
        <a:xfrm>
          <a:off x="0" y="0"/>
          <a:ext cx="0" cy="0"/>
          <a:chOff x="0" y="0"/>
          <a:chExt cx="0" cy="0"/>
        </a:xfrm>
      </p:grpSpPr>
      <p:sp>
        <p:nvSpPr>
          <p:cNvPr id="161" name="Google Shape;161;p22"/>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2"/>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2"/>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Data: The Fuel of Machine Learning</a:t>
            </a:r>
            <a:endParaRPr b="1" sz="2400">
              <a:solidFill>
                <a:srgbClr val="0F2B46"/>
              </a:solidFill>
              <a:latin typeface="Trebuchet MS"/>
              <a:ea typeface="Trebuchet MS"/>
              <a:cs typeface="Trebuchet MS"/>
              <a:sym typeface="Trebuchet MS"/>
            </a:endParaRPr>
          </a:p>
        </p:txBody>
      </p:sp>
      <p:sp>
        <p:nvSpPr>
          <p:cNvPr id="164" name="Google Shape;164;p22"/>
          <p:cNvSpPr txBox="1"/>
          <p:nvPr/>
        </p:nvSpPr>
        <p:spPr>
          <a:xfrm>
            <a:off x="351925" y="1049550"/>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fr" sz="1200">
                <a:solidFill>
                  <a:schemeClr val="dk1"/>
                </a:solidFill>
                <a:latin typeface="Montserrat"/>
                <a:ea typeface="Montserrat"/>
                <a:cs typeface="Montserrat"/>
                <a:sym typeface="Montserrat"/>
              </a:rPr>
              <a:t>Volume</a:t>
            </a:r>
            <a:r>
              <a:rPr lang="fr" sz="1200">
                <a:solidFill>
                  <a:schemeClr val="dk1"/>
                </a:solidFill>
                <a:latin typeface="Montserrat"/>
                <a:ea typeface="Montserrat"/>
                <a:cs typeface="Montserrat"/>
                <a:sym typeface="Montserrat"/>
              </a:rPr>
              <a:t>: Deep networks typically require thousands to millions of training examples.</a:t>
            </a:r>
            <a:endParaRPr sz="1500"/>
          </a:p>
        </p:txBody>
      </p:sp>
      <p:sp>
        <p:nvSpPr>
          <p:cNvPr id="165" name="Google Shape;165;p22"/>
          <p:cNvSpPr txBox="1"/>
          <p:nvPr/>
        </p:nvSpPr>
        <p:spPr>
          <a:xfrm>
            <a:off x="351925" y="1935363"/>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fr" sz="1200">
                <a:solidFill>
                  <a:schemeClr val="dk1"/>
                </a:solidFill>
                <a:latin typeface="Montserrat"/>
                <a:ea typeface="Montserrat"/>
                <a:cs typeface="Montserrat"/>
                <a:sym typeface="Montserrat"/>
              </a:rPr>
              <a:t>Quality</a:t>
            </a:r>
            <a:r>
              <a:rPr lang="fr" sz="1200">
                <a:solidFill>
                  <a:schemeClr val="dk1"/>
                </a:solidFill>
                <a:latin typeface="Montserrat"/>
                <a:ea typeface="Montserrat"/>
                <a:cs typeface="Montserrat"/>
                <a:sym typeface="Montserrat"/>
              </a:rPr>
              <a:t>: Clean, accurate data are crucial - error will reduce strongly model performances.</a:t>
            </a:r>
            <a:endParaRPr sz="1500"/>
          </a:p>
        </p:txBody>
      </p:sp>
      <p:sp>
        <p:nvSpPr>
          <p:cNvPr id="166" name="Google Shape;166;p22"/>
          <p:cNvSpPr txBox="1"/>
          <p:nvPr/>
        </p:nvSpPr>
        <p:spPr>
          <a:xfrm>
            <a:off x="4705000" y="1935375"/>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fr" sz="1200">
                <a:solidFill>
                  <a:schemeClr val="dk1"/>
                </a:solidFill>
                <a:latin typeface="Montserrat"/>
                <a:ea typeface="Montserrat"/>
                <a:cs typeface="Montserrat"/>
                <a:sym typeface="Montserrat"/>
              </a:rPr>
              <a:t>Diversity</a:t>
            </a:r>
            <a:r>
              <a:rPr lang="fr" sz="1200">
                <a:solidFill>
                  <a:schemeClr val="dk1"/>
                </a:solidFill>
                <a:latin typeface="Montserrat"/>
                <a:ea typeface="Montserrat"/>
                <a:cs typeface="Montserrat"/>
                <a:sym typeface="Montserrat"/>
              </a:rPr>
              <a:t>: Training data must capture the full spectrum of real-world scenarios.</a:t>
            </a:r>
            <a:endParaRPr sz="1500"/>
          </a:p>
        </p:txBody>
      </p:sp>
      <p:sp>
        <p:nvSpPr>
          <p:cNvPr id="167" name="Google Shape;167;p22"/>
          <p:cNvSpPr txBox="1"/>
          <p:nvPr/>
        </p:nvSpPr>
        <p:spPr>
          <a:xfrm>
            <a:off x="4705000" y="1049550"/>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fr" sz="1200">
                <a:solidFill>
                  <a:schemeClr val="dk1"/>
                </a:solidFill>
                <a:latin typeface="Montserrat"/>
                <a:ea typeface="Montserrat"/>
                <a:cs typeface="Montserrat"/>
                <a:sym typeface="Montserrat"/>
              </a:rPr>
              <a:t>Bias</a:t>
            </a:r>
            <a:r>
              <a:rPr lang="fr" sz="1200">
                <a:solidFill>
                  <a:schemeClr val="dk1"/>
                </a:solidFill>
                <a:latin typeface="Montserrat"/>
                <a:ea typeface="Montserrat"/>
                <a:cs typeface="Montserrat"/>
                <a:sym typeface="Montserrat"/>
              </a:rPr>
              <a:t>: Systematic distortions in the data will be learned and reproduced by the model.</a:t>
            </a:r>
            <a:endParaRPr sz="1200">
              <a:solidFill>
                <a:schemeClr val="dk1"/>
              </a:solidFill>
              <a:latin typeface="Montserrat"/>
              <a:ea typeface="Montserrat"/>
              <a:cs typeface="Montserrat"/>
              <a:sym typeface="Montserrat"/>
            </a:endParaRPr>
          </a:p>
        </p:txBody>
      </p:sp>
      <p:pic>
        <p:nvPicPr>
          <p:cNvPr id="168" name="Google Shape;168;p22"/>
          <p:cNvPicPr preferRelativeResize="0"/>
          <p:nvPr/>
        </p:nvPicPr>
        <p:blipFill>
          <a:blip r:embed="rId3">
            <a:alphaModFix/>
          </a:blip>
          <a:stretch>
            <a:fillRect/>
          </a:stretch>
        </p:blipFill>
        <p:spPr>
          <a:xfrm>
            <a:off x="776113" y="2821188"/>
            <a:ext cx="7591772" cy="2109237"/>
          </a:xfrm>
          <a:prstGeom prst="rect">
            <a:avLst/>
          </a:prstGeom>
          <a:noFill/>
          <a:ln>
            <a:noFill/>
          </a:ln>
        </p:spPr>
      </p:pic>
      <p:sp>
        <p:nvSpPr>
          <p:cNvPr id="169" name="Google Shape;169;p22"/>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70" name="Google Shape;170;p22"/>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75" name="Shape 175"/>
        <p:cNvGrpSpPr/>
        <p:nvPr/>
      </p:nvGrpSpPr>
      <p:grpSpPr>
        <a:xfrm>
          <a:off x="0" y="0"/>
          <a:ext cx="0" cy="0"/>
          <a:chOff x="0" y="0"/>
          <a:chExt cx="0" cy="0"/>
        </a:xfrm>
      </p:grpSpPr>
      <p:sp>
        <p:nvSpPr>
          <p:cNvPr id="176" name="Google Shape;176;p23"/>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3"/>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3"/>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Data Preprocessing</a:t>
            </a:r>
            <a:endParaRPr b="1" sz="2400">
              <a:solidFill>
                <a:srgbClr val="0F2B46"/>
              </a:solidFill>
              <a:latin typeface="Trebuchet MS"/>
              <a:ea typeface="Trebuchet MS"/>
              <a:cs typeface="Trebuchet MS"/>
              <a:sym typeface="Trebuchet MS"/>
            </a:endParaRPr>
          </a:p>
        </p:txBody>
      </p:sp>
      <p:sp>
        <p:nvSpPr>
          <p:cNvPr id="179" name="Google Shape;179;p23"/>
          <p:cNvSpPr txBox="1"/>
          <p:nvPr/>
        </p:nvSpPr>
        <p:spPr>
          <a:xfrm>
            <a:off x="273000" y="1553078"/>
            <a:ext cx="6763800" cy="222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 sz="1200">
                <a:solidFill>
                  <a:schemeClr val="dk1"/>
                </a:solidFill>
                <a:latin typeface="Calibri"/>
                <a:ea typeface="Calibri"/>
                <a:cs typeface="Calibri"/>
                <a:sym typeface="Calibri"/>
              </a:rPr>
              <a:t>Steps in Data Preprocessing :</a:t>
            </a:r>
            <a:endParaRPr b="1" sz="1200">
              <a:solidFill>
                <a:schemeClr val="dk1"/>
              </a:solidFill>
              <a:latin typeface="Calibri"/>
              <a:ea typeface="Calibri"/>
              <a:cs typeface="Calibri"/>
              <a:sym typeface="Calibri"/>
            </a:endParaRPr>
          </a:p>
          <a:p>
            <a:pPr indent="-304800" lvl="0" marL="457200" rtl="0" algn="l">
              <a:lnSpc>
                <a:spcPct val="115000"/>
              </a:lnSpc>
              <a:spcBef>
                <a:spcPts val="120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Handle Inconsistencies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Handle Missing Values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Handle Categorical Values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Handle Duplicates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Handle Outliers</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Feature Engineering</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Scaling and Normalization</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Feature Selection and Dimensionality Reduction</a:t>
            </a:r>
            <a:endParaRPr sz="1200">
              <a:solidFill>
                <a:schemeClr val="dk1"/>
              </a:solidFill>
              <a:latin typeface="Calibri"/>
              <a:ea typeface="Calibri"/>
              <a:cs typeface="Calibri"/>
              <a:sym typeface="Calibri"/>
            </a:endParaRPr>
          </a:p>
        </p:txBody>
      </p:sp>
      <p:pic>
        <p:nvPicPr>
          <p:cNvPr id="180" name="Google Shape;180;p23"/>
          <p:cNvPicPr preferRelativeResize="0"/>
          <p:nvPr/>
        </p:nvPicPr>
        <p:blipFill>
          <a:blip r:embed="rId3">
            <a:alphaModFix/>
          </a:blip>
          <a:stretch>
            <a:fillRect/>
          </a:stretch>
        </p:blipFill>
        <p:spPr>
          <a:xfrm>
            <a:off x="4911788" y="1857150"/>
            <a:ext cx="3133725" cy="1457325"/>
          </a:xfrm>
          <a:prstGeom prst="rect">
            <a:avLst/>
          </a:prstGeom>
          <a:noFill/>
          <a:ln>
            <a:noFill/>
          </a:ln>
        </p:spPr>
      </p:pic>
      <p:sp>
        <p:nvSpPr>
          <p:cNvPr id="181" name="Google Shape;181;p23"/>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82" name="Google Shape;182;p23"/>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87" name="Shape 187"/>
        <p:cNvGrpSpPr/>
        <p:nvPr/>
      </p:nvGrpSpPr>
      <p:grpSpPr>
        <a:xfrm>
          <a:off x="0" y="0"/>
          <a:ext cx="0" cy="0"/>
          <a:chOff x="0" y="0"/>
          <a:chExt cx="0" cy="0"/>
        </a:xfrm>
      </p:grpSpPr>
      <p:sp>
        <p:nvSpPr>
          <p:cNvPr id="188" name="Google Shape;188;p24"/>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4"/>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What is Machine Learning?</a:t>
            </a:r>
            <a:endParaRPr b="1" sz="2400">
              <a:solidFill>
                <a:srgbClr val="0F2B46"/>
              </a:solidFill>
              <a:latin typeface="Trebuchet MS"/>
              <a:ea typeface="Trebuchet MS"/>
              <a:cs typeface="Trebuchet MS"/>
              <a:sym typeface="Trebuchet MS"/>
            </a:endParaRPr>
          </a:p>
        </p:txBody>
      </p:sp>
      <p:sp>
        <p:nvSpPr>
          <p:cNvPr id="191" name="Google Shape;191;p24"/>
          <p:cNvSpPr/>
          <p:nvPr/>
        </p:nvSpPr>
        <p:spPr>
          <a:xfrm>
            <a:off x="548640" y="1188720"/>
            <a:ext cx="8046600" cy="1097400"/>
          </a:xfrm>
          <a:prstGeom prst="rect">
            <a:avLst/>
          </a:prstGeom>
          <a:solidFill>
            <a:srgbClr val="0F2B46"/>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4"/>
          <p:cNvSpPr/>
          <p:nvPr/>
        </p:nvSpPr>
        <p:spPr>
          <a:xfrm>
            <a:off x="914400" y="1280160"/>
            <a:ext cx="73152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0" i="1" lang="fr" sz="1800" u="none" cap="none" strike="noStrike">
                <a:solidFill>
                  <a:srgbClr val="FFFFFF"/>
                </a:solidFill>
                <a:latin typeface="Calibri"/>
                <a:ea typeface="Calibri"/>
                <a:cs typeface="Calibri"/>
                <a:sym typeface="Calibri"/>
              </a:rPr>
              <a:t>"The science of getting computers to learn without being explicitly programmed"</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4A442"/>
              </a:buClr>
              <a:buSzPts val="1300"/>
              <a:buFont typeface="Calibri"/>
              <a:buNone/>
            </a:pPr>
            <a:r>
              <a:rPr b="0" i="0" lang="fr" sz="1300" u="none" cap="none" strike="noStrike">
                <a:solidFill>
                  <a:srgbClr val="F4A442"/>
                </a:solidFill>
                <a:latin typeface="Calibri"/>
                <a:ea typeface="Calibri"/>
                <a:cs typeface="Calibri"/>
                <a:sym typeface="Calibri"/>
              </a:rPr>
              <a:t>— Arthur Samuel, 1959</a:t>
            </a:r>
            <a:endParaRPr b="0" i="0" sz="1800" u="none" cap="none" strike="noStrike">
              <a:solidFill>
                <a:schemeClr val="dk1"/>
              </a:solidFill>
              <a:latin typeface="Calibri"/>
              <a:ea typeface="Calibri"/>
              <a:cs typeface="Calibri"/>
              <a:sym typeface="Calibri"/>
            </a:endParaRPr>
          </a:p>
        </p:txBody>
      </p:sp>
      <p:sp>
        <p:nvSpPr>
          <p:cNvPr id="193" name="Google Shape;193;p24"/>
          <p:cNvSpPr/>
          <p:nvPr/>
        </p:nvSpPr>
        <p:spPr>
          <a:xfrm>
            <a:off x="548640" y="2606040"/>
            <a:ext cx="3657600" cy="18288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4"/>
          <p:cNvSpPr/>
          <p:nvPr/>
        </p:nvSpPr>
        <p:spPr>
          <a:xfrm>
            <a:off x="731520" y="269748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400"/>
              <a:buFont typeface="Trebuchet MS"/>
              <a:buNone/>
            </a:pPr>
            <a:r>
              <a:rPr b="1" i="0" lang="fr" sz="1400" u="none" cap="none" strike="noStrike">
                <a:solidFill>
                  <a:srgbClr val="0F2B46"/>
                </a:solidFill>
                <a:latin typeface="Trebuchet MS"/>
                <a:ea typeface="Trebuchet MS"/>
                <a:cs typeface="Trebuchet MS"/>
                <a:sym typeface="Trebuchet MS"/>
              </a:rPr>
              <a:t>Traditional Programming</a:t>
            </a:r>
            <a:endParaRPr b="0" i="0" sz="1400" u="none" cap="none" strike="noStrike">
              <a:solidFill>
                <a:schemeClr val="dk1"/>
              </a:solidFill>
              <a:latin typeface="Calibri"/>
              <a:ea typeface="Calibri"/>
              <a:cs typeface="Calibri"/>
              <a:sym typeface="Calibri"/>
            </a:endParaRPr>
          </a:p>
        </p:txBody>
      </p:sp>
      <p:sp>
        <p:nvSpPr>
          <p:cNvPr id="195" name="Google Shape;195;p24"/>
          <p:cNvSpPr/>
          <p:nvPr/>
        </p:nvSpPr>
        <p:spPr>
          <a:xfrm>
            <a:off x="731520" y="3108960"/>
            <a:ext cx="32919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300"/>
              <a:buFont typeface="Calibri"/>
              <a:buNone/>
            </a:pPr>
            <a:r>
              <a:rPr b="0" i="0" lang="fr" sz="1300" u="none" cap="none" strike="noStrike">
                <a:solidFill>
                  <a:srgbClr val="3D5A80"/>
                </a:solidFill>
                <a:latin typeface="Calibri"/>
                <a:ea typeface="Calibri"/>
                <a:cs typeface="Calibri"/>
                <a:sym typeface="Calibri"/>
              </a:rPr>
              <a:t>A developer writes explicit rules. The computer applies them mechanically to inputs.</a:t>
            </a:r>
            <a:endParaRPr b="0" i="0" sz="1300" u="none" cap="none" strike="noStrike">
              <a:solidFill>
                <a:schemeClr val="dk1"/>
              </a:solidFill>
              <a:latin typeface="Calibri"/>
              <a:ea typeface="Calibri"/>
              <a:cs typeface="Calibri"/>
              <a:sym typeface="Calibri"/>
            </a:endParaRPr>
          </a:p>
        </p:txBody>
      </p:sp>
      <p:sp>
        <p:nvSpPr>
          <p:cNvPr id="196" name="Google Shape;196;p24"/>
          <p:cNvSpPr/>
          <p:nvPr/>
        </p:nvSpPr>
        <p:spPr>
          <a:xfrm>
            <a:off x="4937760" y="2606040"/>
            <a:ext cx="3657600" cy="18288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4"/>
          <p:cNvSpPr/>
          <p:nvPr/>
        </p:nvSpPr>
        <p:spPr>
          <a:xfrm>
            <a:off x="5120640" y="2697480"/>
            <a:ext cx="3291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8A9E"/>
              </a:buClr>
              <a:buSzPts val="1400"/>
              <a:buFont typeface="Trebuchet MS"/>
              <a:buNone/>
            </a:pPr>
            <a:r>
              <a:rPr b="1" i="0" lang="fr" sz="1400" u="none" cap="none" strike="noStrike">
                <a:solidFill>
                  <a:srgbClr val="1B8A9E"/>
                </a:solidFill>
                <a:latin typeface="Trebuchet MS"/>
                <a:ea typeface="Trebuchet MS"/>
                <a:cs typeface="Trebuchet MS"/>
                <a:sym typeface="Trebuchet MS"/>
              </a:rPr>
              <a:t>Machine Learning</a:t>
            </a:r>
            <a:endParaRPr b="0" i="0" sz="1400" u="none" cap="none" strike="noStrike">
              <a:solidFill>
                <a:schemeClr val="dk1"/>
              </a:solidFill>
              <a:latin typeface="Calibri"/>
              <a:ea typeface="Calibri"/>
              <a:cs typeface="Calibri"/>
              <a:sym typeface="Calibri"/>
            </a:endParaRPr>
          </a:p>
        </p:txBody>
      </p:sp>
      <p:sp>
        <p:nvSpPr>
          <p:cNvPr id="198" name="Google Shape;198;p24"/>
          <p:cNvSpPr/>
          <p:nvPr/>
        </p:nvSpPr>
        <p:spPr>
          <a:xfrm>
            <a:off x="5120640" y="3108960"/>
            <a:ext cx="32919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300"/>
              <a:buFont typeface="Calibri"/>
              <a:buNone/>
            </a:pPr>
            <a:r>
              <a:rPr b="0" i="0" lang="fr" sz="1300" u="none" cap="none" strike="noStrike">
                <a:solidFill>
                  <a:srgbClr val="3D5A80"/>
                </a:solidFill>
                <a:latin typeface="Calibri"/>
                <a:ea typeface="Calibri"/>
                <a:cs typeface="Calibri"/>
                <a:sym typeface="Calibri"/>
              </a:rPr>
              <a:t>You provide data and expected outputs. The machine discovers the rules automatically.</a:t>
            </a:r>
            <a:endParaRPr b="0" i="0" sz="1300" u="none" cap="none" strike="noStrike">
              <a:solidFill>
                <a:schemeClr val="dk1"/>
              </a:solidFill>
              <a:latin typeface="Calibri"/>
              <a:ea typeface="Calibri"/>
              <a:cs typeface="Calibri"/>
              <a:sym typeface="Calibri"/>
            </a:endParaRPr>
          </a:p>
        </p:txBody>
      </p:sp>
      <p:sp>
        <p:nvSpPr>
          <p:cNvPr id="199" name="Google Shape;199;p24"/>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200" name="Google Shape;200;p24"/>
          <p:cNvPicPr preferRelativeResize="0"/>
          <p:nvPr/>
        </p:nvPicPr>
        <p:blipFill>
          <a:blip r:embed="rId3">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05" name="Shape 205"/>
        <p:cNvGrpSpPr/>
        <p:nvPr/>
      </p:nvGrpSpPr>
      <p:grpSpPr>
        <a:xfrm>
          <a:off x="0" y="0"/>
          <a:ext cx="0" cy="0"/>
          <a:chOff x="0" y="0"/>
          <a:chExt cx="0" cy="0"/>
        </a:xfrm>
      </p:grpSpPr>
      <p:sp>
        <p:nvSpPr>
          <p:cNvPr id="206" name="Google Shape;206;p2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The Machine Learning Objective</a:t>
            </a:r>
            <a:endParaRPr b="1" sz="2400">
              <a:solidFill>
                <a:srgbClr val="0F2B46"/>
              </a:solidFill>
              <a:latin typeface="Trebuchet MS"/>
              <a:ea typeface="Trebuchet MS"/>
              <a:cs typeface="Trebuchet MS"/>
              <a:sym typeface="Trebuchet MS"/>
            </a:endParaRPr>
          </a:p>
        </p:txBody>
      </p:sp>
      <p:sp>
        <p:nvSpPr>
          <p:cNvPr id="209" name="Google Shape;209;p25"/>
          <p:cNvSpPr/>
          <p:nvPr/>
        </p:nvSpPr>
        <p:spPr>
          <a:xfrm>
            <a:off x="0" y="868800"/>
            <a:ext cx="3052500" cy="4273500"/>
          </a:xfrm>
          <a:prstGeom prst="rect">
            <a:avLst/>
          </a:prstGeom>
          <a:solidFill>
            <a:srgbClr val="F5F5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5"/>
          <p:cNvSpPr/>
          <p:nvPr/>
        </p:nvSpPr>
        <p:spPr>
          <a:xfrm>
            <a:off x="215625" y="1125300"/>
            <a:ext cx="2534700" cy="37605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2A2921"/>
              </a:buClr>
              <a:buSzPts val="2400"/>
              <a:buFont typeface="Montserrat"/>
              <a:buNone/>
            </a:pPr>
            <a:r>
              <a:rPr b="1" lang="fr">
                <a:solidFill>
                  <a:srgbClr val="2A2921"/>
                </a:solidFill>
                <a:latin typeface="Calibri"/>
                <a:ea typeface="Calibri"/>
                <a:cs typeface="Calibri"/>
                <a:sym typeface="Calibri"/>
              </a:rPr>
              <a:t>Example</a:t>
            </a:r>
            <a:endParaRPr b="1">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lang="fr">
                <a:solidFill>
                  <a:srgbClr val="2A2921"/>
                </a:solidFill>
                <a:latin typeface="Calibri"/>
                <a:ea typeface="Calibri"/>
                <a:cs typeface="Calibri"/>
                <a:sym typeface="Calibri"/>
              </a:rPr>
              <a:t>Using historical data to predict the future</a:t>
            </a:r>
            <a:endParaRPr>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a:solidFill>
                <a:srgbClr val="2A2921"/>
              </a:solidFill>
              <a:latin typeface="Calibri"/>
              <a:ea typeface="Calibri"/>
              <a:cs typeface="Calibri"/>
              <a:sym typeface="Calibri"/>
            </a:endParaRPr>
          </a:p>
        </p:txBody>
      </p:sp>
      <p:pic>
        <p:nvPicPr>
          <p:cNvPr id="211" name="Google Shape;211;p25"/>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212" name="Google Shape;212;p25"/>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213" name="Google Shape;213;p25" title="01a_data_points.png"/>
          <p:cNvPicPr preferRelativeResize="0"/>
          <p:nvPr/>
        </p:nvPicPr>
        <p:blipFill>
          <a:blip r:embed="rId4">
            <a:alphaModFix/>
          </a:blip>
          <a:stretch>
            <a:fillRect/>
          </a:stretch>
        </p:blipFill>
        <p:spPr>
          <a:xfrm>
            <a:off x="3295475" y="938895"/>
            <a:ext cx="5220977" cy="38876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18" name="Shape 218"/>
        <p:cNvGrpSpPr/>
        <p:nvPr/>
      </p:nvGrpSpPr>
      <p:grpSpPr>
        <a:xfrm>
          <a:off x="0" y="0"/>
          <a:ext cx="0" cy="0"/>
          <a:chOff x="0" y="0"/>
          <a:chExt cx="0" cy="0"/>
        </a:xfrm>
      </p:grpSpPr>
      <p:sp>
        <p:nvSpPr>
          <p:cNvPr id="219" name="Google Shape;219;p2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Data Characteristics</a:t>
            </a:r>
            <a:endParaRPr b="1" sz="2400">
              <a:solidFill>
                <a:srgbClr val="0F2B46"/>
              </a:solidFill>
              <a:latin typeface="Trebuchet MS"/>
              <a:ea typeface="Trebuchet MS"/>
              <a:cs typeface="Trebuchet MS"/>
              <a:sym typeface="Trebuchet MS"/>
            </a:endParaRPr>
          </a:p>
        </p:txBody>
      </p:sp>
      <p:sp>
        <p:nvSpPr>
          <p:cNvPr id="222" name="Google Shape;222;p26"/>
          <p:cNvSpPr/>
          <p:nvPr/>
        </p:nvSpPr>
        <p:spPr>
          <a:xfrm>
            <a:off x="0" y="868800"/>
            <a:ext cx="3052500" cy="4273500"/>
          </a:xfrm>
          <a:prstGeom prst="rect">
            <a:avLst/>
          </a:prstGeom>
          <a:solidFill>
            <a:srgbClr val="F5F5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26"/>
          <p:cNvSpPr/>
          <p:nvPr/>
        </p:nvSpPr>
        <p:spPr>
          <a:xfrm>
            <a:off x="215625" y="1125300"/>
            <a:ext cx="2534700" cy="37605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Observations : </a:t>
            </a:r>
            <a:r>
              <a:rPr lang="fr" sz="1200">
                <a:solidFill>
                  <a:srgbClr val="2A2921"/>
                </a:solidFill>
                <a:latin typeface="Calibri"/>
                <a:ea typeface="Calibri"/>
                <a:cs typeface="Calibri"/>
                <a:sym typeface="Calibri"/>
              </a:rPr>
              <a:t>Sample size - number of sample</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Dimension: </a:t>
            </a:r>
            <a:r>
              <a:rPr lang="fr" sz="1200">
                <a:solidFill>
                  <a:srgbClr val="2A2921"/>
                </a:solidFill>
                <a:latin typeface="Calibri"/>
                <a:ea typeface="Calibri"/>
                <a:cs typeface="Calibri"/>
                <a:sym typeface="Calibri"/>
              </a:rPr>
              <a:t>number of variables per observation (features)</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p:txBody>
      </p:sp>
      <p:pic>
        <p:nvPicPr>
          <p:cNvPr id="224" name="Google Shape;224;p26"/>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225" name="Google Shape;225;p2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226" name="Google Shape;226;p26"/>
          <p:cNvPicPr preferRelativeResize="0"/>
          <p:nvPr/>
        </p:nvPicPr>
        <p:blipFill>
          <a:blip r:embed="rId4">
            <a:alphaModFix/>
          </a:blip>
          <a:stretch>
            <a:fillRect/>
          </a:stretch>
        </p:blipFill>
        <p:spPr>
          <a:xfrm>
            <a:off x="2940400" y="868700"/>
            <a:ext cx="2388045" cy="1781701"/>
          </a:xfrm>
          <a:prstGeom prst="rect">
            <a:avLst/>
          </a:prstGeom>
          <a:noFill/>
          <a:ln>
            <a:noFill/>
          </a:ln>
        </p:spPr>
      </p:pic>
      <p:pic>
        <p:nvPicPr>
          <p:cNvPr id="227" name="Google Shape;227;p26"/>
          <p:cNvPicPr preferRelativeResize="0"/>
          <p:nvPr/>
        </p:nvPicPr>
        <p:blipFill rotWithShape="1">
          <a:blip r:embed="rId5">
            <a:alphaModFix/>
          </a:blip>
          <a:srcRect b="0" l="0" r="0" t="10634"/>
          <a:stretch/>
        </p:blipFill>
        <p:spPr>
          <a:xfrm>
            <a:off x="2940400" y="2879037"/>
            <a:ext cx="2521549" cy="2229223"/>
          </a:xfrm>
          <a:prstGeom prst="rect">
            <a:avLst/>
          </a:prstGeom>
          <a:noFill/>
          <a:ln>
            <a:noFill/>
          </a:ln>
        </p:spPr>
      </p:pic>
      <p:pic>
        <p:nvPicPr>
          <p:cNvPr id="228" name="Google Shape;228;p26"/>
          <p:cNvPicPr preferRelativeResize="0"/>
          <p:nvPr/>
        </p:nvPicPr>
        <p:blipFill>
          <a:blip r:embed="rId6">
            <a:alphaModFix/>
          </a:blip>
          <a:stretch>
            <a:fillRect/>
          </a:stretch>
        </p:blipFill>
        <p:spPr>
          <a:xfrm>
            <a:off x="5878825" y="870837"/>
            <a:ext cx="3214060" cy="1906800"/>
          </a:xfrm>
          <a:prstGeom prst="rect">
            <a:avLst/>
          </a:prstGeom>
          <a:noFill/>
          <a:ln>
            <a:noFill/>
          </a:ln>
        </p:spPr>
      </p:pic>
      <p:graphicFrame>
        <p:nvGraphicFramePr>
          <p:cNvPr id="229" name="Google Shape;229;p26"/>
          <p:cNvGraphicFramePr/>
          <p:nvPr/>
        </p:nvGraphicFramePr>
        <p:xfrm>
          <a:off x="5763250" y="3537013"/>
          <a:ext cx="3000000" cy="3000000"/>
        </p:xfrm>
        <a:graphic>
          <a:graphicData uri="http://schemas.openxmlformats.org/drawingml/2006/table">
            <a:tbl>
              <a:tblPr>
                <a:noFill/>
                <a:tableStyleId>{96C519A4-8B63-471A-9573-9005C2BE45B1}</a:tableStyleId>
              </a:tblPr>
              <a:tblGrid>
                <a:gridCol w="534250"/>
                <a:gridCol w="544675"/>
                <a:gridCol w="533600"/>
                <a:gridCol w="543725"/>
                <a:gridCol w="589075"/>
                <a:gridCol w="366775"/>
              </a:tblGrid>
              <a:tr h="200025">
                <a:tc>
                  <a:txBody>
                    <a:bodyPr/>
                    <a:lstStyle/>
                    <a:p>
                      <a:pPr indent="0" lvl="0" marL="0" rtl="0" algn="ctr">
                        <a:lnSpc>
                          <a:spcPct val="115000"/>
                        </a:lnSpc>
                        <a:spcBef>
                          <a:spcPts val="0"/>
                        </a:spcBef>
                        <a:spcAft>
                          <a:spcPts val="0"/>
                        </a:spcAft>
                        <a:buNone/>
                      </a:pPr>
                      <a:r>
                        <a:rPr b="1" lang="fr" sz="800">
                          <a:latin typeface="Montserrat"/>
                          <a:ea typeface="Montserrat"/>
                          <a:cs typeface="Montserrat"/>
                          <a:sym typeface="Montserrat"/>
                        </a:rPr>
                        <a:t>Année</a:t>
                      </a:r>
                      <a:endParaRPr b="1" sz="8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800">
                          <a:latin typeface="Montserrat"/>
                          <a:ea typeface="Montserrat"/>
                          <a:cs typeface="Montserrat"/>
                          <a:sym typeface="Montserrat"/>
                        </a:rPr>
                        <a:t>Latitude</a:t>
                      </a:r>
                      <a:endParaRPr b="1" sz="8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800">
                          <a:latin typeface="Montserrat"/>
                          <a:ea typeface="Montserrat"/>
                          <a:cs typeface="Montserrat"/>
                          <a:sym typeface="Montserrat"/>
                        </a:rPr>
                        <a:t>Altitude</a:t>
                      </a:r>
                      <a:endParaRPr b="1" sz="8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800">
                          <a:latin typeface="Montserrat"/>
                          <a:ea typeface="Montserrat"/>
                          <a:cs typeface="Montserrat"/>
                          <a:sym typeface="Montserrat"/>
                        </a:rPr>
                        <a:t>CO₂</a:t>
                      </a:r>
                      <a:endParaRPr b="1" sz="8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800">
                          <a:latin typeface="Montserrat"/>
                          <a:ea typeface="Montserrat"/>
                          <a:cs typeface="Montserrat"/>
                          <a:sym typeface="Montserrat"/>
                        </a:rPr>
                        <a:t>Humidité</a:t>
                      </a:r>
                      <a:endParaRPr b="1" sz="8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800">
                          <a:latin typeface="Montserrat"/>
                          <a:ea typeface="Montserrat"/>
                          <a:cs typeface="Montserrat"/>
                          <a:sym typeface="Montserrat"/>
                        </a:rPr>
                        <a:t>°C</a:t>
                      </a:r>
                      <a:endParaRPr b="1" sz="8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2000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45.0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370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65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13.8</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2010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30.0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800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390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45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12.5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2020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60.0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50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415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80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14.2</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sp>
        <p:nvSpPr>
          <p:cNvPr id="230" name="Google Shape;230;p26"/>
          <p:cNvSpPr txBox="1"/>
          <p:nvPr/>
        </p:nvSpPr>
        <p:spPr>
          <a:xfrm>
            <a:off x="3272513" y="2606800"/>
            <a:ext cx="1857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800">
                <a:solidFill>
                  <a:schemeClr val="dk1"/>
                </a:solidFill>
                <a:latin typeface="Calibri"/>
                <a:ea typeface="Calibri"/>
                <a:cs typeface="Calibri"/>
                <a:sym typeface="Calibri"/>
              </a:rPr>
              <a:t>9 observations / 2 variables </a:t>
            </a:r>
            <a:endParaRPr b="1" sz="800">
              <a:solidFill>
                <a:schemeClr val="dk1"/>
              </a:solidFill>
              <a:latin typeface="Calibri"/>
              <a:ea typeface="Calibri"/>
              <a:cs typeface="Calibri"/>
              <a:sym typeface="Calibri"/>
            </a:endParaRPr>
          </a:p>
        </p:txBody>
      </p:sp>
      <p:sp>
        <p:nvSpPr>
          <p:cNvPr id="231" name="Google Shape;231;p26"/>
          <p:cNvSpPr txBox="1"/>
          <p:nvPr/>
        </p:nvSpPr>
        <p:spPr>
          <a:xfrm>
            <a:off x="6557188" y="2762425"/>
            <a:ext cx="1857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800">
                <a:solidFill>
                  <a:schemeClr val="dk1"/>
                </a:solidFill>
                <a:latin typeface="Calibri"/>
                <a:ea typeface="Calibri"/>
                <a:cs typeface="Calibri"/>
                <a:sym typeface="Calibri"/>
              </a:rPr>
              <a:t>44 observations / 2 variables </a:t>
            </a:r>
            <a:endParaRPr b="1" sz="800">
              <a:solidFill>
                <a:schemeClr val="dk1"/>
              </a:solidFill>
              <a:latin typeface="Calibri"/>
              <a:ea typeface="Calibri"/>
              <a:cs typeface="Calibri"/>
              <a:sym typeface="Calibri"/>
            </a:endParaRPr>
          </a:p>
        </p:txBody>
      </p:sp>
      <p:sp>
        <p:nvSpPr>
          <p:cNvPr id="232" name="Google Shape;232;p26"/>
          <p:cNvSpPr txBox="1"/>
          <p:nvPr/>
        </p:nvSpPr>
        <p:spPr>
          <a:xfrm>
            <a:off x="3355413" y="4903300"/>
            <a:ext cx="1857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800">
                <a:solidFill>
                  <a:schemeClr val="dk1"/>
                </a:solidFill>
                <a:latin typeface="Calibri"/>
                <a:ea typeface="Calibri"/>
                <a:cs typeface="Calibri"/>
                <a:sym typeface="Calibri"/>
              </a:rPr>
              <a:t>9 observations / 3 variables </a:t>
            </a:r>
            <a:endParaRPr b="1" sz="800">
              <a:solidFill>
                <a:schemeClr val="dk1"/>
              </a:solidFill>
              <a:latin typeface="Calibri"/>
              <a:ea typeface="Calibri"/>
              <a:cs typeface="Calibri"/>
              <a:sym typeface="Calibri"/>
            </a:endParaRPr>
          </a:p>
        </p:txBody>
      </p:sp>
      <p:sp>
        <p:nvSpPr>
          <p:cNvPr id="233" name="Google Shape;233;p26"/>
          <p:cNvSpPr txBox="1"/>
          <p:nvPr/>
        </p:nvSpPr>
        <p:spPr>
          <a:xfrm>
            <a:off x="6490463" y="4832450"/>
            <a:ext cx="1857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800">
                <a:solidFill>
                  <a:schemeClr val="dk1"/>
                </a:solidFill>
                <a:latin typeface="Calibri"/>
                <a:ea typeface="Calibri"/>
                <a:cs typeface="Calibri"/>
                <a:sym typeface="Calibri"/>
              </a:rPr>
              <a:t>3 observations / 6 variables </a:t>
            </a:r>
            <a:endParaRPr b="1" sz="800">
              <a:solidFill>
                <a:schemeClr val="dk1"/>
              </a:solidFill>
              <a:latin typeface="Calibri"/>
              <a:ea typeface="Calibri"/>
              <a:cs typeface="Calibri"/>
              <a:sym typeface="Calibri"/>
            </a:endParaRPr>
          </a:p>
        </p:txBody>
      </p:sp>
      <p:pic>
        <p:nvPicPr>
          <p:cNvPr id="234" name="Google Shape;234;p26" title="{&quot;red&quot;:42,&quot;green&quot;:41,&quot;blue&quot;:33,&quot;origURL&quot;:&quot;https://www.codecogs.com/eqnedit.php?latex=n%20%5Cin%20%5Cmathbb%7BN%7D#0&quot;,&quot;size&quot;:12,&quot;width&quot;:236.2204724409449,&quot;height&quot;:29.078740157480315}"/>
          <p:cNvPicPr preferRelativeResize="0"/>
          <p:nvPr/>
        </p:nvPicPr>
        <p:blipFill>
          <a:blip r:embed="rId7">
            <a:alphaModFix/>
          </a:blip>
          <a:stretch>
            <a:fillRect/>
          </a:stretch>
        </p:blipFill>
        <p:spPr>
          <a:xfrm>
            <a:off x="1636000" y="1396975"/>
            <a:ext cx="546100" cy="158975"/>
          </a:xfrm>
          <a:prstGeom prst="rect">
            <a:avLst/>
          </a:prstGeom>
          <a:noFill/>
          <a:ln>
            <a:noFill/>
          </a:ln>
        </p:spPr>
      </p:pic>
      <p:pic>
        <p:nvPicPr>
          <p:cNvPr id="235" name="Google Shape;235;p26" title="{&quot;red&quot;:42,&quot;green&quot;:41,&quot;blue&quot;:33,&quot;origURL&quot;:&quot;https://www.codecogs.com/eqnedit.php?latex=p%20%5Cin%20%5Cmathbb%7BN%7D#0&quot;,&quot;size&quot;:12,&quot;width&quot;:236.2204724409449,&quot;height&quot;:29.078740157480315}"/>
          <p:cNvPicPr preferRelativeResize="0"/>
          <p:nvPr/>
        </p:nvPicPr>
        <p:blipFill>
          <a:blip r:embed="rId8">
            <a:alphaModFix/>
          </a:blip>
          <a:stretch>
            <a:fillRect/>
          </a:stretch>
        </p:blipFill>
        <p:spPr>
          <a:xfrm>
            <a:off x="1636000" y="2084125"/>
            <a:ext cx="596575" cy="213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40" name="Shape 240"/>
        <p:cNvGrpSpPr/>
        <p:nvPr/>
      </p:nvGrpSpPr>
      <p:grpSpPr>
        <a:xfrm>
          <a:off x="0" y="0"/>
          <a:ext cx="0" cy="0"/>
          <a:chOff x="0" y="0"/>
          <a:chExt cx="0" cy="0"/>
        </a:xfrm>
      </p:grpSpPr>
      <p:sp>
        <p:nvSpPr>
          <p:cNvPr id="241" name="Google Shape;241;p27"/>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7"/>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Types of Learning Problems</a:t>
            </a:r>
            <a:endParaRPr b="1" sz="2400">
              <a:solidFill>
                <a:srgbClr val="0F2B46"/>
              </a:solidFill>
              <a:latin typeface="Trebuchet MS"/>
              <a:ea typeface="Trebuchet MS"/>
              <a:cs typeface="Trebuchet MS"/>
              <a:sym typeface="Trebuchet MS"/>
            </a:endParaRPr>
          </a:p>
        </p:txBody>
      </p:sp>
      <p:pic>
        <p:nvPicPr>
          <p:cNvPr id="244" name="Google Shape;244;p27"/>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245" name="Google Shape;245;p27"/>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sp>
        <p:nvSpPr>
          <p:cNvPr id="246" name="Google Shape;246;p27"/>
          <p:cNvSpPr txBox="1"/>
          <p:nvPr/>
        </p:nvSpPr>
        <p:spPr>
          <a:xfrm>
            <a:off x="3284475" y="3435669"/>
            <a:ext cx="23124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b="1" lang="fr" sz="1100">
                <a:solidFill>
                  <a:schemeClr val="dk1"/>
                </a:solidFill>
                <a:latin typeface="Calibri"/>
                <a:ea typeface="Calibri"/>
                <a:cs typeface="Calibri"/>
                <a:sym typeface="Calibri"/>
              </a:rPr>
              <a:t>Supervised Learning</a:t>
            </a:r>
            <a:r>
              <a:rPr lang="fr" sz="1100">
                <a:solidFill>
                  <a:schemeClr val="dk1"/>
                </a:solidFill>
                <a:latin typeface="Calibri"/>
                <a:ea typeface="Calibri"/>
                <a:cs typeface="Calibri"/>
                <a:sym typeface="Calibri"/>
              </a:rPr>
              <a:t>: </a:t>
            </a:r>
            <a:br>
              <a:rPr lang="fr" sz="1100">
                <a:solidFill>
                  <a:schemeClr val="dk1"/>
                </a:solidFill>
                <a:latin typeface="Calibri"/>
                <a:ea typeface="Calibri"/>
                <a:cs typeface="Calibri"/>
                <a:sym typeface="Calibri"/>
              </a:rPr>
            </a:br>
            <a:br>
              <a:rPr lang="fr" sz="1100">
                <a:solidFill>
                  <a:schemeClr val="dk1"/>
                </a:solidFill>
                <a:latin typeface="Calibri"/>
                <a:ea typeface="Calibri"/>
                <a:cs typeface="Calibri"/>
                <a:sym typeface="Calibri"/>
              </a:rPr>
            </a:br>
            <a:r>
              <a:rPr lang="fr" sz="1100">
                <a:solidFill>
                  <a:schemeClr val="dk1"/>
                </a:solidFill>
                <a:latin typeface="Calibri"/>
                <a:ea typeface="Calibri"/>
                <a:cs typeface="Calibri"/>
                <a:sym typeface="Calibri"/>
              </a:rPr>
              <a:t>Learning from labeled pairs features target</a:t>
            </a:r>
            <a:endParaRPr sz="1100">
              <a:solidFill>
                <a:schemeClr val="dk1"/>
              </a:solidFill>
              <a:latin typeface="Calibri"/>
              <a:ea typeface="Calibri"/>
              <a:cs typeface="Calibri"/>
              <a:sym typeface="Calibri"/>
            </a:endParaRPr>
          </a:p>
        </p:txBody>
      </p:sp>
      <p:sp>
        <p:nvSpPr>
          <p:cNvPr id="247" name="Google Shape;247;p27"/>
          <p:cNvSpPr txBox="1"/>
          <p:nvPr/>
        </p:nvSpPr>
        <p:spPr>
          <a:xfrm>
            <a:off x="529675" y="3456069"/>
            <a:ext cx="2312400" cy="105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fr" sz="1100">
                <a:solidFill>
                  <a:schemeClr val="dk1"/>
                </a:solidFill>
                <a:latin typeface="Calibri"/>
                <a:ea typeface="Calibri"/>
                <a:cs typeface="Calibri"/>
                <a:sym typeface="Calibri"/>
              </a:rPr>
              <a:t>Unsupervised Learning</a:t>
            </a:r>
            <a:r>
              <a:rPr lang="fr"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fr" sz="1100">
                <a:solidFill>
                  <a:schemeClr val="dk1"/>
                </a:solidFill>
                <a:latin typeface="Calibri"/>
                <a:ea typeface="Calibri"/>
                <a:cs typeface="Calibri"/>
                <a:sym typeface="Calibri"/>
              </a:rPr>
              <a:t>Learning structure from unlabeled </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fr" sz="1100">
                <a:solidFill>
                  <a:schemeClr val="dk1"/>
                </a:solidFill>
                <a:latin typeface="Calibri"/>
                <a:ea typeface="Calibri"/>
                <a:cs typeface="Calibri"/>
                <a:sym typeface="Calibri"/>
              </a:rPr>
              <a:t>Clustering: Group similar data points</a:t>
            </a:r>
            <a:endParaRPr sz="1100">
              <a:solidFill>
                <a:schemeClr val="dk1"/>
              </a:solidFill>
              <a:latin typeface="Calibri"/>
              <a:ea typeface="Calibri"/>
              <a:cs typeface="Calibri"/>
              <a:sym typeface="Calibri"/>
            </a:endParaRPr>
          </a:p>
        </p:txBody>
      </p:sp>
      <p:sp>
        <p:nvSpPr>
          <p:cNvPr id="248" name="Google Shape;248;p27"/>
          <p:cNvSpPr txBox="1"/>
          <p:nvPr/>
        </p:nvSpPr>
        <p:spPr>
          <a:xfrm>
            <a:off x="6171650" y="3456063"/>
            <a:ext cx="2486100" cy="8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fr" sz="1100">
                <a:solidFill>
                  <a:schemeClr val="dk1"/>
                </a:solidFill>
                <a:latin typeface="Calibri"/>
                <a:ea typeface="Calibri"/>
                <a:cs typeface="Calibri"/>
                <a:sym typeface="Calibri"/>
              </a:rPr>
              <a:t>Reinforcement Learning</a:t>
            </a:r>
            <a:r>
              <a:rPr lang="fr"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fr" sz="1100">
                <a:solidFill>
                  <a:schemeClr val="dk1"/>
                </a:solidFill>
                <a:latin typeface="Calibri"/>
                <a:ea typeface="Calibri"/>
                <a:cs typeface="Calibri"/>
                <a:sym typeface="Calibri"/>
              </a:rPr>
              <a:t>Learning through interaction and rewards in an environment</a:t>
            </a:r>
            <a:endParaRPr sz="1100">
              <a:solidFill>
                <a:schemeClr val="dk1"/>
              </a:solidFill>
              <a:latin typeface="Calibri"/>
              <a:ea typeface="Calibri"/>
              <a:cs typeface="Calibri"/>
              <a:sym typeface="Calibri"/>
            </a:endParaRPr>
          </a:p>
        </p:txBody>
      </p:sp>
      <p:pic>
        <p:nvPicPr>
          <p:cNvPr id="249" name="Google Shape;249;p27"/>
          <p:cNvPicPr preferRelativeResize="0"/>
          <p:nvPr/>
        </p:nvPicPr>
        <p:blipFill rotWithShape="1">
          <a:blip r:embed="rId4">
            <a:alphaModFix/>
          </a:blip>
          <a:srcRect b="0" l="0" r="0" t="44386"/>
          <a:stretch/>
        </p:blipFill>
        <p:spPr>
          <a:xfrm>
            <a:off x="201000" y="1001188"/>
            <a:ext cx="8125551" cy="2404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54" name="Shape 254"/>
        <p:cNvGrpSpPr/>
        <p:nvPr/>
      </p:nvGrpSpPr>
      <p:grpSpPr>
        <a:xfrm>
          <a:off x="0" y="0"/>
          <a:ext cx="0" cy="0"/>
          <a:chOff x="0" y="0"/>
          <a:chExt cx="0" cy="0"/>
        </a:xfrm>
      </p:grpSpPr>
      <p:sp>
        <p:nvSpPr>
          <p:cNvPr id="255" name="Google Shape;255;p28"/>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8"/>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8"/>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Supervised Learning : Dataset, features and target/label</a:t>
            </a:r>
            <a:endParaRPr b="1" sz="2400">
              <a:solidFill>
                <a:srgbClr val="0F2B46"/>
              </a:solidFill>
              <a:latin typeface="Trebuchet MS"/>
              <a:ea typeface="Trebuchet MS"/>
              <a:cs typeface="Trebuchet MS"/>
              <a:sym typeface="Trebuchet MS"/>
            </a:endParaRPr>
          </a:p>
        </p:txBody>
      </p:sp>
      <p:sp>
        <p:nvSpPr>
          <p:cNvPr id="258" name="Google Shape;258;p28"/>
          <p:cNvSpPr/>
          <p:nvPr/>
        </p:nvSpPr>
        <p:spPr>
          <a:xfrm>
            <a:off x="215625" y="1125300"/>
            <a:ext cx="8297700" cy="3760500"/>
          </a:xfrm>
          <a:prstGeom prst="rect">
            <a:avLst/>
          </a:prstGeom>
          <a:noFill/>
          <a:ln>
            <a:noFill/>
          </a:ln>
        </p:spPr>
        <p:txBody>
          <a:bodyPr anchorCtr="0" anchor="t" bIns="0" lIns="0" spcFirstLastPara="1" rIns="0" wrap="square" tIns="0">
            <a:noAutofit/>
          </a:bodyPr>
          <a:lstStyle/>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 		</a:t>
            </a:r>
            <a:r>
              <a:rPr lang="fr" sz="1200">
                <a:solidFill>
                  <a:srgbClr val="2A2921"/>
                </a:solidFill>
                <a:latin typeface="Calibri"/>
                <a:ea typeface="Calibri"/>
                <a:cs typeface="Calibri"/>
                <a:sym typeface="Calibri"/>
              </a:rPr>
              <a:t>Explanatory variables </a:t>
            </a:r>
            <a:r>
              <a:rPr b="1" lang="fr" sz="1200">
                <a:solidFill>
                  <a:srgbClr val="2A2921"/>
                </a:solidFill>
                <a:latin typeface="Calibri"/>
                <a:ea typeface="Calibri"/>
                <a:cs typeface="Calibri"/>
                <a:sym typeface="Calibri"/>
              </a:rPr>
              <a:t>(features/characteristics)</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 		</a:t>
            </a:r>
            <a:r>
              <a:rPr lang="fr" sz="1200">
                <a:solidFill>
                  <a:srgbClr val="2A2921"/>
                </a:solidFill>
                <a:latin typeface="Calibri"/>
                <a:ea typeface="Calibri"/>
                <a:cs typeface="Calibri"/>
                <a:sym typeface="Calibri"/>
              </a:rPr>
              <a:t>Variable to explain</a:t>
            </a:r>
            <a:r>
              <a:rPr b="1" lang="fr" sz="1200">
                <a:solidFill>
                  <a:srgbClr val="2A2921"/>
                </a:solidFill>
                <a:latin typeface="Calibri"/>
                <a:ea typeface="Calibri"/>
                <a:cs typeface="Calibri"/>
                <a:sym typeface="Calibri"/>
              </a:rPr>
              <a:t> (target)</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rPr b="1" lang="fr" sz="1200">
                <a:solidFill>
                  <a:srgbClr val="2A2921"/>
                </a:solidFill>
                <a:latin typeface="Calibri"/>
                <a:ea typeface="Calibri"/>
                <a:cs typeface="Calibri"/>
                <a:sym typeface="Calibri"/>
              </a:rPr>
              <a:t>			  	Dataset								A sample / An observation</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a:p>
            <a:pPr indent="0" lvl="0" marL="0" marR="0" rtl="0" algn="l">
              <a:lnSpc>
                <a:spcPct val="125972"/>
              </a:lnSpc>
              <a:spcBef>
                <a:spcPts val="0"/>
              </a:spcBef>
              <a:spcAft>
                <a:spcPts val="0"/>
              </a:spcAft>
              <a:buClr>
                <a:srgbClr val="2A2921"/>
              </a:buClr>
              <a:buSzPts val="2400"/>
              <a:buFont typeface="Montserrat"/>
              <a:buNone/>
            </a:pPr>
            <a:r>
              <a:t/>
            </a:r>
            <a:endParaRPr b="1" sz="1200">
              <a:solidFill>
                <a:srgbClr val="2A2921"/>
              </a:solidFill>
              <a:latin typeface="Calibri"/>
              <a:ea typeface="Calibri"/>
              <a:cs typeface="Calibri"/>
              <a:sym typeface="Calibri"/>
            </a:endParaRPr>
          </a:p>
        </p:txBody>
      </p:sp>
      <p:pic>
        <p:nvPicPr>
          <p:cNvPr id="259" name="Google Shape;259;p28"/>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260" name="Google Shape;260;p28"/>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261" name="Google Shape;261;p28"/>
          <p:cNvPicPr preferRelativeResize="0"/>
          <p:nvPr/>
        </p:nvPicPr>
        <p:blipFill rotWithShape="1">
          <a:blip r:embed="rId4">
            <a:alphaModFix/>
          </a:blip>
          <a:srcRect b="22052" l="0" r="0" t="0"/>
          <a:stretch/>
        </p:blipFill>
        <p:spPr>
          <a:xfrm>
            <a:off x="775300" y="2889450"/>
            <a:ext cx="7673899" cy="1794525"/>
          </a:xfrm>
          <a:prstGeom prst="rect">
            <a:avLst/>
          </a:prstGeom>
          <a:noFill/>
          <a:ln>
            <a:noFill/>
          </a:ln>
        </p:spPr>
      </p:pic>
      <p:pic>
        <p:nvPicPr>
          <p:cNvPr id="262" name="Google Shape;262;p28" title="{&quot;red&quot;:89,&quot;green&quot;:89,&quot;blue&quot;:89,&quot;origURL&quot;:&quot;https://www.codecogs.com/eqnedit.php?latex=X%20%5Cin%20%5Cmathbb%7BR%7D%5E%7Bn%20%5Ctimes%20p%7D#0&quot;,&quot;size&quot;:18,&quot;width&quot;:334.98425196850394,&quot;height&quot;:36.354330708661415}"/>
          <p:cNvPicPr preferRelativeResize="0"/>
          <p:nvPr/>
        </p:nvPicPr>
        <p:blipFill>
          <a:blip r:embed="rId5">
            <a:alphaModFix/>
          </a:blip>
          <a:stretch>
            <a:fillRect/>
          </a:stretch>
        </p:blipFill>
        <p:spPr>
          <a:xfrm>
            <a:off x="215625" y="1157551"/>
            <a:ext cx="805460" cy="152250"/>
          </a:xfrm>
          <a:prstGeom prst="rect">
            <a:avLst/>
          </a:prstGeom>
          <a:noFill/>
          <a:ln>
            <a:noFill/>
          </a:ln>
        </p:spPr>
      </p:pic>
      <p:pic>
        <p:nvPicPr>
          <p:cNvPr id="263" name="Google Shape;263;p28" title="{&quot;red&quot;:89,&quot;green&quot;:89,&quot;blue&quot;:89,&quot;origURL&quot;:&quot;https://www.codecogs.com/eqnedit.php?latex=Y%20%5Cin%20%5Cmathbb%7BR%7D%5En#0&quot;,&quot;size&quot;:18,&quot;width&quot;:334.98425196850394,&quot;height&quot;:36.354330708661415}"/>
          <p:cNvPicPr preferRelativeResize="0"/>
          <p:nvPr/>
        </p:nvPicPr>
        <p:blipFill>
          <a:blip r:embed="rId6">
            <a:alphaModFix/>
          </a:blip>
          <a:stretch>
            <a:fillRect/>
          </a:stretch>
        </p:blipFill>
        <p:spPr>
          <a:xfrm>
            <a:off x="219725" y="1598550"/>
            <a:ext cx="797242" cy="190310"/>
          </a:xfrm>
          <a:prstGeom prst="rect">
            <a:avLst/>
          </a:prstGeom>
          <a:noFill/>
          <a:ln>
            <a:noFill/>
          </a:ln>
        </p:spPr>
      </p:pic>
      <p:pic>
        <p:nvPicPr>
          <p:cNvPr id="264" name="Google Shape;264;p28" title="{&quot;red&quot;:71,&quot;green&quot;:85,&quot;blue&quot;:105,&quot;origURL&quot;:&quot;https://www.codecogs.com/eqnedit.php?latex=(x_i%20%2C%20y_i)#0&quot;,&quot;size&quot;:12,&quot;width&quot;:236.2204724409449,&quot;height&quot;:29.078740157480315}"/>
          <p:cNvPicPr preferRelativeResize="0"/>
          <p:nvPr/>
        </p:nvPicPr>
        <p:blipFill>
          <a:blip r:embed="rId7">
            <a:alphaModFix/>
          </a:blip>
          <a:stretch>
            <a:fillRect/>
          </a:stretch>
        </p:blipFill>
        <p:spPr>
          <a:xfrm>
            <a:off x="5505525" y="2058589"/>
            <a:ext cx="496062" cy="190300"/>
          </a:xfrm>
          <a:prstGeom prst="rect">
            <a:avLst/>
          </a:prstGeom>
          <a:noFill/>
          <a:ln>
            <a:noFill/>
          </a:ln>
        </p:spPr>
      </p:pic>
      <p:pic>
        <p:nvPicPr>
          <p:cNvPr id="265" name="Google Shape;265;p28" title="{&quot;red&quot;:71,&quot;green&quot;:85,&quot;blue&quot;:105,&quot;origURL&quot;:&quot;http://www.texrendr.com/?eqn=D%20%3D%20(X%2CY)%20%3D%20(x_i%20%2C%20y_i)_%7Bi%20%5Cin%20%5Cmathb%7BN%7D%7D#0&quot;,&quot;size&quot;:12,&quot;width&quot;:236.2204724409449,&quot;height&quot;:29.078740157480315}"/>
          <p:cNvPicPr preferRelativeResize="0"/>
          <p:nvPr/>
        </p:nvPicPr>
        <p:blipFill>
          <a:blip r:embed="rId8">
            <a:alphaModFix/>
          </a:blip>
          <a:stretch>
            <a:fillRect/>
          </a:stretch>
        </p:blipFill>
        <p:spPr>
          <a:xfrm>
            <a:off x="219725" y="2077588"/>
            <a:ext cx="1611085" cy="1986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70" name="Shape 270"/>
        <p:cNvGrpSpPr/>
        <p:nvPr/>
      </p:nvGrpSpPr>
      <p:grpSpPr>
        <a:xfrm>
          <a:off x="0" y="0"/>
          <a:ext cx="0" cy="0"/>
          <a:chOff x="0" y="0"/>
          <a:chExt cx="0" cy="0"/>
        </a:xfrm>
      </p:grpSpPr>
      <p:sp>
        <p:nvSpPr>
          <p:cNvPr id="271" name="Google Shape;271;p29"/>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9"/>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9"/>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Supervised Learning: Two Tasks</a:t>
            </a:r>
            <a:endParaRPr b="0" i="0" sz="2400" u="none" cap="none" strike="noStrike">
              <a:solidFill>
                <a:schemeClr val="dk1"/>
              </a:solidFill>
              <a:latin typeface="Calibri"/>
              <a:ea typeface="Calibri"/>
              <a:cs typeface="Calibri"/>
              <a:sym typeface="Calibri"/>
            </a:endParaRPr>
          </a:p>
        </p:txBody>
      </p:sp>
      <p:sp>
        <p:nvSpPr>
          <p:cNvPr id="274" name="Google Shape;274;p29"/>
          <p:cNvSpPr/>
          <p:nvPr/>
        </p:nvSpPr>
        <p:spPr>
          <a:xfrm>
            <a:off x="548650" y="1188722"/>
            <a:ext cx="3749100" cy="12345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9"/>
          <p:cNvSpPr/>
          <p:nvPr/>
        </p:nvSpPr>
        <p:spPr>
          <a:xfrm>
            <a:off x="548650" y="1188725"/>
            <a:ext cx="73200" cy="12345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9"/>
          <p:cNvSpPr/>
          <p:nvPr/>
        </p:nvSpPr>
        <p:spPr>
          <a:xfrm>
            <a:off x="914400" y="1325880"/>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000"/>
              <a:buFont typeface="Trebuchet MS"/>
              <a:buNone/>
            </a:pPr>
            <a:r>
              <a:rPr b="1" i="0" lang="fr" sz="2000" u="none" cap="none" strike="noStrike">
                <a:solidFill>
                  <a:srgbClr val="0F2B46"/>
                </a:solidFill>
                <a:latin typeface="Trebuchet MS"/>
                <a:ea typeface="Trebuchet MS"/>
                <a:cs typeface="Trebuchet MS"/>
                <a:sym typeface="Trebuchet MS"/>
              </a:rPr>
              <a:t>Classification</a:t>
            </a:r>
            <a:endParaRPr b="0" i="0" sz="2000" u="none" cap="none" strike="noStrike">
              <a:solidFill>
                <a:schemeClr val="dk1"/>
              </a:solidFill>
              <a:latin typeface="Calibri"/>
              <a:ea typeface="Calibri"/>
              <a:cs typeface="Calibri"/>
              <a:sym typeface="Calibri"/>
            </a:endParaRPr>
          </a:p>
        </p:txBody>
      </p:sp>
      <p:sp>
        <p:nvSpPr>
          <p:cNvPr id="277" name="Google Shape;277;p29"/>
          <p:cNvSpPr/>
          <p:nvPr/>
        </p:nvSpPr>
        <p:spPr>
          <a:xfrm>
            <a:off x="914400" y="1828800"/>
            <a:ext cx="3200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300"/>
              <a:buFont typeface="Calibri"/>
              <a:buNone/>
            </a:pPr>
            <a:r>
              <a:rPr b="0" i="0" lang="fr" sz="1300" u="none" cap="none" strike="noStrike">
                <a:solidFill>
                  <a:srgbClr val="3D5A80"/>
                </a:solidFill>
                <a:latin typeface="Calibri"/>
                <a:ea typeface="Calibri"/>
                <a:cs typeface="Calibri"/>
                <a:sym typeface="Calibri"/>
              </a:rPr>
              <a:t>Predict a category</a:t>
            </a:r>
            <a:endParaRPr b="0" i="0" sz="1300" u="none" cap="none" strike="noStrike">
              <a:solidFill>
                <a:schemeClr val="dk1"/>
              </a:solidFill>
              <a:latin typeface="Calibri"/>
              <a:ea typeface="Calibri"/>
              <a:cs typeface="Calibri"/>
              <a:sym typeface="Calibri"/>
            </a:endParaRPr>
          </a:p>
        </p:txBody>
      </p:sp>
      <p:sp>
        <p:nvSpPr>
          <p:cNvPr id="278" name="Google Shape;278;p29"/>
          <p:cNvSpPr/>
          <p:nvPr/>
        </p:nvSpPr>
        <p:spPr>
          <a:xfrm>
            <a:off x="4846325" y="1188722"/>
            <a:ext cx="3749100" cy="12345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p:nvPr/>
        </p:nvSpPr>
        <p:spPr>
          <a:xfrm>
            <a:off x="4846325" y="1188725"/>
            <a:ext cx="73200" cy="1234500"/>
          </a:xfrm>
          <a:prstGeom prst="rect">
            <a:avLst/>
          </a:prstGeom>
          <a:solidFill>
            <a:srgbClr val="F4A4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
          <p:cNvSpPr/>
          <p:nvPr/>
        </p:nvSpPr>
        <p:spPr>
          <a:xfrm>
            <a:off x="5212080" y="1325880"/>
            <a:ext cx="3200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000"/>
              <a:buFont typeface="Trebuchet MS"/>
              <a:buNone/>
            </a:pPr>
            <a:r>
              <a:rPr b="1" i="0" lang="fr" sz="2000" u="none" cap="none" strike="noStrike">
                <a:solidFill>
                  <a:srgbClr val="0F2B46"/>
                </a:solidFill>
                <a:latin typeface="Trebuchet MS"/>
                <a:ea typeface="Trebuchet MS"/>
                <a:cs typeface="Trebuchet MS"/>
                <a:sym typeface="Trebuchet MS"/>
              </a:rPr>
              <a:t>Regression</a:t>
            </a:r>
            <a:endParaRPr b="0" i="0" sz="2000" u="none" cap="none" strike="noStrike">
              <a:solidFill>
                <a:schemeClr val="dk1"/>
              </a:solidFill>
              <a:latin typeface="Calibri"/>
              <a:ea typeface="Calibri"/>
              <a:cs typeface="Calibri"/>
              <a:sym typeface="Calibri"/>
            </a:endParaRPr>
          </a:p>
        </p:txBody>
      </p:sp>
      <p:sp>
        <p:nvSpPr>
          <p:cNvPr id="281" name="Google Shape;281;p29"/>
          <p:cNvSpPr/>
          <p:nvPr/>
        </p:nvSpPr>
        <p:spPr>
          <a:xfrm>
            <a:off x="5212075" y="1828800"/>
            <a:ext cx="3200400" cy="71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300"/>
              <a:buFont typeface="Calibri"/>
              <a:buNone/>
            </a:pPr>
            <a:r>
              <a:rPr b="0" i="0" lang="fr" sz="1300" u="none" cap="none" strike="noStrike">
                <a:solidFill>
                  <a:srgbClr val="3D5A80"/>
                </a:solidFill>
                <a:latin typeface="Calibri"/>
                <a:ea typeface="Calibri"/>
                <a:cs typeface="Calibri"/>
                <a:sym typeface="Calibri"/>
              </a:rPr>
              <a:t>Predict a continuous value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300"/>
              <a:buFont typeface="Calibri"/>
              <a:buNone/>
            </a:pPr>
            <a:r>
              <a:t/>
            </a:r>
            <a:endParaRPr b="0" i="0" sz="1300" u="none" cap="none" strike="noStrike">
              <a:solidFill>
                <a:schemeClr val="dk1"/>
              </a:solidFill>
              <a:latin typeface="Calibri"/>
              <a:ea typeface="Calibri"/>
              <a:cs typeface="Calibri"/>
              <a:sym typeface="Calibri"/>
            </a:endParaRPr>
          </a:p>
        </p:txBody>
      </p:sp>
      <p:pic>
        <p:nvPicPr>
          <p:cNvPr id="282" name="Google Shape;282;p29"/>
          <p:cNvPicPr preferRelativeResize="0"/>
          <p:nvPr/>
        </p:nvPicPr>
        <p:blipFill>
          <a:blip r:embed="rId3">
            <a:alphaModFix/>
          </a:blip>
          <a:stretch>
            <a:fillRect/>
          </a:stretch>
        </p:blipFill>
        <p:spPr>
          <a:xfrm>
            <a:off x="3193850" y="2468820"/>
            <a:ext cx="3112049" cy="2509717"/>
          </a:xfrm>
          <a:prstGeom prst="rect">
            <a:avLst/>
          </a:prstGeom>
          <a:noFill/>
          <a:ln>
            <a:noFill/>
          </a:ln>
        </p:spPr>
      </p:pic>
      <p:pic>
        <p:nvPicPr>
          <p:cNvPr id="283" name="Google Shape;283;p29" title="{&quot;red&quot;:0,&quot;green&quot;:0,&quot;blue&quot;:0,&quot;origURL&quot;:&quot;https://www.codecogs.com/eqnedit.php?latex=y%20%5Cin%20%5C%7B1%2C%202%2C%20%5Cldots%2C%20K%5C%7D#0&quot;,&quot;size&quot;:14,&quot;width&quot;:236.2204724409449,&quot;height&quot;:31.511811023622048}"/>
          <p:cNvPicPr preferRelativeResize="0"/>
          <p:nvPr/>
        </p:nvPicPr>
        <p:blipFill>
          <a:blip r:embed="rId4">
            <a:alphaModFix/>
          </a:blip>
          <a:stretch>
            <a:fillRect/>
          </a:stretch>
        </p:blipFill>
        <p:spPr>
          <a:xfrm>
            <a:off x="2449325" y="1956325"/>
            <a:ext cx="1763150" cy="242675"/>
          </a:xfrm>
          <a:prstGeom prst="rect">
            <a:avLst/>
          </a:prstGeom>
          <a:noFill/>
          <a:ln>
            <a:noFill/>
          </a:ln>
        </p:spPr>
      </p:pic>
      <p:pic>
        <p:nvPicPr>
          <p:cNvPr id="284" name="Google Shape;284;p29"/>
          <p:cNvPicPr preferRelativeResize="0"/>
          <p:nvPr/>
        </p:nvPicPr>
        <p:blipFill>
          <a:blip r:embed="rId5">
            <a:alphaModFix/>
          </a:blip>
          <a:stretch>
            <a:fillRect/>
          </a:stretch>
        </p:blipFill>
        <p:spPr>
          <a:xfrm>
            <a:off x="8382675" y="4745600"/>
            <a:ext cx="761325" cy="397900"/>
          </a:xfrm>
          <a:prstGeom prst="rect">
            <a:avLst/>
          </a:prstGeom>
          <a:noFill/>
          <a:ln>
            <a:noFill/>
          </a:ln>
        </p:spPr>
      </p:pic>
      <p:sp>
        <p:nvSpPr>
          <p:cNvPr id="285" name="Google Shape;285;p29"/>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286" name="Google Shape;286;p29" title="{&quot;red&quot;:89,&quot;green&quot;:89,&quot;blue&quot;:89,&quot;origURL&quot;:&quot;https://www.codecogs.com/eqnedit.php?latex=y%20%5Cin%20%5Cmathbb%7BR%7D#0&quot;,&quot;size&quot;:18,&quot;width&quot;:247.748031496063,&quot;height&quot;:36.354330708661415}"/>
          <p:cNvPicPr preferRelativeResize="0"/>
          <p:nvPr/>
        </p:nvPicPr>
        <p:blipFill>
          <a:blip r:embed="rId6">
            <a:alphaModFix/>
          </a:blip>
          <a:stretch>
            <a:fillRect/>
          </a:stretch>
        </p:blipFill>
        <p:spPr>
          <a:xfrm>
            <a:off x="7294150" y="1964500"/>
            <a:ext cx="617220" cy="22631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91" name="Shape 291"/>
        <p:cNvGrpSpPr/>
        <p:nvPr/>
      </p:nvGrpSpPr>
      <p:grpSpPr>
        <a:xfrm>
          <a:off x="0" y="0"/>
          <a:ext cx="0" cy="0"/>
          <a:chOff x="0" y="0"/>
          <a:chExt cx="0" cy="0"/>
        </a:xfrm>
      </p:grpSpPr>
      <p:sp>
        <p:nvSpPr>
          <p:cNvPr id="292" name="Google Shape;292;p30"/>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0"/>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Examples</a:t>
            </a:r>
            <a:endParaRPr b="0" i="0" sz="2400" u="none" cap="none" strike="noStrike">
              <a:solidFill>
                <a:schemeClr val="dk1"/>
              </a:solidFill>
              <a:latin typeface="Calibri"/>
              <a:ea typeface="Calibri"/>
              <a:cs typeface="Calibri"/>
              <a:sym typeface="Calibri"/>
            </a:endParaRPr>
          </a:p>
        </p:txBody>
      </p:sp>
      <p:sp>
        <p:nvSpPr>
          <p:cNvPr id="295" name="Google Shape;295;p30"/>
          <p:cNvSpPr/>
          <p:nvPr/>
        </p:nvSpPr>
        <p:spPr>
          <a:xfrm>
            <a:off x="548640" y="1188720"/>
            <a:ext cx="2560200" cy="1417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0"/>
          <p:cNvSpPr/>
          <p:nvPr/>
        </p:nvSpPr>
        <p:spPr>
          <a:xfrm>
            <a:off x="731520" y="1325880"/>
            <a:ext cx="2194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Medical Diagnosis</a:t>
            </a:r>
            <a:endParaRPr b="0" i="0" sz="1500" u="none" cap="none" strike="noStrike">
              <a:solidFill>
                <a:schemeClr val="dk1"/>
              </a:solidFill>
              <a:latin typeface="Calibri"/>
              <a:ea typeface="Calibri"/>
              <a:cs typeface="Calibri"/>
              <a:sym typeface="Calibri"/>
            </a:endParaRPr>
          </a:p>
        </p:txBody>
      </p:sp>
      <p:sp>
        <p:nvSpPr>
          <p:cNvPr id="297" name="Google Shape;297;p30"/>
          <p:cNvSpPr/>
          <p:nvPr/>
        </p:nvSpPr>
        <p:spPr>
          <a:xfrm>
            <a:off x="731520" y="1874520"/>
            <a:ext cx="219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8A9E"/>
              </a:buClr>
              <a:buSzPts val="1200"/>
              <a:buFont typeface="Calibri"/>
              <a:buNone/>
            </a:pPr>
            <a:r>
              <a:rPr b="1" i="0" lang="fr" sz="1200" u="none" cap="none" strike="noStrike">
                <a:solidFill>
                  <a:srgbClr val="1B8A9E"/>
                </a:solidFill>
                <a:latin typeface="Calibri"/>
                <a:ea typeface="Calibri"/>
                <a:cs typeface="Calibri"/>
                <a:sym typeface="Calibri"/>
              </a:rPr>
              <a:t>Classification</a:t>
            </a:r>
            <a:endParaRPr b="0" i="0" sz="1200" u="none" cap="none" strike="noStrike">
              <a:solidFill>
                <a:schemeClr val="dk1"/>
              </a:solidFill>
              <a:latin typeface="Calibri"/>
              <a:ea typeface="Calibri"/>
              <a:cs typeface="Calibri"/>
              <a:sym typeface="Calibri"/>
            </a:endParaRPr>
          </a:p>
        </p:txBody>
      </p:sp>
      <p:sp>
        <p:nvSpPr>
          <p:cNvPr id="298" name="Google Shape;298;p30"/>
          <p:cNvSpPr/>
          <p:nvPr/>
        </p:nvSpPr>
        <p:spPr>
          <a:xfrm>
            <a:off x="3383280" y="1188720"/>
            <a:ext cx="2560200" cy="1417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0"/>
          <p:cNvSpPr/>
          <p:nvPr/>
        </p:nvSpPr>
        <p:spPr>
          <a:xfrm>
            <a:off x="3566160" y="1325880"/>
            <a:ext cx="2194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House Prices</a:t>
            </a:r>
            <a:endParaRPr b="0" i="0" sz="1500" u="none" cap="none" strike="noStrike">
              <a:solidFill>
                <a:schemeClr val="dk1"/>
              </a:solidFill>
              <a:latin typeface="Calibri"/>
              <a:ea typeface="Calibri"/>
              <a:cs typeface="Calibri"/>
              <a:sym typeface="Calibri"/>
            </a:endParaRPr>
          </a:p>
        </p:txBody>
      </p:sp>
      <p:sp>
        <p:nvSpPr>
          <p:cNvPr id="300" name="Google Shape;300;p30"/>
          <p:cNvSpPr/>
          <p:nvPr/>
        </p:nvSpPr>
        <p:spPr>
          <a:xfrm>
            <a:off x="3566160" y="1874520"/>
            <a:ext cx="219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442"/>
              </a:buClr>
              <a:buSzPts val="1200"/>
              <a:buFont typeface="Calibri"/>
              <a:buNone/>
            </a:pPr>
            <a:r>
              <a:rPr b="1" i="0" lang="fr" sz="1200" u="none" cap="none" strike="noStrike">
                <a:solidFill>
                  <a:srgbClr val="F4A442"/>
                </a:solidFill>
                <a:latin typeface="Calibri"/>
                <a:ea typeface="Calibri"/>
                <a:cs typeface="Calibri"/>
                <a:sym typeface="Calibri"/>
              </a:rPr>
              <a:t>Regression</a:t>
            </a:r>
            <a:endParaRPr b="0" i="0" sz="1200" u="none" cap="none" strike="noStrike">
              <a:solidFill>
                <a:schemeClr val="dk1"/>
              </a:solidFill>
              <a:latin typeface="Calibri"/>
              <a:ea typeface="Calibri"/>
              <a:cs typeface="Calibri"/>
              <a:sym typeface="Calibri"/>
            </a:endParaRPr>
          </a:p>
        </p:txBody>
      </p:sp>
      <p:sp>
        <p:nvSpPr>
          <p:cNvPr id="301" name="Google Shape;301;p30"/>
          <p:cNvSpPr/>
          <p:nvPr/>
        </p:nvSpPr>
        <p:spPr>
          <a:xfrm>
            <a:off x="6217920" y="1188720"/>
            <a:ext cx="2560200" cy="1417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0"/>
          <p:cNvSpPr/>
          <p:nvPr/>
        </p:nvSpPr>
        <p:spPr>
          <a:xfrm>
            <a:off x="6400800" y="1325880"/>
            <a:ext cx="2194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Fraud Detection</a:t>
            </a:r>
            <a:endParaRPr b="0" i="0" sz="1500" u="none" cap="none" strike="noStrike">
              <a:solidFill>
                <a:schemeClr val="dk1"/>
              </a:solidFill>
              <a:latin typeface="Calibri"/>
              <a:ea typeface="Calibri"/>
              <a:cs typeface="Calibri"/>
              <a:sym typeface="Calibri"/>
            </a:endParaRPr>
          </a:p>
        </p:txBody>
      </p:sp>
      <p:sp>
        <p:nvSpPr>
          <p:cNvPr id="303" name="Google Shape;303;p30"/>
          <p:cNvSpPr/>
          <p:nvPr/>
        </p:nvSpPr>
        <p:spPr>
          <a:xfrm>
            <a:off x="6400800" y="1874520"/>
            <a:ext cx="219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8A9E"/>
              </a:buClr>
              <a:buSzPts val="1200"/>
              <a:buFont typeface="Calibri"/>
              <a:buNone/>
            </a:pPr>
            <a:r>
              <a:rPr b="1" i="0" lang="fr" sz="1200" u="none" cap="none" strike="noStrike">
                <a:solidFill>
                  <a:srgbClr val="1B8A9E"/>
                </a:solidFill>
                <a:latin typeface="Calibri"/>
                <a:ea typeface="Calibri"/>
                <a:cs typeface="Calibri"/>
                <a:sym typeface="Calibri"/>
              </a:rPr>
              <a:t>Classification</a:t>
            </a:r>
            <a:endParaRPr b="0" i="0" sz="1200" u="none" cap="none" strike="noStrike">
              <a:solidFill>
                <a:schemeClr val="dk1"/>
              </a:solidFill>
              <a:latin typeface="Calibri"/>
              <a:ea typeface="Calibri"/>
              <a:cs typeface="Calibri"/>
              <a:sym typeface="Calibri"/>
            </a:endParaRPr>
          </a:p>
        </p:txBody>
      </p:sp>
      <p:sp>
        <p:nvSpPr>
          <p:cNvPr id="304" name="Google Shape;304;p30"/>
          <p:cNvSpPr/>
          <p:nvPr/>
        </p:nvSpPr>
        <p:spPr>
          <a:xfrm>
            <a:off x="548640" y="2880360"/>
            <a:ext cx="2560200" cy="1417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0"/>
          <p:cNvSpPr/>
          <p:nvPr/>
        </p:nvSpPr>
        <p:spPr>
          <a:xfrm>
            <a:off x="731520" y="3017520"/>
            <a:ext cx="2194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Weather Prediction</a:t>
            </a:r>
            <a:endParaRPr b="0" i="0" sz="1500" u="none" cap="none" strike="noStrike">
              <a:solidFill>
                <a:schemeClr val="dk1"/>
              </a:solidFill>
              <a:latin typeface="Calibri"/>
              <a:ea typeface="Calibri"/>
              <a:cs typeface="Calibri"/>
              <a:sym typeface="Calibri"/>
            </a:endParaRPr>
          </a:p>
        </p:txBody>
      </p:sp>
      <p:sp>
        <p:nvSpPr>
          <p:cNvPr id="306" name="Google Shape;306;p30"/>
          <p:cNvSpPr/>
          <p:nvPr/>
        </p:nvSpPr>
        <p:spPr>
          <a:xfrm>
            <a:off x="731520" y="3566160"/>
            <a:ext cx="219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442"/>
              </a:buClr>
              <a:buSzPts val="1200"/>
              <a:buFont typeface="Calibri"/>
              <a:buNone/>
            </a:pPr>
            <a:r>
              <a:rPr b="1" i="0" lang="fr" sz="1200" u="none" cap="none" strike="noStrike">
                <a:solidFill>
                  <a:srgbClr val="F4A442"/>
                </a:solidFill>
                <a:latin typeface="Calibri"/>
                <a:ea typeface="Calibri"/>
                <a:cs typeface="Calibri"/>
                <a:sym typeface="Calibri"/>
              </a:rPr>
              <a:t>Regression</a:t>
            </a:r>
            <a:endParaRPr b="0" i="0" sz="1200" u="none" cap="none" strike="noStrike">
              <a:solidFill>
                <a:schemeClr val="dk1"/>
              </a:solidFill>
              <a:latin typeface="Calibri"/>
              <a:ea typeface="Calibri"/>
              <a:cs typeface="Calibri"/>
              <a:sym typeface="Calibri"/>
            </a:endParaRPr>
          </a:p>
        </p:txBody>
      </p:sp>
      <p:sp>
        <p:nvSpPr>
          <p:cNvPr id="307" name="Google Shape;307;p30"/>
          <p:cNvSpPr/>
          <p:nvPr/>
        </p:nvSpPr>
        <p:spPr>
          <a:xfrm>
            <a:off x="3383280" y="2880360"/>
            <a:ext cx="2560200" cy="1417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0"/>
          <p:cNvSpPr/>
          <p:nvPr/>
        </p:nvSpPr>
        <p:spPr>
          <a:xfrm>
            <a:off x="3566160" y="3017520"/>
            <a:ext cx="2194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Image Recognition</a:t>
            </a:r>
            <a:endParaRPr b="0" i="0" sz="1500" u="none" cap="none" strike="noStrike">
              <a:solidFill>
                <a:schemeClr val="dk1"/>
              </a:solidFill>
              <a:latin typeface="Calibri"/>
              <a:ea typeface="Calibri"/>
              <a:cs typeface="Calibri"/>
              <a:sym typeface="Calibri"/>
            </a:endParaRPr>
          </a:p>
        </p:txBody>
      </p:sp>
      <p:sp>
        <p:nvSpPr>
          <p:cNvPr id="309" name="Google Shape;309;p30"/>
          <p:cNvSpPr/>
          <p:nvPr/>
        </p:nvSpPr>
        <p:spPr>
          <a:xfrm>
            <a:off x="3566160" y="3566160"/>
            <a:ext cx="219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8A9E"/>
              </a:buClr>
              <a:buSzPts val="1200"/>
              <a:buFont typeface="Calibri"/>
              <a:buNone/>
            </a:pPr>
            <a:r>
              <a:rPr b="1" i="0" lang="fr" sz="1200" u="none" cap="none" strike="noStrike">
                <a:solidFill>
                  <a:srgbClr val="1B8A9E"/>
                </a:solidFill>
                <a:latin typeface="Calibri"/>
                <a:ea typeface="Calibri"/>
                <a:cs typeface="Calibri"/>
                <a:sym typeface="Calibri"/>
              </a:rPr>
              <a:t>Classification</a:t>
            </a:r>
            <a:endParaRPr b="0" i="0" sz="1200" u="none" cap="none" strike="noStrike">
              <a:solidFill>
                <a:schemeClr val="dk1"/>
              </a:solidFill>
              <a:latin typeface="Calibri"/>
              <a:ea typeface="Calibri"/>
              <a:cs typeface="Calibri"/>
              <a:sym typeface="Calibri"/>
            </a:endParaRPr>
          </a:p>
        </p:txBody>
      </p:sp>
      <p:sp>
        <p:nvSpPr>
          <p:cNvPr id="310" name="Google Shape;310;p30"/>
          <p:cNvSpPr/>
          <p:nvPr/>
        </p:nvSpPr>
        <p:spPr>
          <a:xfrm>
            <a:off x="6217920" y="2880360"/>
            <a:ext cx="2560200" cy="1417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0"/>
          <p:cNvSpPr/>
          <p:nvPr/>
        </p:nvSpPr>
        <p:spPr>
          <a:xfrm>
            <a:off x="6400800" y="3017520"/>
            <a:ext cx="2194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Stock Forecasting</a:t>
            </a:r>
            <a:endParaRPr b="0" i="0" sz="1500" u="none" cap="none" strike="noStrike">
              <a:solidFill>
                <a:schemeClr val="dk1"/>
              </a:solidFill>
              <a:latin typeface="Calibri"/>
              <a:ea typeface="Calibri"/>
              <a:cs typeface="Calibri"/>
              <a:sym typeface="Calibri"/>
            </a:endParaRPr>
          </a:p>
        </p:txBody>
      </p:sp>
      <p:sp>
        <p:nvSpPr>
          <p:cNvPr id="312" name="Google Shape;312;p30"/>
          <p:cNvSpPr/>
          <p:nvPr/>
        </p:nvSpPr>
        <p:spPr>
          <a:xfrm>
            <a:off x="6400800" y="3566160"/>
            <a:ext cx="2194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442"/>
              </a:buClr>
              <a:buSzPts val="1200"/>
              <a:buFont typeface="Calibri"/>
              <a:buNone/>
            </a:pPr>
            <a:r>
              <a:rPr b="1" i="0" lang="fr" sz="1200" u="none" cap="none" strike="noStrike">
                <a:solidFill>
                  <a:srgbClr val="F4A442"/>
                </a:solidFill>
                <a:latin typeface="Calibri"/>
                <a:ea typeface="Calibri"/>
                <a:cs typeface="Calibri"/>
                <a:sym typeface="Calibri"/>
              </a:rPr>
              <a:t>Regression</a:t>
            </a:r>
            <a:endParaRPr b="0" i="0" sz="1200" u="none" cap="none" strike="noStrike">
              <a:solidFill>
                <a:schemeClr val="dk1"/>
              </a:solidFill>
              <a:latin typeface="Calibri"/>
              <a:ea typeface="Calibri"/>
              <a:cs typeface="Calibri"/>
              <a:sym typeface="Calibri"/>
            </a:endParaRPr>
          </a:p>
        </p:txBody>
      </p:sp>
      <p:sp>
        <p:nvSpPr>
          <p:cNvPr id="313" name="Google Shape;313;p30"/>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314" name="Google Shape;314;p30"/>
          <p:cNvPicPr preferRelativeResize="0"/>
          <p:nvPr/>
        </p:nvPicPr>
        <p:blipFill>
          <a:blip r:embed="rId3">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19" name="Shape 319"/>
        <p:cNvGrpSpPr/>
        <p:nvPr/>
      </p:nvGrpSpPr>
      <p:grpSpPr>
        <a:xfrm>
          <a:off x="0" y="0"/>
          <a:ext cx="0" cy="0"/>
          <a:chOff x="0" y="0"/>
          <a:chExt cx="0" cy="0"/>
        </a:xfrm>
      </p:grpSpPr>
      <p:sp>
        <p:nvSpPr>
          <p:cNvPr id="320" name="Google Shape;320;p31"/>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1"/>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1"/>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Parametric Models characteristics</a:t>
            </a:r>
            <a:endParaRPr b="0" i="0" sz="2400" u="none" cap="none" strike="noStrike">
              <a:solidFill>
                <a:schemeClr val="dk1"/>
              </a:solidFill>
              <a:latin typeface="Calibri"/>
              <a:ea typeface="Calibri"/>
              <a:cs typeface="Calibri"/>
              <a:sym typeface="Calibri"/>
            </a:endParaRPr>
          </a:p>
        </p:txBody>
      </p:sp>
      <p:sp>
        <p:nvSpPr>
          <p:cNvPr id="323" name="Google Shape;323;p31"/>
          <p:cNvSpPr/>
          <p:nvPr/>
        </p:nvSpPr>
        <p:spPr>
          <a:xfrm>
            <a:off x="594360" y="1280160"/>
            <a:ext cx="2469000" cy="31089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1"/>
          <p:cNvSpPr/>
          <p:nvPr/>
        </p:nvSpPr>
        <p:spPr>
          <a:xfrm>
            <a:off x="594360" y="1280160"/>
            <a:ext cx="2469000" cy="54900"/>
          </a:xfrm>
          <a:prstGeom prst="rect">
            <a:avLst/>
          </a:prstGeom>
          <a:solidFill>
            <a:srgbClr val="1A7F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5" name="Google Shape;325;p31"/>
          <p:cNvPicPr preferRelativeResize="0"/>
          <p:nvPr/>
        </p:nvPicPr>
        <p:blipFill rotWithShape="1">
          <a:blip r:embed="rId3">
            <a:alphaModFix/>
          </a:blip>
          <a:srcRect b="0" l="0" r="0" t="0"/>
          <a:stretch/>
        </p:blipFill>
        <p:spPr>
          <a:xfrm>
            <a:off x="777240" y="1508760"/>
            <a:ext cx="365760" cy="365760"/>
          </a:xfrm>
          <a:prstGeom prst="rect">
            <a:avLst/>
          </a:prstGeom>
          <a:noFill/>
          <a:ln>
            <a:noFill/>
          </a:ln>
        </p:spPr>
      </p:pic>
      <p:sp>
        <p:nvSpPr>
          <p:cNvPr id="326" name="Google Shape;326;p31"/>
          <p:cNvSpPr/>
          <p:nvPr/>
        </p:nvSpPr>
        <p:spPr>
          <a:xfrm>
            <a:off x="731520" y="2011680"/>
            <a:ext cx="219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Georgia"/>
              <a:buNone/>
            </a:pPr>
            <a:r>
              <a:rPr b="1" i="0" lang="fr" sz="1500" u="none" cap="none" strike="noStrike">
                <a:solidFill>
                  <a:srgbClr val="1B2A4A"/>
                </a:solidFill>
                <a:latin typeface="Georgia"/>
                <a:ea typeface="Georgia"/>
                <a:cs typeface="Georgia"/>
                <a:sym typeface="Georgia"/>
              </a:rPr>
              <a:t>Model = Function</a:t>
            </a:r>
            <a:endParaRPr b="0" i="0" sz="1500" u="none" cap="none" strike="noStrike">
              <a:solidFill>
                <a:schemeClr val="dk1"/>
              </a:solidFill>
              <a:latin typeface="Calibri"/>
              <a:ea typeface="Calibri"/>
              <a:cs typeface="Calibri"/>
              <a:sym typeface="Calibri"/>
            </a:endParaRPr>
          </a:p>
        </p:txBody>
      </p:sp>
      <p:sp>
        <p:nvSpPr>
          <p:cNvPr id="327" name="Google Shape;327;p31"/>
          <p:cNvSpPr/>
          <p:nvPr/>
        </p:nvSpPr>
        <p:spPr>
          <a:xfrm>
            <a:off x="731520" y="2514600"/>
            <a:ext cx="2194500" cy="1737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1200"/>
              <a:buFont typeface="Calibri"/>
              <a:buNone/>
            </a:pPr>
            <a:r>
              <a:t/>
            </a:r>
            <a:endParaRPr sz="1200">
              <a:solidFill>
                <a:srgbClr val="475569"/>
              </a:solidFill>
              <a:latin typeface="Calibri"/>
              <a:ea typeface="Calibri"/>
              <a:cs typeface="Calibri"/>
              <a:sym typeface="Calibri"/>
            </a:endParaRPr>
          </a:p>
          <a:p>
            <a:pPr indent="0" lvl="0" marL="0" marR="0" rtl="0" algn="l">
              <a:lnSpc>
                <a:spcPct val="110000"/>
              </a:lnSpc>
              <a:spcBef>
                <a:spcPts val="0"/>
              </a:spcBef>
              <a:spcAft>
                <a:spcPts val="0"/>
              </a:spcAft>
              <a:buClr>
                <a:srgbClr val="475569"/>
              </a:buClr>
              <a:buSzPts val="1200"/>
              <a:buFont typeface="Calibri"/>
              <a:buNone/>
            </a:pPr>
            <a:r>
              <a:t/>
            </a:r>
            <a:endParaRPr sz="1200">
              <a:solidFill>
                <a:srgbClr val="475569"/>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475569"/>
              </a:buClr>
              <a:buSzPts val="1200"/>
              <a:buFont typeface="Calibri"/>
              <a:buNone/>
            </a:pPr>
            <a:r>
              <a:rPr b="0" i="0" lang="fr" sz="1200" u="none" cap="none" strike="noStrike">
                <a:solidFill>
                  <a:srgbClr val="475569"/>
                </a:solidFill>
                <a:latin typeface="Calibri"/>
                <a:ea typeface="Calibri"/>
                <a:cs typeface="Calibri"/>
                <a:sym typeface="Calibri"/>
              </a:rPr>
              <a:t>A model maps p input features to a prediction. It is parameterized by </a:t>
            </a:r>
            <a:endParaRPr b="0" i="0" sz="1200" u="none" cap="none" strike="noStrike">
              <a:solidFill>
                <a:schemeClr val="dk1"/>
              </a:solidFill>
              <a:latin typeface="Calibri"/>
              <a:ea typeface="Calibri"/>
              <a:cs typeface="Calibri"/>
              <a:sym typeface="Calibri"/>
            </a:endParaRPr>
          </a:p>
        </p:txBody>
      </p:sp>
      <p:sp>
        <p:nvSpPr>
          <p:cNvPr id="328" name="Google Shape;328;p31"/>
          <p:cNvSpPr/>
          <p:nvPr/>
        </p:nvSpPr>
        <p:spPr>
          <a:xfrm>
            <a:off x="3337560" y="1280160"/>
            <a:ext cx="2469000" cy="31089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1"/>
          <p:cNvSpPr/>
          <p:nvPr/>
        </p:nvSpPr>
        <p:spPr>
          <a:xfrm>
            <a:off x="3337560" y="1280160"/>
            <a:ext cx="2469000" cy="54900"/>
          </a:xfrm>
          <a:prstGeom prst="rect">
            <a:avLst/>
          </a:prstGeom>
          <a:solidFill>
            <a:srgbClr val="0D4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0" name="Google Shape;330;p31"/>
          <p:cNvPicPr preferRelativeResize="0"/>
          <p:nvPr/>
        </p:nvPicPr>
        <p:blipFill rotWithShape="1">
          <a:blip r:embed="rId4">
            <a:alphaModFix/>
          </a:blip>
          <a:srcRect b="0" l="0" r="0" t="0"/>
          <a:stretch/>
        </p:blipFill>
        <p:spPr>
          <a:xfrm>
            <a:off x="3520440" y="1508760"/>
            <a:ext cx="365760" cy="365760"/>
          </a:xfrm>
          <a:prstGeom prst="rect">
            <a:avLst/>
          </a:prstGeom>
          <a:noFill/>
          <a:ln>
            <a:noFill/>
          </a:ln>
        </p:spPr>
      </p:pic>
      <p:sp>
        <p:nvSpPr>
          <p:cNvPr id="331" name="Google Shape;331;p31"/>
          <p:cNvSpPr/>
          <p:nvPr/>
        </p:nvSpPr>
        <p:spPr>
          <a:xfrm>
            <a:off x="3474720" y="2011680"/>
            <a:ext cx="219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Georgia"/>
              <a:buNone/>
            </a:pPr>
            <a:r>
              <a:rPr b="1" i="0" lang="fr" sz="1500" u="none" cap="none" strike="noStrike">
                <a:solidFill>
                  <a:srgbClr val="1B2A4A"/>
                </a:solidFill>
                <a:latin typeface="Georgia"/>
                <a:ea typeface="Georgia"/>
                <a:cs typeface="Georgia"/>
                <a:sym typeface="Georgia"/>
              </a:rPr>
              <a:t>Parameters </a:t>
            </a:r>
            <a:endParaRPr b="0" i="0" sz="1500" u="none" cap="none" strike="noStrike">
              <a:solidFill>
                <a:schemeClr val="dk1"/>
              </a:solidFill>
              <a:latin typeface="Calibri"/>
              <a:ea typeface="Calibri"/>
              <a:cs typeface="Calibri"/>
              <a:sym typeface="Calibri"/>
            </a:endParaRPr>
          </a:p>
        </p:txBody>
      </p:sp>
      <p:sp>
        <p:nvSpPr>
          <p:cNvPr id="332" name="Google Shape;332;p31"/>
          <p:cNvSpPr/>
          <p:nvPr/>
        </p:nvSpPr>
        <p:spPr>
          <a:xfrm>
            <a:off x="3474720" y="2514600"/>
            <a:ext cx="2194500" cy="1737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475569"/>
              </a:buClr>
              <a:buSzPts val="1200"/>
              <a:buFont typeface="Calibri"/>
              <a:buNone/>
            </a:pPr>
            <a:r>
              <a:rPr lang="fr" sz="1200">
                <a:solidFill>
                  <a:srgbClr val="475569"/>
                </a:solidFill>
                <a:latin typeface="Calibri"/>
                <a:ea typeface="Calibri"/>
                <a:cs typeface="Calibri"/>
                <a:sym typeface="Calibri"/>
              </a:rPr>
              <a:t>Number of values the model must learn</a:t>
            </a:r>
            <a:endParaRPr b="0" i="0" sz="1200" u="none" cap="none" strike="noStrike">
              <a:solidFill>
                <a:schemeClr val="dk1"/>
              </a:solidFill>
              <a:latin typeface="Calibri"/>
              <a:ea typeface="Calibri"/>
              <a:cs typeface="Calibri"/>
              <a:sym typeface="Calibri"/>
            </a:endParaRPr>
          </a:p>
        </p:txBody>
      </p:sp>
      <p:sp>
        <p:nvSpPr>
          <p:cNvPr id="333" name="Google Shape;333;p31"/>
          <p:cNvSpPr/>
          <p:nvPr/>
        </p:nvSpPr>
        <p:spPr>
          <a:xfrm>
            <a:off x="6080760" y="1280160"/>
            <a:ext cx="2469000" cy="31089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1"/>
          <p:cNvSpPr/>
          <p:nvPr/>
        </p:nvSpPr>
        <p:spPr>
          <a:xfrm>
            <a:off x="6080760" y="1280160"/>
            <a:ext cx="2469000" cy="54900"/>
          </a:xfrm>
          <a:prstGeom prst="rect">
            <a:avLst/>
          </a:prstGeom>
          <a:solidFill>
            <a:srgbClr val="E87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5" name="Google Shape;335;p31"/>
          <p:cNvPicPr preferRelativeResize="0"/>
          <p:nvPr/>
        </p:nvPicPr>
        <p:blipFill rotWithShape="1">
          <a:blip r:embed="rId5">
            <a:alphaModFix/>
          </a:blip>
          <a:srcRect b="0" l="0" r="0" t="0"/>
          <a:stretch/>
        </p:blipFill>
        <p:spPr>
          <a:xfrm>
            <a:off x="6263640" y="1508760"/>
            <a:ext cx="365760" cy="365760"/>
          </a:xfrm>
          <a:prstGeom prst="rect">
            <a:avLst/>
          </a:prstGeom>
          <a:noFill/>
          <a:ln>
            <a:noFill/>
          </a:ln>
        </p:spPr>
      </p:pic>
      <p:sp>
        <p:nvSpPr>
          <p:cNvPr id="336" name="Google Shape;336;p31"/>
          <p:cNvSpPr/>
          <p:nvPr/>
        </p:nvSpPr>
        <p:spPr>
          <a:xfrm>
            <a:off x="6217920" y="2011680"/>
            <a:ext cx="2194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Georgia"/>
              <a:buNone/>
            </a:pPr>
            <a:r>
              <a:rPr b="1" i="0" lang="fr" sz="1500" u="none" cap="none" strike="noStrike">
                <a:solidFill>
                  <a:srgbClr val="1B2A4A"/>
                </a:solidFill>
                <a:latin typeface="Georgia"/>
                <a:ea typeface="Georgia"/>
                <a:cs typeface="Georgia"/>
                <a:sym typeface="Georgia"/>
              </a:rPr>
              <a:t>Prediction</a:t>
            </a:r>
            <a:endParaRPr b="0" i="0" sz="1500" u="none" cap="none" strike="noStrike">
              <a:solidFill>
                <a:schemeClr val="dk1"/>
              </a:solidFill>
              <a:latin typeface="Calibri"/>
              <a:ea typeface="Calibri"/>
              <a:cs typeface="Calibri"/>
              <a:sym typeface="Calibri"/>
            </a:endParaRPr>
          </a:p>
        </p:txBody>
      </p:sp>
      <p:sp>
        <p:nvSpPr>
          <p:cNvPr id="337" name="Google Shape;337;p31"/>
          <p:cNvSpPr/>
          <p:nvPr/>
        </p:nvSpPr>
        <p:spPr>
          <a:xfrm>
            <a:off x="6217920" y="2514600"/>
            <a:ext cx="2194500" cy="1737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475569"/>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475569"/>
              </a:buClr>
              <a:buSzPts val="1200"/>
              <a:buFont typeface="Calibri"/>
              <a:buNone/>
            </a:pPr>
            <a:r>
              <a:rPr b="0" i="0" lang="fr" sz="1200" u="none" cap="none" strike="noStrike">
                <a:solidFill>
                  <a:srgbClr val="475569"/>
                </a:solidFill>
                <a:latin typeface="Calibri"/>
                <a:ea typeface="Calibri"/>
                <a:cs typeface="Calibri"/>
                <a:sym typeface="Calibri"/>
              </a:rPr>
              <a:t>The hat (^) means "estimated". The goal: make </a:t>
            </a:r>
            <a:r>
              <a:rPr lang="fr" sz="1200">
                <a:solidFill>
                  <a:srgbClr val="475569"/>
                </a:solidFill>
                <a:latin typeface="Calibri"/>
                <a:ea typeface="Calibri"/>
                <a:cs typeface="Calibri"/>
                <a:sym typeface="Calibri"/>
              </a:rPr>
              <a:t>   </a:t>
            </a:r>
            <a:r>
              <a:rPr b="0" i="0" lang="fr" sz="1200" u="none" cap="none" strike="noStrike">
                <a:solidFill>
                  <a:srgbClr val="475569"/>
                </a:solidFill>
                <a:latin typeface="Calibri"/>
                <a:ea typeface="Calibri"/>
                <a:cs typeface="Calibri"/>
                <a:sym typeface="Calibri"/>
              </a:rPr>
              <a:t>as close to </a:t>
            </a:r>
            <a:r>
              <a:rPr lang="fr" sz="1200">
                <a:solidFill>
                  <a:srgbClr val="475569"/>
                </a:solidFill>
                <a:latin typeface="Calibri"/>
                <a:ea typeface="Calibri"/>
                <a:cs typeface="Calibri"/>
                <a:sym typeface="Calibri"/>
              </a:rPr>
              <a:t>   </a:t>
            </a:r>
            <a:r>
              <a:rPr b="0" i="0" lang="fr" sz="1200" u="none" cap="none" strike="noStrike">
                <a:solidFill>
                  <a:srgbClr val="475569"/>
                </a:solidFill>
                <a:latin typeface="Calibri"/>
                <a:ea typeface="Calibri"/>
                <a:cs typeface="Calibri"/>
                <a:sym typeface="Calibri"/>
              </a:rPr>
              <a:t> as possible.</a:t>
            </a:r>
            <a:endParaRPr b="0" i="0" sz="1200" u="none" cap="none" strike="noStrike">
              <a:solidFill>
                <a:schemeClr val="dk1"/>
              </a:solidFill>
              <a:latin typeface="Calibri"/>
              <a:ea typeface="Calibri"/>
              <a:cs typeface="Calibri"/>
              <a:sym typeface="Calibri"/>
            </a:endParaRPr>
          </a:p>
        </p:txBody>
      </p:sp>
      <p:pic>
        <p:nvPicPr>
          <p:cNvPr id="338" name="Google Shape;338;p31" title="{&quot;red&quot;:71,&quot;green&quot;:85,&quot;blue&quot;:105,&quot;origURL&quot;:&quot;https://www.codecogs.com/eqnedit.php?latex=f_%5Ctheta%20%3A%20%5Cmathbb%7BR%7D%5Ep%20%5Crightarrow%20%5Cmathbb%7BR%7D#0&quot;,&quot;size&quot;:12,&quot;width&quot;:236.2204724409449,&quot;height&quot;:45.09448818897638}"/>
          <p:cNvPicPr preferRelativeResize="0"/>
          <p:nvPr/>
        </p:nvPicPr>
        <p:blipFill>
          <a:blip r:embed="rId6">
            <a:alphaModFix/>
          </a:blip>
          <a:stretch>
            <a:fillRect/>
          </a:stretch>
        </p:blipFill>
        <p:spPr>
          <a:xfrm>
            <a:off x="810075" y="2775725"/>
            <a:ext cx="2037542" cy="365775"/>
          </a:xfrm>
          <a:prstGeom prst="rect">
            <a:avLst/>
          </a:prstGeom>
          <a:noFill/>
          <a:ln>
            <a:noFill/>
          </a:ln>
        </p:spPr>
      </p:pic>
      <p:pic>
        <p:nvPicPr>
          <p:cNvPr id="339" name="Google Shape;339;p31" title="{&quot;red&quot;:71,&quot;green&quot;:85,&quot;blue&quot;:105,&quot;origURL&quot;:&quot;https://www.codecogs.com/eqnedit.php?latex=%5Ctheta%20%5Cin%20%5Cmathbb%7BR%7D%5Ed#0&quot;,&quot;size&quot;:12,&quot;width&quot;:236.2204724409449,&quot;height&quot;:29.078740157480315}"/>
          <p:cNvPicPr preferRelativeResize="0"/>
          <p:nvPr/>
        </p:nvPicPr>
        <p:blipFill>
          <a:blip r:embed="rId7">
            <a:alphaModFix/>
          </a:blip>
          <a:stretch>
            <a:fillRect/>
          </a:stretch>
        </p:blipFill>
        <p:spPr>
          <a:xfrm>
            <a:off x="4120614" y="2775730"/>
            <a:ext cx="733813" cy="242821"/>
          </a:xfrm>
          <a:prstGeom prst="rect">
            <a:avLst/>
          </a:prstGeom>
          <a:noFill/>
          <a:ln>
            <a:noFill/>
          </a:ln>
        </p:spPr>
      </p:pic>
      <p:pic>
        <p:nvPicPr>
          <p:cNvPr id="340" name="Google Shape;340;p31" title="{&quot;red&quot;:27,&quot;green&quot;:42,&quot;blue&quot;:74,&quot;origURL&quot;:&quot;https://www.codecogs.com/eqnedit.php?latex=%5Ctheta#0&quot;,&quot;size&quot;:15,&quot;width&quot;:236.2204724409449,&quot;height&quot;:32.71653543307087}"/>
          <p:cNvPicPr preferRelativeResize="0"/>
          <p:nvPr/>
        </p:nvPicPr>
        <p:blipFill>
          <a:blip r:embed="rId8">
            <a:alphaModFix/>
          </a:blip>
          <a:stretch>
            <a:fillRect/>
          </a:stretch>
        </p:blipFill>
        <p:spPr>
          <a:xfrm>
            <a:off x="2807250" y="3703512"/>
            <a:ext cx="78625" cy="134413"/>
          </a:xfrm>
          <a:prstGeom prst="rect">
            <a:avLst/>
          </a:prstGeom>
          <a:noFill/>
          <a:ln>
            <a:noFill/>
          </a:ln>
        </p:spPr>
      </p:pic>
      <p:pic>
        <p:nvPicPr>
          <p:cNvPr id="341" name="Google Shape;341;p31" title="{&quot;red&quot;:71,&quot;green&quot;:85,&quot;blue&quot;:105,&quot;origURL&quot;:&quot;https://www.codecogs.com/eqnedit.php?latex=%5Chat%7By%7D_i%20%3D%20f_%5Ctheta(x_i)#0&quot;,&quot;size&quot;:12,&quot;width&quot;:236.2204724409449,&quot;height&quot;:29.078740157480315}"/>
          <p:cNvPicPr preferRelativeResize="0"/>
          <p:nvPr/>
        </p:nvPicPr>
        <p:blipFill>
          <a:blip r:embed="rId9">
            <a:alphaModFix/>
          </a:blip>
          <a:stretch>
            <a:fillRect/>
          </a:stretch>
        </p:blipFill>
        <p:spPr>
          <a:xfrm>
            <a:off x="6629400" y="2775725"/>
            <a:ext cx="1071680" cy="242825"/>
          </a:xfrm>
          <a:prstGeom prst="rect">
            <a:avLst/>
          </a:prstGeom>
          <a:noFill/>
          <a:ln>
            <a:noFill/>
          </a:ln>
        </p:spPr>
      </p:pic>
      <p:pic>
        <p:nvPicPr>
          <p:cNvPr id="342" name="Google Shape;342;p31" title="{&quot;red&quot;:71,&quot;green&quot;:85,&quot;blue&quot;:105,&quot;origURL&quot;:&quot;https://www.codecogs.com/eqnedit.php?latex=%5Chat%7By%7D#0&quot;,&quot;size&quot;:12,&quot;width&quot;:236.2204724409449,&quot;height&quot;:29.078740157480315}"/>
          <p:cNvPicPr preferRelativeResize="0"/>
          <p:nvPr/>
        </p:nvPicPr>
        <p:blipFill>
          <a:blip r:embed="rId10">
            <a:alphaModFix/>
          </a:blip>
          <a:stretch>
            <a:fillRect/>
          </a:stretch>
        </p:blipFill>
        <p:spPr>
          <a:xfrm>
            <a:off x="6902250" y="3508725"/>
            <a:ext cx="77724" cy="153162"/>
          </a:xfrm>
          <a:prstGeom prst="rect">
            <a:avLst/>
          </a:prstGeom>
          <a:noFill/>
          <a:ln>
            <a:noFill/>
          </a:ln>
        </p:spPr>
      </p:pic>
      <p:pic>
        <p:nvPicPr>
          <p:cNvPr id="343" name="Google Shape;343;p31" title="{&quot;red&quot;:71,&quot;green&quot;:85,&quot;blue&quot;:105,&quot;origURL&quot;:&quot;https://www.codecogs.com/eqnedit.php?latex=y#0&quot;,&quot;size&quot;:12,&quot;width&quot;:236.2204724409449,&quot;height&quot;:29.078740157480315}"/>
          <p:cNvPicPr preferRelativeResize="0"/>
          <p:nvPr/>
        </p:nvPicPr>
        <p:blipFill>
          <a:blip r:embed="rId11">
            <a:alphaModFix/>
          </a:blip>
          <a:stretch>
            <a:fillRect/>
          </a:stretch>
        </p:blipFill>
        <p:spPr>
          <a:xfrm>
            <a:off x="7706850" y="3566150"/>
            <a:ext cx="77724" cy="109728"/>
          </a:xfrm>
          <a:prstGeom prst="rect">
            <a:avLst/>
          </a:prstGeom>
          <a:noFill/>
          <a:ln>
            <a:noFill/>
          </a:ln>
        </p:spPr>
      </p:pic>
      <p:sp>
        <p:nvSpPr>
          <p:cNvPr id="344" name="Google Shape;344;p31"/>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345" name="Google Shape;345;p31"/>
          <p:cNvPicPr preferRelativeResize="0"/>
          <p:nvPr/>
        </p:nvPicPr>
        <p:blipFill>
          <a:blip r:embed="rId12">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50" name="Shape 350"/>
        <p:cNvGrpSpPr/>
        <p:nvPr/>
      </p:nvGrpSpPr>
      <p:grpSpPr>
        <a:xfrm>
          <a:off x="0" y="0"/>
          <a:ext cx="0" cy="0"/>
          <a:chOff x="0" y="0"/>
          <a:chExt cx="0" cy="0"/>
        </a:xfrm>
      </p:grpSpPr>
      <p:sp>
        <p:nvSpPr>
          <p:cNvPr id="351" name="Google Shape;351;p32"/>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2"/>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2"/>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Parametric Models examples</a:t>
            </a:r>
            <a:endParaRPr b="0" i="0" sz="2400" u="none" cap="none" strike="noStrike">
              <a:solidFill>
                <a:schemeClr val="dk1"/>
              </a:solidFill>
              <a:latin typeface="Calibri"/>
              <a:ea typeface="Calibri"/>
              <a:cs typeface="Calibri"/>
              <a:sym typeface="Calibri"/>
            </a:endParaRPr>
          </a:p>
        </p:txBody>
      </p:sp>
      <p:sp>
        <p:nvSpPr>
          <p:cNvPr id="354" name="Google Shape;354;p32"/>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355" name="Google Shape;355;p32"/>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356" name="Google Shape;356;p32"/>
          <p:cNvPicPr preferRelativeResize="0"/>
          <p:nvPr/>
        </p:nvPicPr>
        <p:blipFill>
          <a:blip r:embed="rId4">
            <a:alphaModFix/>
          </a:blip>
          <a:stretch>
            <a:fillRect/>
          </a:stretch>
        </p:blipFill>
        <p:spPr>
          <a:xfrm>
            <a:off x="353400" y="1113988"/>
            <a:ext cx="3952952" cy="3155799"/>
          </a:xfrm>
          <a:prstGeom prst="rect">
            <a:avLst/>
          </a:prstGeom>
          <a:noFill/>
          <a:ln>
            <a:noFill/>
          </a:ln>
        </p:spPr>
      </p:pic>
      <p:pic>
        <p:nvPicPr>
          <p:cNvPr id="357" name="Google Shape;357;p32"/>
          <p:cNvPicPr preferRelativeResize="0"/>
          <p:nvPr/>
        </p:nvPicPr>
        <p:blipFill>
          <a:blip r:embed="rId5">
            <a:alphaModFix/>
          </a:blip>
          <a:stretch>
            <a:fillRect/>
          </a:stretch>
        </p:blipFill>
        <p:spPr>
          <a:xfrm>
            <a:off x="5335050" y="1461438"/>
            <a:ext cx="3372800" cy="2692649"/>
          </a:xfrm>
          <a:prstGeom prst="rect">
            <a:avLst/>
          </a:prstGeom>
          <a:noFill/>
          <a:ln>
            <a:noFill/>
          </a:ln>
        </p:spPr>
      </p:pic>
      <p:pic>
        <p:nvPicPr>
          <p:cNvPr id="358" name="Google Shape;358;p32" title="{&quot;red&quot;:0,&quot;green&quot;:0,&quot;blue&quot;:0,&quot;origURL&quot;:&quot;https://www.codecogs.com/eqnedit.php?latex=%5Cmathbb%7BR%7D%20%5Cto%20%5Cmathbb%7BR%7D%2C%20%5Ctext%7B%202%20params%7D#0&quot;,&quot;size&quot;:14,&quot;width&quot;:236.2204724409449,&quot;height&quot;:48.47244094488189}"/>
          <p:cNvPicPr preferRelativeResize="0"/>
          <p:nvPr/>
        </p:nvPicPr>
        <p:blipFill>
          <a:blip r:embed="rId6">
            <a:alphaModFix/>
          </a:blip>
          <a:stretch>
            <a:fillRect/>
          </a:stretch>
        </p:blipFill>
        <p:spPr>
          <a:xfrm>
            <a:off x="1611375" y="4375188"/>
            <a:ext cx="1590589" cy="179231"/>
          </a:xfrm>
          <a:prstGeom prst="rect">
            <a:avLst/>
          </a:prstGeom>
          <a:noFill/>
          <a:ln>
            <a:noFill/>
          </a:ln>
        </p:spPr>
      </p:pic>
      <p:pic>
        <p:nvPicPr>
          <p:cNvPr id="359" name="Google Shape;359;p32" title="{&quot;red&quot;:0,&quot;green&quot;:0,&quot;blue&quot;:0,&quot;origURL&quot;:&quot;https://www.codecogs.com/eqnedit.php?latex=%5Cmathbb%7BR%7D%20%5Cto%20%5Cmathbb%7BR%7D%2C%20%5Ctext%7B%203%20params%7D#0&quot;,&quot;size&quot;:14,&quot;width&quot;:236.2204724409449,&quot;height&quot;:48.47244094488189}"/>
          <p:cNvPicPr preferRelativeResize="0"/>
          <p:nvPr/>
        </p:nvPicPr>
        <p:blipFill>
          <a:blip r:embed="rId7">
            <a:alphaModFix/>
          </a:blip>
          <a:stretch>
            <a:fillRect/>
          </a:stretch>
        </p:blipFill>
        <p:spPr>
          <a:xfrm>
            <a:off x="6226148" y="4334881"/>
            <a:ext cx="1590603" cy="17924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64" name="Shape 364"/>
        <p:cNvGrpSpPr/>
        <p:nvPr/>
      </p:nvGrpSpPr>
      <p:grpSpPr>
        <a:xfrm>
          <a:off x="0" y="0"/>
          <a:ext cx="0" cy="0"/>
          <a:chOff x="0" y="0"/>
          <a:chExt cx="0" cy="0"/>
        </a:xfrm>
      </p:grpSpPr>
      <p:sp>
        <p:nvSpPr>
          <p:cNvPr id="365" name="Google Shape;365;p33"/>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3"/>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3"/>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Parametric Models examples</a:t>
            </a:r>
            <a:endParaRPr b="0" i="0" sz="2400" u="none" cap="none" strike="noStrike">
              <a:solidFill>
                <a:schemeClr val="dk1"/>
              </a:solidFill>
              <a:latin typeface="Calibri"/>
              <a:ea typeface="Calibri"/>
              <a:cs typeface="Calibri"/>
              <a:sym typeface="Calibri"/>
            </a:endParaRPr>
          </a:p>
        </p:txBody>
      </p:sp>
      <p:sp>
        <p:nvSpPr>
          <p:cNvPr id="368" name="Google Shape;368;p33"/>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369" name="Google Shape;369;p33"/>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370" name="Google Shape;370;p33"/>
          <p:cNvPicPr preferRelativeResize="0"/>
          <p:nvPr/>
        </p:nvPicPr>
        <p:blipFill>
          <a:blip r:embed="rId4">
            <a:alphaModFix/>
          </a:blip>
          <a:stretch>
            <a:fillRect/>
          </a:stretch>
        </p:blipFill>
        <p:spPr>
          <a:xfrm>
            <a:off x="184125" y="1022287"/>
            <a:ext cx="4321751" cy="3218101"/>
          </a:xfrm>
          <a:prstGeom prst="rect">
            <a:avLst/>
          </a:prstGeom>
          <a:noFill/>
          <a:ln>
            <a:noFill/>
          </a:ln>
        </p:spPr>
      </p:pic>
      <p:pic>
        <p:nvPicPr>
          <p:cNvPr id="371" name="Google Shape;371;p33"/>
          <p:cNvPicPr preferRelativeResize="0"/>
          <p:nvPr/>
        </p:nvPicPr>
        <p:blipFill>
          <a:blip r:embed="rId5">
            <a:alphaModFix/>
          </a:blip>
          <a:stretch>
            <a:fillRect/>
          </a:stretch>
        </p:blipFill>
        <p:spPr>
          <a:xfrm>
            <a:off x="5581525" y="869887"/>
            <a:ext cx="3248025" cy="3629046"/>
          </a:xfrm>
          <a:prstGeom prst="rect">
            <a:avLst/>
          </a:prstGeom>
          <a:noFill/>
          <a:ln>
            <a:noFill/>
          </a:ln>
        </p:spPr>
      </p:pic>
      <p:pic>
        <p:nvPicPr>
          <p:cNvPr id="372" name="Google Shape;372;p33" title="{&quot;red&quot;:0,&quot;green&quot;:0,&quot;blue&quot;:0,&quot;origURL&quot;:&quot;https://www.codecogs.com/eqnedit.php?latex=%5Ctext%7BLogistic%20%7D%20%5Cmathbb%7BR%7D%20%5Crightarrow%20%5B0%2C%201%5D%2C%20%5Ctext%7B%202%20params%7D#0&quot;,&quot;size&quot;:14,&quot;width&quot;:236.2204724409449,&quot;height&quot;:65.45669291338582}"/>
          <p:cNvPicPr preferRelativeResize="0"/>
          <p:nvPr/>
        </p:nvPicPr>
        <p:blipFill>
          <a:blip r:embed="rId6">
            <a:alphaModFix/>
          </a:blip>
          <a:stretch>
            <a:fillRect/>
          </a:stretch>
        </p:blipFill>
        <p:spPr>
          <a:xfrm>
            <a:off x="812300" y="4392787"/>
            <a:ext cx="2701243" cy="211375"/>
          </a:xfrm>
          <a:prstGeom prst="rect">
            <a:avLst/>
          </a:prstGeom>
          <a:noFill/>
          <a:ln>
            <a:noFill/>
          </a:ln>
        </p:spPr>
      </p:pic>
      <p:pic>
        <p:nvPicPr>
          <p:cNvPr id="373" name="Google Shape;373;p33" title="{&quot;red&quot;:0,&quot;green&quot;:0,&quot;blue&quot;:0,&quot;origURL&quot;:&quot;https://www.codecogs.com/eqnedit.php?latex=%5Ctext%7BQuadratic%20function%20%7D%20%5Cmathbb%7BR%7D%5E2%20%5Crightarrow%20%5Cmathbb%7BR%7D%2C%20%5Ctext%7B%205%20params%7D#0&quot;,&quot;size&quot;:14,&quot;width&quot;:236.2204724409449,&quot;height&quot;:65.45669291338582}"/>
          <p:cNvPicPr preferRelativeResize="0"/>
          <p:nvPr/>
        </p:nvPicPr>
        <p:blipFill>
          <a:blip r:embed="rId7">
            <a:alphaModFix/>
          </a:blip>
          <a:stretch>
            <a:fillRect/>
          </a:stretch>
        </p:blipFill>
        <p:spPr>
          <a:xfrm>
            <a:off x="5727873" y="4604163"/>
            <a:ext cx="2500149" cy="154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78" name="Shape 378"/>
        <p:cNvGrpSpPr/>
        <p:nvPr/>
      </p:nvGrpSpPr>
      <p:grpSpPr>
        <a:xfrm>
          <a:off x="0" y="0"/>
          <a:ext cx="0" cy="0"/>
          <a:chOff x="0" y="0"/>
          <a:chExt cx="0" cy="0"/>
        </a:xfrm>
      </p:grpSpPr>
      <p:sp>
        <p:nvSpPr>
          <p:cNvPr id="379" name="Google Shape;379;p34"/>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4"/>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4"/>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Parametric Models examples</a:t>
            </a:r>
            <a:endParaRPr b="0" i="0" sz="2400" u="none" cap="none" strike="noStrike">
              <a:solidFill>
                <a:schemeClr val="dk1"/>
              </a:solidFill>
              <a:latin typeface="Calibri"/>
              <a:ea typeface="Calibri"/>
              <a:cs typeface="Calibri"/>
              <a:sym typeface="Calibri"/>
            </a:endParaRPr>
          </a:p>
        </p:txBody>
      </p:sp>
      <p:sp>
        <p:nvSpPr>
          <p:cNvPr id="382" name="Google Shape;382;p34"/>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383" name="Google Shape;383;p34"/>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384" name="Google Shape;384;p34"/>
          <p:cNvPicPr preferRelativeResize="0"/>
          <p:nvPr/>
        </p:nvPicPr>
        <p:blipFill>
          <a:blip r:embed="rId4">
            <a:alphaModFix/>
          </a:blip>
          <a:stretch>
            <a:fillRect/>
          </a:stretch>
        </p:blipFill>
        <p:spPr>
          <a:xfrm>
            <a:off x="1498488" y="1137100"/>
            <a:ext cx="5686425" cy="3086100"/>
          </a:xfrm>
          <a:prstGeom prst="rect">
            <a:avLst/>
          </a:prstGeom>
          <a:noFill/>
          <a:ln>
            <a:noFill/>
          </a:ln>
        </p:spPr>
      </p:pic>
      <p:pic>
        <p:nvPicPr>
          <p:cNvPr id="385" name="Google Shape;385;p34" title="{&quot;red&quot;:89,&quot;green&quot;:89,&quot;blue&quot;:89,&quot;origURL&quot;:&quot;https://www.codecogs.com/eqnedit.php?latex=%5Ctext%7BDeep%20learning%20function%7D%20%5Cmathbb%7BR%7D%5E6%20%5Crightarrow%20%5Cmathbb%7BR%7D%2C%2047%20parameters#0&quot;,&quot;size&quot;:18,&quot;width&quot;:612.7795275590552,&quot;height&quot;:58.181102362204726}"/>
          <p:cNvPicPr preferRelativeResize="0"/>
          <p:nvPr/>
        </p:nvPicPr>
        <p:blipFill>
          <a:blip r:embed="rId5">
            <a:alphaModFix/>
          </a:blip>
          <a:stretch>
            <a:fillRect/>
          </a:stretch>
        </p:blipFill>
        <p:spPr>
          <a:xfrm>
            <a:off x="3290225" y="4433825"/>
            <a:ext cx="2384127" cy="1292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90" name="Shape 390"/>
        <p:cNvGrpSpPr/>
        <p:nvPr/>
      </p:nvGrpSpPr>
      <p:grpSpPr>
        <a:xfrm>
          <a:off x="0" y="0"/>
          <a:ext cx="0" cy="0"/>
          <a:chOff x="0" y="0"/>
          <a:chExt cx="0" cy="0"/>
        </a:xfrm>
      </p:grpSpPr>
      <p:sp>
        <p:nvSpPr>
          <p:cNvPr id="391" name="Google Shape;391;p3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Loss Functions characteristics</a:t>
            </a:r>
            <a:endParaRPr b="1" sz="2400">
              <a:solidFill>
                <a:srgbClr val="0F2B46"/>
              </a:solidFill>
              <a:latin typeface="Trebuchet MS"/>
              <a:ea typeface="Trebuchet MS"/>
              <a:cs typeface="Trebuchet MS"/>
              <a:sym typeface="Trebuchet MS"/>
            </a:endParaRPr>
          </a:p>
        </p:txBody>
      </p:sp>
      <p:sp>
        <p:nvSpPr>
          <p:cNvPr id="394" name="Google Shape;394;p35"/>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395" name="Google Shape;395;p35"/>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396" name="Google Shape;396;p35"/>
          <p:cNvSpPr txBox="1"/>
          <p:nvPr/>
        </p:nvSpPr>
        <p:spPr>
          <a:xfrm>
            <a:off x="464950" y="987650"/>
            <a:ext cx="8310300" cy="76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fr" sz="1300">
                <a:solidFill>
                  <a:schemeClr val="dk1"/>
                </a:solidFill>
                <a:latin typeface="Calibri"/>
                <a:ea typeface="Calibri"/>
                <a:cs typeface="Calibri"/>
                <a:sym typeface="Calibri"/>
              </a:rPr>
              <a:t>The Role of Loss Functions</a:t>
            </a:r>
            <a:r>
              <a:rPr lang="fr" sz="1300">
                <a:solidFill>
                  <a:schemeClr val="dk1"/>
                </a:solidFill>
                <a:latin typeface="Calibri"/>
                <a:ea typeface="Calibri"/>
                <a:cs typeface="Calibri"/>
                <a:sym typeface="Calibri"/>
              </a:rPr>
              <a:t> Loss functions quantify the error/distance between real targets    and predictions</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t/>
            </a:r>
            <a:endParaRPr sz="1300">
              <a:solidFill>
                <a:schemeClr val="dk1"/>
              </a:solidFill>
              <a:latin typeface="Calibri"/>
              <a:ea typeface="Calibri"/>
              <a:cs typeface="Calibri"/>
              <a:sym typeface="Calibri"/>
            </a:endParaRPr>
          </a:p>
        </p:txBody>
      </p:sp>
      <p:sp>
        <p:nvSpPr>
          <p:cNvPr id="397" name="Google Shape;397;p35"/>
          <p:cNvSpPr txBox="1"/>
          <p:nvPr/>
        </p:nvSpPr>
        <p:spPr>
          <a:xfrm>
            <a:off x="464950" y="2729325"/>
            <a:ext cx="3400800" cy="384900"/>
          </a:xfrm>
          <a:prstGeom prst="rect">
            <a:avLst/>
          </a:prstGeom>
          <a:noFill/>
          <a:ln>
            <a:noFill/>
          </a:ln>
        </p:spPr>
        <p:txBody>
          <a:bodyPr anchorCtr="0" anchor="t" bIns="91425" lIns="91425" spcFirstLastPara="1" rIns="91425" wrap="square" tIns="91425">
            <a:spAutoFit/>
          </a:bodyPr>
          <a:lstStyle/>
          <a:p>
            <a:pPr indent="0" lvl="0" marL="0" rtl="0" algn="l">
              <a:lnSpc>
                <a:spcPct val="145000"/>
              </a:lnSpc>
              <a:spcBef>
                <a:spcPts val="0"/>
              </a:spcBef>
              <a:spcAft>
                <a:spcPts val="900"/>
              </a:spcAft>
              <a:buClr>
                <a:schemeClr val="dk1"/>
              </a:buClr>
              <a:buSzPts val="1100"/>
              <a:buFont typeface="Arial"/>
              <a:buNone/>
            </a:pPr>
            <a:r>
              <a:rPr lang="fr" sz="1300">
                <a:solidFill>
                  <a:schemeClr val="dk1"/>
                </a:solidFill>
                <a:latin typeface="Calibri"/>
                <a:ea typeface="Calibri"/>
                <a:cs typeface="Calibri"/>
                <a:sym typeface="Calibri"/>
              </a:rPr>
              <a:t>Mean Squared Error</a:t>
            </a:r>
            <a:endParaRPr sz="1300">
              <a:solidFill>
                <a:schemeClr val="dk1"/>
              </a:solidFill>
              <a:latin typeface="Calibri"/>
              <a:ea typeface="Calibri"/>
              <a:cs typeface="Calibri"/>
              <a:sym typeface="Calibri"/>
            </a:endParaRPr>
          </a:p>
        </p:txBody>
      </p:sp>
      <p:sp>
        <p:nvSpPr>
          <p:cNvPr id="398" name="Google Shape;398;p35"/>
          <p:cNvSpPr txBox="1"/>
          <p:nvPr/>
        </p:nvSpPr>
        <p:spPr>
          <a:xfrm>
            <a:off x="464938" y="223080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fr" sz="1300">
                <a:solidFill>
                  <a:schemeClr val="dk1"/>
                </a:solidFill>
                <a:latin typeface="Calibri"/>
                <a:ea typeface="Calibri"/>
                <a:cs typeface="Calibri"/>
                <a:sym typeface="Calibri"/>
              </a:rPr>
              <a:t>Example Loss Functions</a:t>
            </a:r>
            <a:endParaRPr sz="1600">
              <a:latin typeface="Calibri"/>
              <a:ea typeface="Calibri"/>
              <a:cs typeface="Calibri"/>
              <a:sym typeface="Calibri"/>
            </a:endParaRPr>
          </a:p>
        </p:txBody>
      </p:sp>
      <p:pic>
        <p:nvPicPr>
          <p:cNvPr id="399" name="Google Shape;399;p35"/>
          <p:cNvPicPr preferRelativeResize="0"/>
          <p:nvPr/>
        </p:nvPicPr>
        <p:blipFill>
          <a:blip r:embed="rId4">
            <a:alphaModFix/>
          </a:blip>
          <a:stretch>
            <a:fillRect/>
          </a:stretch>
        </p:blipFill>
        <p:spPr>
          <a:xfrm>
            <a:off x="3865751" y="2336048"/>
            <a:ext cx="3747425" cy="2792279"/>
          </a:xfrm>
          <a:prstGeom prst="rect">
            <a:avLst/>
          </a:prstGeom>
          <a:noFill/>
          <a:ln>
            <a:noFill/>
          </a:ln>
        </p:spPr>
      </p:pic>
      <p:pic>
        <p:nvPicPr>
          <p:cNvPr id="400" name="Google Shape;400;p35" title="{&quot;red&quot;:0,&quot;green&quot;:0,&quot;blue&quot;:0,&quot;origURL&quot;:&quot;https://www.codecogs.com/eqnedit.php?latex=%5Chat%7By%7D%20%3D%20f_%7B%5Ctheta%7D(x)#0&quot;,&quot;size&quot;:14,&quot;width&quot;:236.2204724409449,&quot;height&quot;:31.511811023622045}"/>
          <p:cNvPicPr preferRelativeResize="0"/>
          <p:nvPr/>
        </p:nvPicPr>
        <p:blipFill>
          <a:blip r:embed="rId5">
            <a:alphaModFix/>
          </a:blip>
          <a:stretch>
            <a:fillRect/>
          </a:stretch>
        </p:blipFill>
        <p:spPr>
          <a:xfrm>
            <a:off x="7865825" y="1095663"/>
            <a:ext cx="729424" cy="181356"/>
          </a:xfrm>
          <a:prstGeom prst="rect">
            <a:avLst/>
          </a:prstGeom>
          <a:noFill/>
          <a:ln>
            <a:noFill/>
          </a:ln>
        </p:spPr>
      </p:pic>
      <p:pic>
        <p:nvPicPr>
          <p:cNvPr id="401" name="Google Shape;401;p35" title="{&quot;red&quot;:0,&quot;green&quot;:0,&quot;blue&quot;:0,&quot;origURL&quot;:&quot;https://www.codecogs.com/eqnedit.php?latex=(Y%2C%20%5Chat%7BY%7D)%20%5Cmapsto%20l(Y%2C%20%5Chat%7BY%7D)#0&quot;,&quot;size&quot;:14,&quot;width&quot;:236.2204724409449,&quot;height&quot;:48.47244094488189}"/>
          <p:cNvPicPr preferRelativeResize="0"/>
          <p:nvPr/>
        </p:nvPicPr>
        <p:blipFill>
          <a:blip r:embed="rId6">
            <a:alphaModFix/>
          </a:blip>
          <a:stretch>
            <a:fillRect/>
          </a:stretch>
        </p:blipFill>
        <p:spPr>
          <a:xfrm>
            <a:off x="3626217" y="1821117"/>
            <a:ext cx="1538722" cy="262630"/>
          </a:xfrm>
          <a:prstGeom prst="rect">
            <a:avLst/>
          </a:prstGeom>
          <a:noFill/>
          <a:ln>
            <a:noFill/>
          </a:ln>
        </p:spPr>
      </p:pic>
      <p:pic>
        <p:nvPicPr>
          <p:cNvPr id="402" name="Google Shape;402;p35" title="{&quot;red&quot;:0,&quot;green&quot;:0,&quot;blue&quot;:0,&quot;origURL&quot;:&quot;https://www.codecogs.com/eqnedit.php?latex=l%3A%20%5Cmathbb%7BR%7D%5E%7Bk%20%5Ctimes%20n%7D%20%5Ctimes%20%5Cmathbb%7BR%7D%5E%7Bk%20%5Ctimes%20n%7D%20%5Cto%20%5Cmathbb%7BR%7D#0&quot;,&quot;size&quot;:14,&quot;width&quot;:236.2204724409449,&quot;height&quot;:65.45669291338582}"/>
          <p:cNvPicPr preferRelativeResize="0"/>
          <p:nvPr/>
        </p:nvPicPr>
        <p:blipFill>
          <a:blip r:embed="rId7">
            <a:alphaModFix/>
          </a:blip>
          <a:stretch>
            <a:fillRect/>
          </a:stretch>
        </p:blipFill>
        <p:spPr>
          <a:xfrm>
            <a:off x="2470841" y="1489447"/>
            <a:ext cx="2271305" cy="219120"/>
          </a:xfrm>
          <a:prstGeom prst="rect">
            <a:avLst/>
          </a:prstGeom>
          <a:noFill/>
          <a:ln>
            <a:noFill/>
          </a:ln>
        </p:spPr>
      </p:pic>
      <p:pic>
        <p:nvPicPr>
          <p:cNvPr id="403" name="Google Shape;403;p35" title="{&quot;red&quot;:0,&quot;green&quot;:0,&quot;blue&quot;:0,&quot;origURL&quot;:&quot;https://www.codecogs.com/eqnedit.php?latex=%5Cell_%7BMSE%7D(y%2C%20%5Chat%7By%7D)%20%3D%20%5Cfrac%7B1%7D%7Bn%7D%20%5Csum_%7Bi%3D1%7D%5E%7Bn%7D%20(y_i%20-%20%5Chat%7By%7D_i)%5E2#0&quot;,&quot;size&quot;:14,&quot;width&quot;:236.2204724409449,&quot;height&quot;:48.47244094488189}"/>
          <p:cNvPicPr preferRelativeResize="0"/>
          <p:nvPr/>
        </p:nvPicPr>
        <p:blipFill>
          <a:blip r:embed="rId8">
            <a:alphaModFix/>
          </a:blip>
          <a:stretch>
            <a:fillRect/>
          </a:stretch>
        </p:blipFill>
        <p:spPr>
          <a:xfrm>
            <a:off x="732600" y="3274600"/>
            <a:ext cx="2323512" cy="217350"/>
          </a:xfrm>
          <a:prstGeom prst="rect">
            <a:avLst/>
          </a:prstGeom>
          <a:noFill/>
          <a:ln>
            <a:noFill/>
          </a:ln>
        </p:spPr>
      </p:pic>
      <p:pic>
        <p:nvPicPr>
          <p:cNvPr id="404" name="Google Shape;404;p35" title="{&quot;red&quot;:71,&quot;green&quot;:85,&quot;blue&quot;:105,&quot;origURL&quot;:&quot;https://www.codecogs.com/eqnedit.php?latex=y#0&quot;,&quot;size&quot;:12,&quot;width&quot;:236.2204724409449,&quot;height&quot;:29.078740157480315}"/>
          <p:cNvPicPr preferRelativeResize="0"/>
          <p:nvPr/>
        </p:nvPicPr>
        <p:blipFill>
          <a:blip r:embed="rId9">
            <a:alphaModFix/>
          </a:blip>
          <a:stretch>
            <a:fillRect/>
          </a:stretch>
        </p:blipFill>
        <p:spPr>
          <a:xfrm>
            <a:off x="6666850" y="1131475"/>
            <a:ext cx="77724" cy="10972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09" name="Shape 409"/>
        <p:cNvGrpSpPr/>
        <p:nvPr/>
      </p:nvGrpSpPr>
      <p:grpSpPr>
        <a:xfrm>
          <a:off x="0" y="0"/>
          <a:ext cx="0" cy="0"/>
          <a:chOff x="0" y="0"/>
          <a:chExt cx="0" cy="0"/>
        </a:xfrm>
      </p:grpSpPr>
      <p:sp>
        <p:nvSpPr>
          <p:cNvPr id="410" name="Google Shape;410;p3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The Fundamental Learning Problem</a:t>
            </a:r>
            <a:endParaRPr b="1" sz="2400">
              <a:solidFill>
                <a:srgbClr val="0F2B46"/>
              </a:solidFill>
              <a:latin typeface="Trebuchet MS"/>
              <a:ea typeface="Trebuchet MS"/>
              <a:cs typeface="Trebuchet MS"/>
              <a:sym typeface="Trebuchet MS"/>
            </a:endParaRPr>
          </a:p>
        </p:txBody>
      </p:sp>
      <p:sp>
        <p:nvSpPr>
          <p:cNvPr id="413" name="Google Shape;413;p3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414" name="Google Shape;414;p36"/>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415" name="Google Shape;415;p36"/>
          <p:cNvSpPr txBox="1"/>
          <p:nvPr/>
        </p:nvSpPr>
        <p:spPr>
          <a:xfrm>
            <a:off x="548638" y="1058375"/>
            <a:ext cx="8310300" cy="220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fr">
                <a:solidFill>
                  <a:schemeClr val="dk1"/>
                </a:solidFill>
                <a:latin typeface="Calibri"/>
                <a:ea typeface="Calibri"/>
                <a:cs typeface="Calibri"/>
                <a:sym typeface="Calibri"/>
              </a:rPr>
              <a:t>For a given parametric mode machine learning seeks to find the parameters that minimize the loss between real and predicted value :</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20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br>
              <a:rPr lang="fr">
                <a:solidFill>
                  <a:schemeClr val="dk1"/>
                </a:solidFill>
                <a:latin typeface="Calibri"/>
                <a:ea typeface="Calibri"/>
                <a:cs typeface="Calibri"/>
                <a:sym typeface="Calibri"/>
              </a:rPr>
            </a:br>
            <a:endParaRPr b="1">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r>
              <a:t/>
            </a:r>
            <a:endParaRPr>
              <a:solidFill>
                <a:schemeClr val="dk1"/>
              </a:solidFill>
              <a:latin typeface="Calibri"/>
              <a:ea typeface="Calibri"/>
              <a:cs typeface="Calibri"/>
              <a:sym typeface="Calibri"/>
            </a:endParaRPr>
          </a:p>
        </p:txBody>
      </p:sp>
      <p:pic>
        <p:nvPicPr>
          <p:cNvPr id="416" name="Google Shape;416;p36"/>
          <p:cNvPicPr preferRelativeResize="0"/>
          <p:nvPr/>
        </p:nvPicPr>
        <p:blipFill>
          <a:blip r:embed="rId4">
            <a:alphaModFix/>
          </a:blip>
          <a:stretch>
            <a:fillRect/>
          </a:stretch>
        </p:blipFill>
        <p:spPr>
          <a:xfrm>
            <a:off x="2816060" y="1704322"/>
            <a:ext cx="3511890" cy="2616800"/>
          </a:xfrm>
          <a:prstGeom prst="rect">
            <a:avLst/>
          </a:prstGeom>
          <a:noFill/>
          <a:ln>
            <a:noFill/>
          </a:ln>
        </p:spPr>
      </p:pic>
      <p:pic>
        <p:nvPicPr>
          <p:cNvPr id="417" name="Google Shape;417;p36" title="{&quot;red&quot;:0,&quot;green&quot;:0,&quot;blue&quot;:0,&quot;origURL&quot;:&quot;https://www.codecogs.com/eqnedit.php?latex=%5Ctheta%5E*%20%3D%20%5Carg%5Cmin_%7B%5Ctheta%20%5Cin%20%5Cmathbb%7BR%7D%5Ep%7D%20%5Cell(%5Ctheta)%20%3D%20%5Carg%5Cmin_%7B%5Ctheta%20%5Cin%20%5Cmathbb%7BR%7D%5Ep%7D%20l(Y%2C%20f_%5Ctheta(X))#0&quot;,&quot;size&quot;:14,&quot;width&quot;:236.2204724409449,&quot;height&quot;:82.41732283464567}"/>
          <p:cNvPicPr preferRelativeResize="0"/>
          <p:nvPr/>
        </p:nvPicPr>
        <p:blipFill>
          <a:blip r:embed="rId5">
            <a:alphaModFix/>
          </a:blip>
          <a:stretch>
            <a:fillRect/>
          </a:stretch>
        </p:blipFill>
        <p:spPr>
          <a:xfrm>
            <a:off x="1902633" y="4518525"/>
            <a:ext cx="5602319" cy="272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22" name="Shape 422"/>
        <p:cNvGrpSpPr/>
        <p:nvPr/>
      </p:nvGrpSpPr>
      <p:grpSpPr>
        <a:xfrm>
          <a:off x="0" y="0"/>
          <a:ext cx="0" cy="0"/>
          <a:chOff x="0" y="0"/>
          <a:chExt cx="0" cy="0"/>
        </a:xfrm>
      </p:grpSpPr>
      <p:sp>
        <p:nvSpPr>
          <p:cNvPr id="423" name="Google Shape;423;p37"/>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The Learning Process</a:t>
            </a:r>
            <a:endParaRPr b="1" sz="2400">
              <a:solidFill>
                <a:srgbClr val="0F2B46"/>
              </a:solidFill>
              <a:latin typeface="Trebuchet MS"/>
              <a:ea typeface="Trebuchet MS"/>
              <a:cs typeface="Trebuchet MS"/>
              <a:sym typeface="Trebuchet MS"/>
            </a:endParaRPr>
          </a:p>
        </p:txBody>
      </p:sp>
      <p:sp>
        <p:nvSpPr>
          <p:cNvPr id="426" name="Google Shape;426;p37"/>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427" name="Google Shape;427;p37"/>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428" name="Google Shape;428;p37"/>
          <p:cNvSpPr/>
          <p:nvPr/>
        </p:nvSpPr>
        <p:spPr>
          <a:xfrm>
            <a:off x="571500" y="1371600"/>
            <a:ext cx="1417200" cy="1463100"/>
          </a:xfrm>
          <a:prstGeom prst="rect">
            <a:avLst/>
          </a:prstGeom>
          <a:solidFill>
            <a:srgbClr val="D0ECF0"/>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7"/>
          <p:cNvSpPr/>
          <p:nvPr/>
        </p:nvSpPr>
        <p:spPr>
          <a:xfrm>
            <a:off x="1078992" y="1508760"/>
            <a:ext cx="402300" cy="402300"/>
          </a:xfrm>
          <a:prstGeom prst="ellipse">
            <a:avLst/>
          </a:prstGeom>
          <a:solidFill>
            <a:srgbClr val="1A7F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p:nvPr/>
        </p:nvSpPr>
        <p:spPr>
          <a:xfrm>
            <a:off x="1078992" y="1508760"/>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fr"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31" name="Google Shape;431;p37"/>
          <p:cNvSpPr/>
          <p:nvPr/>
        </p:nvSpPr>
        <p:spPr>
          <a:xfrm>
            <a:off x="571500" y="2011680"/>
            <a:ext cx="14172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400"/>
              <a:buFont typeface="Georgia"/>
              <a:buNone/>
            </a:pPr>
            <a:r>
              <a:rPr b="1" i="0" lang="fr" sz="1400" u="none" cap="none" strike="noStrike">
                <a:solidFill>
                  <a:srgbClr val="1B2A4A"/>
                </a:solidFill>
                <a:latin typeface="Georgia"/>
                <a:ea typeface="Georgia"/>
                <a:cs typeface="Georgia"/>
                <a:sym typeface="Georgia"/>
              </a:rPr>
              <a:t>Data</a:t>
            </a:r>
            <a:endParaRPr b="0" i="0" sz="1400" u="none" cap="none" strike="noStrike">
              <a:solidFill>
                <a:schemeClr val="dk1"/>
              </a:solidFill>
              <a:latin typeface="Calibri"/>
              <a:ea typeface="Calibri"/>
              <a:cs typeface="Calibri"/>
              <a:sym typeface="Calibri"/>
            </a:endParaRPr>
          </a:p>
        </p:txBody>
      </p:sp>
      <p:sp>
        <p:nvSpPr>
          <p:cNvPr id="432" name="Google Shape;432;p37"/>
          <p:cNvSpPr/>
          <p:nvPr/>
        </p:nvSpPr>
        <p:spPr>
          <a:xfrm>
            <a:off x="571500" y="2331720"/>
            <a:ext cx="1417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Collect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samples</a:t>
            </a:r>
            <a:endParaRPr b="0" i="0" sz="1100" u="none" cap="none" strike="noStrike">
              <a:solidFill>
                <a:schemeClr val="dk1"/>
              </a:solidFill>
              <a:latin typeface="Calibri"/>
              <a:ea typeface="Calibri"/>
              <a:cs typeface="Calibri"/>
              <a:sym typeface="Calibri"/>
            </a:endParaRPr>
          </a:p>
        </p:txBody>
      </p:sp>
      <p:sp>
        <p:nvSpPr>
          <p:cNvPr id="433" name="Google Shape;433;p37"/>
          <p:cNvSpPr/>
          <p:nvPr/>
        </p:nvSpPr>
        <p:spPr>
          <a:xfrm>
            <a:off x="1988820" y="1920240"/>
            <a:ext cx="228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800"/>
              <a:buFont typeface="Calibri"/>
              <a:buNone/>
            </a:pPr>
            <a:r>
              <a:rPr b="0" i="0" lang="fr" sz="1800" u="none" cap="none" strike="noStrike">
                <a:solidFill>
                  <a:srgbClr val="475569"/>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34" name="Google Shape;434;p37"/>
          <p:cNvSpPr/>
          <p:nvPr/>
        </p:nvSpPr>
        <p:spPr>
          <a:xfrm>
            <a:off x="2217420" y="1371600"/>
            <a:ext cx="1417200" cy="1463100"/>
          </a:xfrm>
          <a:prstGeom prst="rect">
            <a:avLst/>
          </a:prstGeom>
          <a:solidFill>
            <a:srgbClr val="D0ECF0"/>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7"/>
          <p:cNvSpPr/>
          <p:nvPr/>
        </p:nvSpPr>
        <p:spPr>
          <a:xfrm>
            <a:off x="2724912" y="1508760"/>
            <a:ext cx="402300" cy="402300"/>
          </a:xfrm>
          <a:prstGeom prst="ellipse">
            <a:avLst/>
          </a:prstGeom>
          <a:solidFill>
            <a:srgbClr val="1A7F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2724912" y="1508760"/>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fr"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37" name="Google Shape;437;p37"/>
          <p:cNvSpPr/>
          <p:nvPr/>
        </p:nvSpPr>
        <p:spPr>
          <a:xfrm>
            <a:off x="2217420" y="2011680"/>
            <a:ext cx="14172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400"/>
              <a:buFont typeface="Georgia"/>
              <a:buNone/>
            </a:pPr>
            <a:r>
              <a:rPr b="1" i="0" lang="fr" sz="1400" u="none" cap="none" strike="noStrike">
                <a:solidFill>
                  <a:srgbClr val="1B2A4A"/>
                </a:solidFill>
                <a:latin typeface="Georgia"/>
                <a:ea typeface="Georgia"/>
                <a:cs typeface="Georgia"/>
                <a:sym typeface="Georgia"/>
              </a:rPr>
              <a:t>Model</a:t>
            </a:r>
            <a:endParaRPr b="0" i="0" sz="1400" u="none" cap="none" strike="noStrike">
              <a:solidFill>
                <a:schemeClr val="dk1"/>
              </a:solidFill>
              <a:latin typeface="Calibri"/>
              <a:ea typeface="Calibri"/>
              <a:cs typeface="Calibri"/>
              <a:sym typeface="Calibri"/>
            </a:endParaRPr>
          </a:p>
        </p:txBody>
      </p:sp>
      <p:sp>
        <p:nvSpPr>
          <p:cNvPr id="438" name="Google Shape;438;p37"/>
          <p:cNvSpPr/>
          <p:nvPr/>
        </p:nvSpPr>
        <p:spPr>
          <a:xfrm>
            <a:off x="2217420" y="2331720"/>
            <a:ext cx="1417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Choose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family</a:t>
            </a:r>
            <a:endParaRPr b="0" i="0" sz="1100" u="none" cap="none" strike="noStrike">
              <a:solidFill>
                <a:schemeClr val="dk1"/>
              </a:solidFill>
              <a:latin typeface="Calibri"/>
              <a:ea typeface="Calibri"/>
              <a:cs typeface="Calibri"/>
              <a:sym typeface="Calibri"/>
            </a:endParaRPr>
          </a:p>
        </p:txBody>
      </p:sp>
      <p:sp>
        <p:nvSpPr>
          <p:cNvPr id="439" name="Google Shape;439;p37"/>
          <p:cNvSpPr/>
          <p:nvPr/>
        </p:nvSpPr>
        <p:spPr>
          <a:xfrm>
            <a:off x="3634740" y="1920240"/>
            <a:ext cx="228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800"/>
              <a:buFont typeface="Calibri"/>
              <a:buNone/>
            </a:pPr>
            <a:r>
              <a:rPr b="0" i="0" lang="fr" sz="1800" u="none" cap="none" strike="noStrike">
                <a:solidFill>
                  <a:srgbClr val="475569"/>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40" name="Google Shape;440;p37"/>
          <p:cNvSpPr/>
          <p:nvPr/>
        </p:nvSpPr>
        <p:spPr>
          <a:xfrm>
            <a:off x="3863340" y="1371600"/>
            <a:ext cx="1417200" cy="1463100"/>
          </a:xfrm>
          <a:prstGeom prst="rect">
            <a:avLst/>
          </a:prstGeom>
          <a:solidFill>
            <a:srgbClr val="FDEEE8"/>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7"/>
          <p:cNvSpPr/>
          <p:nvPr/>
        </p:nvSpPr>
        <p:spPr>
          <a:xfrm>
            <a:off x="4370832" y="1508760"/>
            <a:ext cx="402300" cy="402300"/>
          </a:xfrm>
          <a:prstGeom prst="ellipse">
            <a:avLst/>
          </a:prstGeom>
          <a:solidFill>
            <a:srgbClr val="E87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7"/>
          <p:cNvSpPr/>
          <p:nvPr/>
        </p:nvSpPr>
        <p:spPr>
          <a:xfrm>
            <a:off x="4370832" y="1508760"/>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fr"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443" name="Google Shape;443;p37"/>
          <p:cNvSpPr/>
          <p:nvPr/>
        </p:nvSpPr>
        <p:spPr>
          <a:xfrm>
            <a:off x="3863340" y="2011680"/>
            <a:ext cx="14172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400"/>
              <a:buFont typeface="Georgia"/>
              <a:buNone/>
            </a:pPr>
            <a:r>
              <a:rPr b="1" i="0" lang="fr" sz="1400" u="none" cap="none" strike="noStrike">
                <a:solidFill>
                  <a:srgbClr val="1B2A4A"/>
                </a:solidFill>
                <a:latin typeface="Georgia"/>
                <a:ea typeface="Georgia"/>
                <a:cs typeface="Georgia"/>
                <a:sym typeface="Georgia"/>
              </a:rPr>
              <a:t>Loss</a:t>
            </a:r>
            <a:endParaRPr b="0" i="0" sz="1400" u="none" cap="none" strike="noStrike">
              <a:solidFill>
                <a:schemeClr val="dk1"/>
              </a:solidFill>
              <a:latin typeface="Calibri"/>
              <a:ea typeface="Calibri"/>
              <a:cs typeface="Calibri"/>
              <a:sym typeface="Calibri"/>
            </a:endParaRPr>
          </a:p>
        </p:txBody>
      </p:sp>
      <p:sp>
        <p:nvSpPr>
          <p:cNvPr id="444" name="Google Shape;444;p37"/>
          <p:cNvSpPr/>
          <p:nvPr/>
        </p:nvSpPr>
        <p:spPr>
          <a:xfrm>
            <a:off x="3863340" y="2331720"/>
            <a:ext cx="1417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Define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error</a:t>
            </a:r>
            <a:endParaRPr b="0" i="0" sz="1100" u="none" cap="none" strike="noStrike">
              <a:solidFill>
                <a:schemeClr val="dk1"/>
              </a:solidFill>
              <a:latin typeface="Calibri"/>
              <a:ea typeface="Calibri"/>
              <a:cs typeface="Calibri"/>
              <a:sym typeface="Calibri"/>
            </a:endParaRPr>
          </a:p>
        </p:txBody>
      </p:sp>
      <p:sp>
        <p:nvSpPr>
          <p:cNvPr id="445" name="Google Shape;445;p37"/>
          <p:cNvSpPr/>
          <p:nvPr/>
        </p:nvSpPr>
        <p:spPr>
          <a:xfrm>
            <a:off x="5280660" y="1920240"/>
            <a:ext cx="228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800"/>
              <a:buFont typeface="Calibri"/>
              <a:buNone/>
            </a:pPr>
            <a:r>
              <a:rPr b="0" i="0" lang="fr" sz="1800" u="none" cap="none" strike="noStrike">
                <a:solidFill>
                  <a:srgbClr val="475569"/>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46" name="Google Shape;446;p37"/>
          <p:cNvSpPr/>
          <p:nvPr/>
        </p:nvSpPr>
        <p:spPr>
          <a:xfrm>
            <a:off x="5509260" y="1371600"/>
            <a:ext cx="1417200" cy="1463100"/>
          </a:xfrm>
          <a:prstGeom prst="rect">
            <a:avLst/>
          </a:prstGeom>
          <a:solidFill>
            <a:srgbClr val="FDEEE8"/>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7"/>
          <p:cNvSpPr/>
          <p:nvPr/>
        </p:nvSpPr>
        <p:spPr>
          <a:xfrm>
            <a:off x="6016752" y="1508760"/>
            <a:ext cx="402300" cy="402300"/>
          </a:xfrm>
          <a:prstGeom prst="ellipse">
            <a:avLst/>
          </a:prstGeom>
          <a:solidFill>
            <a:srgbClr val="E87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7"/>
          <p:cNvSpPr/>
          <p:nvPr/>
        </p:nvSpPr>
        <p:spPr>
          <a:xfrm>
            <a:off x="6016752" y="1508760"/>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fr"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449" name="Google Shape;449;p37"/>
          <p:cNvSpPr/>
          <p:nvPr/>
        </p:nvSpPr>
        <p:spPr>
          <a:xfrm>
            <a:off x="5509260" y="2011680"/>
            <a:ext cx="14172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400"/>
              <a:buFont typeface="Georgia"/>
              <a:buNone/>
            </a:pPr>
            <a:r>
              <a:rPr b="1" i="0" lang="fr" sz="1400" u="none" cap="none" strike="noStrike">
                <a:solidFill>
                  <a:srgbClr val="1B2A4A"/>
                </a:solidFill>
                <a:latin typeface="Georgia"/>
                <a:ea typeface="Georgia"/>
                <a:cs typeface="Georgia"/>
                <a:sym typeface="Georgia"/>
              </a:rPr>
              <a:t>Optimize</a:t>
            </a:r>
            <a:endParaRPr b="0" i="0" sz="1400" u="none" cap="none" strike="noStrike">
              <a:solidFill>
                <a:schemeClr val="dk1"/>
              </a:solidFill>
              <a:latin typeface="Calibri"/>
              <a:ea typeface="Calibri"/>
              <a:cs typeface="Calibri"/>
              <a:sym typeface="Calibri"/>
            </a:endParaRPr>
          </a:p>
        </p:txBody>
      </p:sp>
      <p:sp>
        <p:nvSpPr>
          <p:cNvPr id="450" name="Google Shape;450;p37"/>
          <p:cNvSpPr/>
          <p:nvPr/>
        </p:nvSpPr>
        <p:spPr>
          <a:xfrm>
            <a:off x="5509260" y="2331720"/>
            <a:ext cx="1417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Minimize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475569"/>
              </a:buClr>
              <a:buSzPts val="1100"/>
              <a:buFont typeface="Calibri"/>
              <a:buNone/>
            </a:pPr>
            <a:r>
              <a:rPr b="0" i="0" lang="fr" sz="1100" u="none" cap="none" strike="noStrike">
                <a:solidFill>
                  <a:srgbClr val="475569"/>
                </a:solidFill>
                <a:latin typeface="Calibri"/>
                <a:ea typeface="Calibri"/>
                <a:cs typeface="Calibri"/>
                <a:sym typeface="Calibri"/>
              </a:rPr>
              <a:t>loss</a:t>
            </a:r>
            <a:endParaRPr b="0" i="0" sz="1100" u="none" cap="none" strike="noStrike">
              <a:solidFill>
                <a:schemeClr val="dk1"/>
              </a:solidFill>
              <a:latin typeface="Calibri"/>
              <a:ea typeface="Calibri"/>
              <a:cs typeface="Calibri"/>
              <a:sym typeface="Calibri"/>
            </a:endParaRPr>
          </a:p>
        </p:txBody>
      </p:sp>
      <p:sp>
        <p:nvSpPr>
          <p:cNvPr id="451" name="Google Shape;451;p37"/>
          <p:cNvSpPr/>
          <p:nvPr/>
        </p:nvSpPr>
        <p:spPr>
          <a:xfrm>
            <a:off x="6926580" y="1920240"/>
            <a:ext cx="228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800"/>
              <a:buFont typeface="Calibri"/>
              <a:buNone/>
            </a:pPr>
            <a:r>
              <a:rPr b="0" i="0" lang="fr" sz="1800" u="none" cap="none" strike="noStrike">
                <a:solidFill>
                  <a:srgbClr val="475569"/>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452" name="Google Shape;452;p37"/>
          <p:cNvSpPr/>
          <p:nvPr/>
        </p:nvSpPr>
        <p:spPr>
          <a:xfrm>
            <a:off x="7155180" y="1371600"/>
            <a:ext cx="1417200" cy="1463100"/>
          </a:xfrm>
          <a:prstGeom prst="rect">
            <a:avLst/>
          </a:prstGeom>
          <a:solidFill>
            <a:srgbClr val="1B2A4A"/>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7"/>
          <p:cNvSpPr/>
          <p:nvPr/>
        </p:nvSpPr>
        <p:spPr>
          <a:xfrm>
            <a:off x="7662672" y="1508760"/>
            <a:ext cx="402300" cy="40230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7"/>
          <p:cNvSpPr/>
          <p:nvPr/>
        </p:nvSpPr>
        <p:spPr>
          <a:xfrm>
            <a:off x="7662672" y="1508760"/>
            <a:ext cx="4023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fr"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455" name="Google Shape;455;p37"/>
          <p:cNvSpPr/>
          <p:nvPr/>
        </p:nvSpPr>
        <p:spPr>
          <a:xfrm>
            <a:off x="7155180" y="2331720"/>
            <a:ext cx="14172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0ECF0"/>
              </a:buClr>
              <a:buSzPts val="1100"/>
              <a:buFont typeface="Calibri"/>
              <a:buNone/>
            </a:pPr>
            <a:r>
              <a:rPr b="0" i="0" lang="fr" sz="1100" u="none" cap="none" strike="noStrike">
                <a:solidFill>
                  <a:srgbClr val="D0ECF0"/>
                </a:solidFill>
                <a:latin typeface="Calibri"/>
                <a:ea typeface="Calibri"/>
                <a:cs typeface="Calibri"/>
                <a:sym typeface="Calibri"/>
              </a:rPr>
              <a:t>Learned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D0ECF0"/>
              </a:buClr>
              <a:buSzPts val="1100"/>
              <a:buFont typeface="Calibri"/>
              <a:buNone/>
            </a:pPr>
            <a:r>
              <a:rPr b="0" i="0" lang="fr" sz="1100" u="none" cap="none" strike="noStrike">
                <a:solidFill>
                  <a:srgbClr val="D0ECF0"/>
                </a:solidFill>
                <a:latin typeface="Calibri"/>
                <a:ea typeface="Calibri"/>
                <a:cs typeface="Calibri"/>
                <a:sym typeface="Calibri"/>
              </a:rPr>
              <a:t>params</a:t>
            </a:r>
            <a:endParaRPr b="0" i="0" sz="1100" u="none" cap="none" strike="noStrike">
              <a:solidFill>
                <a:schemeClr val="dk1"/>
              </a:solidFill>
              <a:latin typeface="Calibri"/>
              <a:ea typeface="Calibri"/>
              <a:cs typeface="Calibri"/>
              <a:sym typeface="Calibri"/>
            </a:endParaRPr>
          </a:p>
        </p:txBody>
      </p:sp>
      <p:sp>
        <p:nvSpPr>
          <p:cNvPr id="456" name="Google Shape;456;p37"/>
          <p:cNvSpPr/>
          <p:nvPr/>
        </p:nvSpPr>
        <p:spPr>
          <a:xfrm>
            <a:off x="548640" y="3291840"/>
            <a:ext cx="8046600" cy="13716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7"/>
          <p:cNvSpPr/>
          <p:nvPr/>
        </p:nvSpPr>
        <p:spPr>
          <a:xfrm>
            <a:off x="548640" y="3291840"/>
            <a:ext cx="73200" cy="1371600"/>
          </a:xfrm>
          <a:prstGeom prst="rect">
            <a:avLst/>
          </a:prstGeom>
          <a:solidFill>
            <a:srgbClr val="1A7F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7"/>
          <p:cNvSpPr/>
          <p:nvPr/>
        </p:nvSpPr>
        <p:spPr>
          <a:xfrm>
            <a:off x="822960" y="3429000"/>
            <a:ext cx="75894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F8E"/>
              </a:buClr>
              <a:buSzPts val="1600"/>
              <a:buFont typeface="Calibri"/>
              <a:buNone/>
            </a:pPr>
            <a:r>
              <a:rPr b="1" i="0" lang="fr" sz="1600" u="none" cap="none" strike="noStrike">
                <a:solidFill>
                  <a:srgbClr val="1A7F8E"/>
                </a:solidFill>
                <a:latin typeface="Calibri"/>
                <a:ea typeface="Calibri"/>
                <a:cs typeface="Calibri"/>
                <a:sym typeface="Calibri"/>
              </a:rPr>
              <a:t>Key Insight</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75569"/>
              </a:buClr>
              <a:buSzPts val="1300"/>
              <a:buFont typeface="Calibri"/>
              <a:buNone/>
            </a:pPr>
            <a:r>
              <a:rPr b="0" i="0" lang="fr" sz="1300" u="none" cap="none" strike="noStrike">
                <a:solidFill>
                  <a:srgbClr val="475569"/>
                </a:solidFill>
                <a:latin typeface="Calibri"/>
                <a:ea typeface="Calibri"/>
                <a:cs typeface="Calibri"/>
                <a:sym typeface="Calibri"/>
              </a:rPr>
              <a:t>Every supervised ML algorithm follows this template — whether linear regression or a deep neural network. The differences lie in the model family (step 2) and the optimization strategy (step 4).</a:t>
            </a:r>
            <a:endParaRPr b="0" i="0" sz="1600" u="none" cap="none" strike="noStrike">
              <a:solidFill>
                <a:schemeClr val="dk1"/>
              </a:solidFill>
              <a:latin typeface="Calibri"/>
              <a:ea typeface="Calibri"/>
              <a:cs typeface="Calibri"/>
              <a:sym typeface="Calibri"/>
            </a:endParaRPr>
          </a:p>
        </p:txBody>
      </p:sp>
      <p:pic>
        <p:nvPicPr>
          <p:cNvPr id="459" name="Google Shape;459;p37" title="{&quot;red&quot;:89,&quot;green&quot;:89,&quot;blue&quot;:89,&quot;origURL&quot;:&quot;https://www.codecogs.com/eqnedit.php?latex=%5Ctheta%5E*#0&quot;,&quot;size&quot;:18,&quot;width&quot;:334.98425196850394,&quot;height&quot;:36.354330708661415}"/>
          <p:cNvPicPr preferRelativeResize="0"/>
          <p:nvPr/>
        </p:nvPicPr>
        <p:blipFill>
          <a:blip r:embed="rId4">
            <a:alphaModFix/>
          </a:blip>
          <a:stretch>
            <a:fillRect/>
          </a:stretch>
        </p:blipFill>
        <p:spPr>
          <a:xfrm>
            <a:off x="7699850" y="1919086"/>
            <a:ext cx="382686" cy="365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64" name="Shape 464"/>
        <p:cNvGrpSpPr/>
        <p:nvPr/>
      </p:nvGrpSpPr>
      <p:grpSpPr>
        <a:xfrm>
          <a:off x="0" y="0"/>
          <a:ext cx="0" cy="0"/>
          <a:chOff x="0" y="0"/>
          <a:chExt cx="0" cy="0"/>
        </a:xfrm>
      </p:grpSpPr>
      <p:sp>
        <p:nvSpPr>
          <p:cNvPr id="465" name="Google Shape;465;p38"/>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8"/>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8"/>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Same Objective, Different Ways to Learn</a:t>
            </a:r>
            <a:endParaRPr b="0" i="0" sz="2400" u="none" cap="none" strike="noStrike">
              <a:solidFill>
                <a:schemeClr val="dk1"/>
              </a:solidFill>
              <a:latin typeface="Calibri"/>
              <a:ea typeface="Calibri"/>
              <a:cs typeface="Calibri"/>
              <a:sym typeface="Calibri"/>
            </a:endParaRPr>
          </a:p>
        </p:txBody>
      </p:sp>
      <p:sp>
        <p:nvSpPr>
          <p:cNvPr id="468" name="Google Shape;468;p38"/>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469" name="Google Shape;469;p38"/>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470" name="Google Shape;470;p38"/>
          <p:cNvSpPr/>
          <p:nvPr/>
        </p:nvSpPr>
        <p:spPr>
          <a:xfrm>
            <a:off x="2743200" y="1097280"/>
            <a:ext cx="3657600" cy="54870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8"/>
          <p:cNvSpPr/>
          <p:nvPr/>
        </p:nvSpPr>
        <p:spPr>
          <a:xfrm>
            <a:off x="2743200" y="1097280"/>
            <a:ext cx="36576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fr" sz="1300" u="none" cap="none" strike="noStrike">
                <a:solidFill>
                  <a:srgbClr val="FFFFFF"/>
                </a:solidFill>
                <a:latin typeface="Calibri"/>
                <a:ea typeface="Calibri"/>
                <a:cs typeface="Calibri"/>
                <a:sym typeface="Calibri"/>
              </a:rPr>
              <a:t>OBJECTIVE:  Make good predictions</a:t>
            </a:r>
            <a:endParaRPr b="0" i="0" sz="1300" u="none" cap="none" strike="noStrike">
              <a:solidFill>
                <a:srgbClr val="000000"/>
              </a:solidFill>
              <a:latin typeface="Calibri"/>
              <a:ea typeface="Calibri"/>
              <a:cs typeface="Calibri"/>
              <a:sym typeface="Calibri"/>
            </a:endParaRPr>
          </a:p>
        </p:txBody>
      </p:sp>
      <p:sp>
        <p:nvSpPr>
          <p:cNvPr id="472" name="Google Shape;472;p38"/>
          <p:cNvSpPr/>
          <p:nvPr/>
        </p:nvSpPr>
        <p:spPr>
          <a:xfrm>
            <a:off x="2125980" y="1737360"/>
            <a:ext cx="1508700" cy="12345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8"/>
          <p:cNvSpPr/>
          <p:nvPr/>
        </p:nvSpPr>
        <p:spPr>
          <a:xfrm>
            <a:off x="2125980" y="1737360"/>
            <a:ext cx="1508700" cy="45600"/>
          </a:xfrm>
          <a:prstGeom prst="rect">
            <a:avLst/>
          </a:prstGeom>
          <a:solidFill>
            <a:srgbClr val="1A7F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8"/>
          <p:cNvSpPr/>
          <p:nvPr/>
        </p:nvSpPr>
        <p:spPr>
          <a:xfrm>
            <a:off x="2217420" y="1874520"/>
            <a:ext cx="132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Georgia"/>
              <a:buNone/>
            </a:pPr>
            <a:r>
              <a:rPr b="1" i="0" lang="fr" sz="1100" u="none" cap="none" strike="noStrike">
                <a:solidFill>
                  <a:srgbClr val="1B2A4A"/>
                </a:solidFill>
                <a:latin typeface="Georgia"/>
                <a:ea typeface="Georgia"/>
                <a:cs typeface="Georgia"/>
                <a:sym typeface="Georgia"/>
              </a:rPr>
              <a:t>Analytical Solution</a:t>
            </a:r>
            <a:endParaRPr b="0" i="0" sz="1100" u="none" cap="none" strike="noStrike">
              <a:solidFill>
                <a:srgbClr val="000000"/>
              </a:solidFill>
              <a:latin typeface="Calibri"/>
              <a:ea typeface="Calibri"/>
              <a:cs typeface="Calibri"/>
              <a:sym typeface="Calibri"/>
            </a:endParaRPr>
          </a:p>
        </p:txBody>
      </p:sp>
      <p:sp>
        <p:nvSpPr>
          <p:cNvPr id="475" name="Google Shape;475;p38"/>
          <p:cNvSpPr/>
          <p:nvPr/>
        </p:nvSpPr>
        <p:spPr>
          <a:xfrm>
            <a:off x="2217420" y="2194560"/>
            <a:ext cx="1326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Solve equations directly</a:t>
            </a:r>
            <a:endParaRPr b="0" i="0" sz="10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(Normal equation)</a:t>
            </a:r>
            <a:endParaRPr b="0" i="0" sz="1000" u="none" cap="none" strike="noStrike">
              <a:solidFill>
                <a:srgbClr val="000000"/>
              </a:solidFill>
              <a:latin typeface="Calibri"/>
              <a:ea typeface="Calibri"/>
              <a:cs typeface="Calibri"/>
              <a:sym typeface="Calibri"/>
            </a:endParaRPr>
          </a:p>
        </p:txBody>
      </p:sp>
      <p:sp>
        <p:nvSpPr>
          <p:cNvPr id="476" name="Google Shape;476;p38"/>
          <p:cNvSpPr/>
          <p:nvPr/>
        </p:nvSpPr>
        <p:spPr>
          <a:xfrm>
            <a:off x="2217420" y="2651760"/>
            <a:ext cx="132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F8E"/>
              </a:buClr>
              <a:buSzPts val="900"/>
              <a:buFont typeface="Calibri"/>
              <a:buNone/>
            </a:pPr>
            <a:r>
              <a:rPr b="0" i="1" lang="fr" sz="900" u="none" cap="none" strike="noStrike">
                <a:solidFill>
                  <a:srgbClr val="1A7F8E"/>
                </a:solidFill>
                <a:latin typeface="Calibri"/>
                <a:ea typeface="Calibri"/>
                <a:cs typeface="Calibri"/>
                <a:sym typeface="Calibri"/>
              </a:rPr>
              <a:t>Course 1</a:t>
            </a:r>
            <a:endParaRPr b="0" i="0" sz="900" u="none" cap="none" strike="noStrike">
              <a:solidFill>
                <a:srgbClr val="000000"/>
              </a:solidFill>
              <a:latin typeface="Calibri"/>
              <a:ea typeface="Calibri"/>
              <a:cs typeface="Calibri"/>
              <a:sym typeface="Calibri"/>
            </a:endParaRPr>
          </a:p>
        </p:txBody>
      </p:sp>
      <p:sp>
        <p:nvSpPr>
          <p:cNvPr id="477" name="Google Shape;477;p38"/>
          <p:cNvSpPr/>
          <p:nvPr/>
        </p:nvSpPr>
        <p:spPr>
          <a:xfrm>
            <a:off x="3817620" y="1737360"/>
            <a:ext cx="1508700" cy="12345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8"/>
          <p:cNvSpPr/>
          <p:nvPr/>
        </p:nvSpPr>
        <p:spPr>
          <a:xfrm>
            <a:off x="3817620" y="1737360"/>
            <a:ext cx="1508700" cy="45600"/>
          </a:xfrm>
          <a:prstGeom prst="rect">
            <a:avLst/>
          </a:prstGeom>
          <a:solidFill>
            <a:srgbClr val="1A7F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8"/>
          <p:cNvSpPr/>
          <p:nvPr/>
        </p:nvSpPr>
        <p:spPr>
          <a:xfrm>
            <a:off x="3909060" y="1874520"/>
            <a:ext cx="132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Georgia"/>
              <a:buNone/>
            </a:pPr>
            <a:r>
              <a:rPr b="1" i="0" lang="fr" sz="1100" u="none" cap="none" strike="noStrike">
                <a:solidFill>
                  <a:srgbClr val="1B2A4A"/>
                </a:solidFill>
                <a:latin typeface="Georgia"/>
                <a:ea typeface="Georgia"/>
                <a:cs typeface="Georgia"/>
                <a:sym typeface="Georgia"/>
              </a:rPr>
              <a:t>Gradient Descent</a:t>
            </a:r>
            <a:endParaRPr b="0" i="0" sz="1100" u="none" cap="none" strike="noStrike">
              <a:solidFill>
                <a:srgbClr val="000000"/>
              </a:solidFill>
              <a:latin typeface="Calibri"/>
              <a:ea typeface="Calibri"/>
              <a:cs typeface="Calibri"/>
              <a:sym typeface="Calibri"/>
            </a:endParaRPr>
          </a:p>
        </p:txBody>
      </p:sp>
      <p:sp>
        <p:nvSpPr>
          <p:cNvPr id="480" name="Google Shape;480;p38"/>
          <p:cNvSpPr/>
          <p:nvPr/>
        </p:nvSpPr>
        <p:spPr>
          <a:xfrm>
            <a:off x="3909060" y="2194560"/>
            <a:ext cx="1326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Iterative optimization</a:t>
            </a:r>
            <a:endParaRPr b="0" i="0" sz="10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Follow the steepest slope</a:t>
            </a:r>
            <a:endParaRPr b="0" i="0" sz="1000" u="none" cap="none" strike="noStrike">
              <a:solidFill>
                <a:srgbClr val="000000"/>
              </a:solidFill>
              <a:latin typeface="Calibri"/>
              <a:ea typeface="Calibri"/>
              <a:cs typeface="Calibri"/>
              <a:sym typeface="Calibri"/>
            </a:endParaRPr>
          </a:p>
        </p:txBody>
      </p:sp>
      <p:sp>
        <p:nvSpPr>
          <p:cNvPr id="481" name="Google Shape;481;p38"/>
          <p:cNvSpPr/>
          <p:nvPr/>
        </p:nvSpPr>
        <p:spPr>
          <a:xfrm>
            <a:off x="3909060" y="2651760"/>
            <a:ext cx="132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F8E"/>
              </a:buClr>
              <a:buSzPts val="900"/>
              <a:buFont typeface="Calibri"/>
              <a:buNone/>
            </a:pPr>
            <a:r>
              <a:rPr b="0" i="1" lang="fr" sz="900" u="none" cap="none" strike="noStrike">
                <a:solidFill>
                  <a:srgbClr val="1A7F8E"/>
                </a:solidFill>
                <a:latin typeface="Calibri"/>
                <a:ea typeface="Calibri"/>
                <a:cs typeface="Calibri"/>
                <a:sym typeface="Calibri"/>
              </a:rPr>
              <a:t>Course 1</a:t>
            </a:r>
            <a:endParaRPr b="0" i="0" sz="900" u="none" cap="none" strike="noStrike">
              <a:solidFill>
                <a:srgbClr val="000000"/>
              </a:solidFill>
              <a:latin typeface="Calibri"/>
              <a:ea typeface="Calibri"/>
              <a:cs typeface="Calibri"/>
              <a:sym typeface="Calibri"/>
            </a:endParaRPr>
          </a:p>
        </p:txBody>
      </p:sp>
      <p:sp>
        <p:nvSpPr>
          <p:cNvPr id="482" name="Google Shape;482;p38"/>
          <p:cNvSpPr/>
          <p:nvPr/>
        </p:nvSpPr>
        <p:spPr>
          <a:xfrm>
            <a:off x="5509260" y="1737360"/>
            <a:ext cx="1508700" cy="12345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8"/>
          <p:cNvSpPr/>
          <p:nvPr/>
        </p:nvSpPr>
        <p:spPr>
          <a:xfrm>
            <a:off x="5509260" y="1737360"/>
            <a:ext cx="1508700" cy="45600"/>
          </a:xfrm>
          <a:prstGeom prst="rect">
            <a:avLst/>
          </a:prstGeom>
          <a:solidFill>
            <a:srgbClr val="0D4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8"/>
          <p:cNvSpPr/>
          <p:nvPr/>
        </p:nvSpPr>
        <p:spPr>
          <a:xfrm>
            <a:off x="5600700" y="1874520"/>
            <a:ext cx="132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Georgia"/>
              <a:buNone/>
            </a:pPr>
            <a:r>
              <a:rPr b="1" i="0" lang="fr" sz="1100" u="none" cap="none" strike="noStrike">
                <a:solidFill>
                  <a:srgbClr val="1B2A4A"/>
                </a:solidFill>
                <a:latin typeface="Georgia"/>
                <a:ea typeface="Georgia"/>
                <a:cs typeface="Georgia"/>
                <a:sym typeface="Georgia"/>
              </a:rPr>
              <a:t>Memory-Based</a:t>
            </a:r>
            <a:endParaRPr b="0" i="0" sz="1100" u="none" cap="none" strike="noStrike">
              <a:solidFill>
                <a:srgbClr val="000000"/>
              </a:solidFill>
              <a:latin typeface="Calibri"/>
              <a:ea typeface="Calibri"/>
              <a:cs typeface="Calibri"/>
              <a:sym typeface="Calibri"/>
            </a:endParaRPr>
          </a:p>
        </p:txBody>
      </p:sp>
      <p:sp>
        <p:nvSpPr>
          <p:cNvPr id="485" name="Google Shape;485;p38"/>
          <p:cNvSpPr/>
          <p:nvPr/>
        </p:nvSpPr>
        <p:spPr>
          <a:xfrm>
            <a:off x="5600700" y="2194560"/>
            <a:ext cx="1326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t/>
            </a:r>
            <a:endParaRPr b="0" i="0" sz="10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KNN — just memorize</a:t>
            </a:r>
            <a:endParaRPr b="0" i="0" sz="1000" u="none" cap="none" strike="noStrike">
              <a:solidFill>
                <a:srgbClr val="000000"/>
              </a:solidFill>
              <a:latin typeface="Calibri"/>
              <a:ea typeface="Calibri"/>
              <a:cs typeface="Calibri"/>
              <a:sym typeface="Calibri"/>
            </a:endParaRPr>
          </a:p>
        </p:txBody>
      </p:sp>
      <p:sp>
        <p:nvSpPr>
          <p:cNvPr id="486" name="Google Shape;486;p38"/>
          <p:cNvSpPr/>
          <p:nvPr/>
        </p:nvSpPr>
        <p:spPr>
          <a:xfrm>
            <a:off x="5600700" y="2651760"/>
            <a:ext cx="132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4F8B"/>
              </a:buClr>
              <a:buSzPts val="900"/>
              <a:buFont typeface="Calibri"/>
              <a:buNone/>
            </a:pPr>
            <a:r>
              <a:rPr b="0" i="1" lang="fr" sz="900" u="none" cap="none" strike="noStrike">
                <a:solidFill>
                  <a:srgbClr val="0D4F8B"/>
                </a:solidFill>
                <a:latin typeface="Calibri"/>
                <a:ea typeface="Calibri"/>
                <a:cs typeface="Calibri"/>
                <a:sym typeface="Calibri"/>
              </a:rPr>
              <a:t>Course 2</a:t>
            </a:r>
            <a:endParaRPr b="0" i="0" sz="900" u="none" cap="none" strike="noStrike">
              <a:solidFill>
                <a:srgbClr val="000000"/>
              </a:solidFill>
              <a:latin typeface="Calibri"/>
              <a:ea typeface="Calibri"/>
              <a:cs typeface="Calibri"/>
              <a:sym typeface="Calibri"/>
            </a:endParaRPr>
          </a:p>
        </p:txBody>
      </p:sp>
      <p:sp>
        <p:nvSpPr>
          <p:cNvPr id="487" name="Google Shape;487;p38"/>
          <p:cNvSpPr/>
          <p:nvPr/>
        </p:nvSpPr>
        <p:spPr>
          <a:xfrm>
            <a:off x="2971800" y="3200400"/>
            <a:ext cx="1508700" cy="12345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8"/>
          <p:cNvSpPr/>
          <p:nvPr/>
        </p:nvSpPr>
        <p:spPr>
          <a:xfrm>
            <a:off x="2971800" y="3200400"/>
            <a:ext cx="1508700" cy="45600"/>
          </a:xfrm>
          <a:prstGeom prst="rect">
            <a:avLst/>
          </a:prstGeom>
          <a:solidFill>
            <a:srgbClr val="0D4F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8"/>
          <p:cNvSpPr/>
          <p:nvPr/>
        </p:nvSpPr>
        <p:spPr>
          <a:xfrm>
            <a:off x="3063240" y="3337560"/>
            <a:ext cx="132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Georgia"/>
              <a:buNone/>
            </a:pPr>
            <a:r>
              <a:rPr b="1" i="0" lang="fr" sz="1100" u="none" cap="none" strike="noStrike">
                <a:solidFill>
                  <a:srgbClr val="1B2A4A"/>
                </a:solidFill>
                <a:latin typeface="Georgia"/>
                <a:ea typeface="Georgia"/>
                <a:cs typeface="Georgia"/>
                <a:sym typeface="Georgia"/>
              </a:rPr>
              <a:t>Margin-Based</a:t>
            </a:r>
            <a:endParaRPr b="0" i="0" sz="1100" u="none" cap="none" strike="noStrike">
              <a:solidFill>
                <a:srgbClr val="000000"/>
              </a:solidFill>
              <a:latin typeface="Calibri"/>
              <a:ea typeface="Calibri"/>
              <a:cs typeface="Calibri"/>
              <a:sym typeface="Calibri"/>
            </a:endParaRPr>
          </a:p>
        </p:txBody>
      </p:sp>
      <p:sp>
        <p:nvSpPr>
          <p:cNvPr id="490" name="Google Shape;490;p38"/>
          <p:cNvSpPr/>
          <p:nvPr/>
        </p:nvSpPr>
        <p:spPr>
          <a:xfrm>
            <a:off x="3063240" y="3657600"/>
            <a:ext cx="1326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Maximize decision margin</a:t>
            </a:r>
            <a:endParaRPr b="0" i="0" sz="10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(SVM)</a:t>
            </a:r>
            <a:endParaRPr b="0" i="0" sz="1000" u="none" cap="none" strike="noStrike">
              <a:solidFill>
                <a:srgbClr val="000000"/>
              </a:solidFill>
              <a:latin typeface="Calibri"/>
              <a:ea typeface="Calibri"/>
              <a:cs typeface="Calibri"/>
              <a:sym typeface="Calibri"/>
            </a:endParaRPr>
          </a:p>
        </p:txBody>
      </p:sp>
      <p:sp>
        <p:nvSpPr>
          <p:cNvPr id="491" name="Google Shape;491;p38"/>
          <p:cNvSpPr/>
          <p:nvPr/>
        </p:nvSpPr>
        <p:spPr>
          <a:xfrm>
            <a:off x="3063240" y="4114800"/>
            <a:ext cx="132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4F8B"/>
              </a:buClr>
              <a:buSzPts val="900"/>
              <a:buFont typeface="Calibri"/>
              <a:buNone/>
            </a:pPr>
            <a:r>
              <a:rPr b="0" i="1" lang="fr" sz="900" u="none" cap="none" strike="noStrike">
                <a:solidFill>
                  <a:srgbClr val="0D4F8B"/>
                </a:solidFill>
                <a:latin typeface="Calibri"/>
                <a:ea typeface="Calibri"/>
                <a:cs typeface="Calibri"/>
                <a:sym typeface="Calibri"/>
              </a:rPr>
              <a:t>Course 2</a:t>
            </a:r>
            <a:endParaRPr b="0" i="0" sz="900" u="none" cap="none" strike="noStrike">
              <a:solidFill>
                <a:srgbClr val="000000"/>
              </a:solidFill>
              <a:latin typeface="Calibri"/>
              <a:ea typeface="Calibri"/>
              <a:cs typeface="Calibri"/>
              <a:sym typeface="Calibri"/>
            </a:endParaRPr>
          </a:p>
        </p:txBody>
      </p:sp>
      <p:sp>
        <p:nvSpPr>
          <p:cNvPr id="492" name="Google Shape;492;p38"/>
          <p:cNvSpPr/>
          <p:nvPr/>
        </p:nvSpPr>
        <p:spPr>
          <a:xfrm>
            <a:off x="4663440" y="3200400"/>
            <a:ext cx="1508700" cy="1234500"/>
          </a:xfrm>
          <a:prstGeom prst="rect">
            <a:avLst/>
          </a:prstGeom>
          <a:solidFill>
            <a:srgbClr val="FFFFFF"/>
          </a:solidFill>
          <a:ln>
            <a:noFill/>
          </a:ln>
          <a:effectLst>
            <a:outerShdw blurRad="508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8"/>
          <p:cNvSpPr/>
          <p:nvPr/>
        </p:nvSpPr>
        <p:spPr>
          <a:xfrm>
            <a:off x="4663440" y="3200400"/>
            <a:ext cx="1508700" cy="45600"/>
          </a:xfrm>
          <a:prstGeom prst="rect">
            <a:avLst/>
          </a:prstGeom>
          <a:solidFill>
            <a:srgbClr val="E87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8"/>
          <p:cNvSpPr/>
          <p:nvPr/>
        </p:nvSpPr>
        <p:spPr>
          <a:xfrm>
            <a:off x="4754880" y="3337560"/>
            <a:ext cx="132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00"/>
              <a:buFont typeface="Georgia"/>
              <a:buNone/>
            </a:pPr>
            <a:r>
              <a:rPr b="1" i="0" lang="fr" sz="1100" u="none" cap="none" strike="noStrike">
                <a:solidFill>
                  <a:srgbClr val="1B2A4A"/>
                </a:solidFill>
                <a:latin typeface="Georgia"/>
                <a:ea typeface="Georgia"/>
                <a:cs typeface="Georgia"/>
                <a:sym typeface="Georgia"/>
              </a:rPr>
              <a:t>Sequential Correction</a:t>
            </a:r>
            <a:endParaRPr b="0" i="0" sz="1100" u="none" cap="none" strike="noStrike">
              <a:solidFill>
                <a:srgbClr val="000000"/>
              </a:solidFill>
              <a:latin typeface="Calibri"/>
              <a:ea typeface="Calibri"/>
              <a:cs typeface="Calibri"/>
              <a:sym typeface="Calibri"/>
            </a:endParaRPr>
          </a:p>
        </p:txBody>
      </p:sp>
      <p:sp>
        <p:nvSpPr>
          <p:cNvPr id="495" name="Google Shape;495;p38"/>
          <p:cNvSpPr/>
          <p:nvPr/>
        </p:nvSpPr>
        <p:spPr>
          <a:xfrm>
            <a:off x="4754880" y="3657600"/>
            <a:ext cx="1326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Build models that fix</a:t>
            </a:r>
            <a:endParaRPr b="0" i="0" sz="10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475569"/>
              </a:buClr>
              <a:buSzPts val="1000"/>
              <a:buFont typeface="Calibri"/>
              <a:buNone/>
            </a:pPr>
            <a:r>
              <a:rPr b="0" i="0" lang="fr" sz="1000" u="none" cap="none" strike="noStrike">
                <a:solidFill>
                  <a:srgbClr val="475569"/>
                </a:solidFill>
                <a:latin typeface="Calibri"/>
                <a:ea typeface="Calibri"/>
                <a:cs typeface="Calibri"/>
                <a:sym typeface="Calibri"/>
              </a:rPr>
              <a:t>each other's mistakes (Boosting)</a:t>
            </a:r>
            <a:endParaRPr b="0" i="0" sz="1000" u="none" cap="none" strike="noStrike">
              <a:solidFill>
                <a:srgbClr val="000000"/>
              </a:solidFill>
              <a:latin typeface="Calibri"/>
              <a:ea typeface="Calibri"/>
              <a:cs typeface="Calibri"/>
              <a:sym typeface="Calibri"/>
            </a:endParaRPr>
          </a:p>
        </p:txBody>
      </p:sp>
      <p:sp>
        <p:nvSpPr>
          <p:cNvPr id="496" name="Google Shape;496;p38"/>
          <p:cNvSpPr/>
          <p:nvPr/>
        </p:nvSpPr>
        <p:spPr>
          <a:xfrm>
            <a:off x="4754880" y="4114800"/>
            <a:ext cx="132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34A"/>
              </a:buClr>
              <a:buSzPts val="900"/>
              <a:buFont typeface="Calibri"/>
              <a:buNone/>
            </a:pPr>
            <a:r>
              <a:rPr b="0" i="1" lang="fr" sz="900" u="none" cap="none" strike="noStrike">
                <a:solidFill>
                  <a:srgbClr val="E8734A"/>
                </a:solidFill>
                <a:latin typeface="Calibri"/>
                <a:ea typeface="Calibri"/>
                <a:cs typeface="Calibri"/>
                <a:sym typeface="Calibri"/>
              </a:rPr>
              <a:t>Course 3</a:t>
            </a:r>
            <a:endParaRPr b="0" i="0" sz="900" u="none" cap="none" strike="noStrike">
              <a:solidFill>
                <a:srgbClr val="000000"/>
              </a:solidFill>
              <a:latin typeface="Calibri"/>
              <a:ea typeface="Calibri"/>
              <a:cs typeface="Calibri"/>
              <a:sym typeface="Calibri"/>
            </a:endParaRPr>
          </a:p>
        </p:txBody>
      </p:sp>
      <p:pic>
        <p:nvPicPr>
          <p:cNvPr id="497" name="Google Shape;497;p38" title="{&quot;red&quot;:0,&quot;green&quot;:0,&quot;blue&quot;:0,&quot;origURL&quot;:&quot;https://www.codecogs.com/eqnedit.php?latex=%5Carg%5Cmin_%7Bf%20%5Cin%20%5Cmathcal%7BF%7D%7D%20%5Cell(Y%2C%20f(X))#0&quot;,&quot;size&quot;:14,&quot;width&quot;:236.2204724409449,&quot;height&quot;:48.47244094488189}"/>
          <p:cNvPicPr preferRelativeResize="0"/>
          <p:nvPr/>
        </p:nvPicPr>
        <p:blipFill>
          <a:blip r:embed="rId4">
            <a:alphaModFix/>
          </a:blip>
          <a:stretch>
            <a:fillRect/>
          </a:stretch>
        </p:blipFill>
        <p:spPr>
          <a:xfrm>
            <a:off x="6479350" y="1166729"/>
            <a:ext cx="2446796" cy="272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502" name="Shape 502"/>
        <p:cNvGrpSpPr/>
        <p:nvPr/>
      </p:nvGrpSpPr>
      <p:grpSpPr>
        <a:xfrm>
          <a:off x="0" y="0"/>
          <a:ext cx="0" cy="0"/>
          <a:chOff x="0" y="0"/>
          <a:chExt cx="0" cy="0"/>
        </a:xfrm>
      </p:grpSpPr>
      <p:pic>
        <p:nvPicPr>
          <p:cNvPr id="503" name="Google Shape;503;p39"/>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504" name="Google Shape;504;p39"/>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Gradient Descent</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09" name="Shape 509"/>
        <p:cNvGrpSpPr/>
        <p:nvPr/>
      </p:nvGrpSpPr>
      <p:grpSpPr>
        <a:xfrm>
          <a:off x="0" y="0"/>
          <a:ext cx="0" cy="0"/>
          <a:chOff x="0" y="0"/>
          <a:chExt cx="0" cy="0"/>
        </a:xfrm>
      </p:grpSpPr>
      <p:sp>
        <p:nvSpPr>
          <p:cNvPr id="510" name="Google Shape;510;p40"/>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0"/>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0"/>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Derivatives and Gradients</a:t>
            </a:r>
            <a:endParaRPr b="1" sz="2400">
              <a:solidFill>
                <a:srgbClr val="0F2B46"/>
              </a:solidFill>
              <a:latin typeface="Trebuchet MS"/>
              <a:ea typeface="Trebuchet MS"/>
              <a:cs typeface="Trebuchet MS"/>
              <a:sym typeface="Trebuchet MS"/>
            </a:endParaRPr>
          </a:p>
        </p:txBody>
      </p:sp>
      <p:sp>
        <p:nvSpPr>
          <p:cNvPr id="513" name="Google Shape;513;p40"/>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514" name="Google Shape;514;p40"/>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515" name="Google Shape;515;p40"/>
          <p:cNvPicPr preferRelativeResize="0"/>
          <p:nvPr/>
        </p:nvPicPr>
        <p:blipFill>
          <a:blip r:embed="rId4">
            <a:alphaModFix/>
          </a:blip>
          <a:stretch>
            <a:fillRect/>
          </a:stretch>
        </p:blipFill>
        <p:spPr>
          <a:xfrm>
            <a:off x="3112954" y="2571750"/>
            <a:ext cx="3300670" cy="2571749"/>
          </a:xfrm>
          <a:prstGeom prst="rect">
            <a:avLst/>
          </a:prstGeom>
          <a:noFill/>
          <a:ln>
            <a:noFill/>
          </a:ln>
        </p:spPr>
      </p:pic>
      <p:sp>
        <p:nvSpPr>
          <p:cNvPr id="516" name="Google Shape;516;p40"/>
          <p:cNvSpPr txBox="1"/>
          <p:nvPr/>
        </p:nvSpPr>
        <p:spPr>
          <a:xfrm>
            <a:off x="416850" y="551975"/>
            <a:ext cx="8310300" cy="337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1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b="1" lang="fr" sz="1200">
                <a:solidFill>
                  <a:schemeClr val="dk1"/>
                </a:solidFill>
                <a:latin typeface="Calibri"/>
                <a:ea typeface="Calibri"/>
                <a:cs typeface="Calibri"/>
                <a:sym typeface="Calibri"/>
              </a:rPr>
              <a:t>Derivative (1D):</a:t>
            </a:r>
            <a:endParaRPr b="1" sz="1200">
              <a:solidFill>
                <a:schemeClr val="dk1"/>
              </a:solidFill>
              <a:latin typeface="Calibri"/>
              <a:ea typeface="Calibri"/>
              <a:cs typeface="Calibri"/>
              <a:sym typeface="Calibri"/>
            </a:endParaRPr>
          </a:p>
          <a:p>
            <a:pPr indent="-304800" lvl="0" marL="457200" rtl="0" algn="l">
              <a:lnSpc>
                <a:spcPct val="115000"/>
              </a:lnSpc>
              <a:spcBef>
                <a:spcPts val="120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Measures how much a function changes when its input changes</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fr" sz="1200">
                <a:solidFill>
                  <a:schemeClr val="dk1"/>
                </a:solidFill>
                <a:latin typeface="Calibri"/>
                <a:ea typeface="Calibri"/>
                <a:cs typeface="Calibri"/>
                <a:sym typeface="Calibri"/>
              </a:rPr>
              <a:t>Gradient (Multi-dimensional):</a:t>
            </a:r>
            <a:endParaRPr b="1" sz="1200">
              <a:solidFill>
                <a:schemeClr val="dk1"/>
              </a:solidFill>
              <a:latin typeface="Calibri"/>
              <a:ea typeface="Calibri"/>
              <a:cs typeface="Calibri"/>
              <a:sym typeface="Calibri"/>
            </a:endParaRPr>
          </a:p>
          <a:p>
            <a:pPr indent="-304800" lvl="0" marL="457200" rtl="0" algn="l">
              <a:lnSpc>
                <a:spcPct val="115000"/>
              </a:lnSpc>
              <a:spcBef>
                <a:spcPts val="120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Extension of derivative to functions with multiple inputs ∇f = [∂f/∂x₁, ∂f/∂x₂, ..., ∂f/∂xₙ]</a:t>
            </a: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lang="fr" sz="1200">
                <a:solidFill>
                  <a:schemeClr val="dk1"/>
                </a:solidFill>
                <a:latin typeface="Calibri"/>
                <a:ea typeface="Calibri"/>
                <a:cs typeface="Calibri"/>
                <a:sym typeface="Calibri"/>
              </a:rPr>
              <a:t>Points in the direction of steepest increase of the function</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b="1" sz="17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br>
              <a:rPr lang="fr" sz="1100">
                <a:solidFill>
                  <a:schemeClr val="dk1"/>
                </a:solidFill>
                <a:latin typeface="Montserrat"/>
                <a:ea typeface="Montserrat"/>
                <a:cs typeface="Montserrat"/>
                <a:sym typeface="Montserrat"/>
              </a:rPr>
            </a:br>
            <a:endParaRPr b="1" sz="1100">
              <a:solidFill>
                <a:schemeClr val="dk1"/>
              </a:solidFill>
              <a:latin typeface="Montserrat"/>
              <a:ea typeface="Montserrat"/>
              <a:cs typeface="Montserrat"/>
              <a:sym typeface="Montserrat"/>
            </a:endParaRPr>
          </a:p>
          <a:p>
            <a:pPr indent="0" lvl="0" marL="0" rtl="0" algn="l">
              <a:lnSpc>
                <a:spcPct val="115000"/>
              </a:lnSpc>
              <a:spcBef>
                <a:spcPts val="1200"/>
              </a:spcBef>
              <a:spcAft>
                <a:spcPts val="1200"/>
              </a:spcAft>
              <a:buNone/>
            </a:pPr>
            <a:r>
              <a:t/>
            </a:r>
            <a:endParaRPr sz="1100">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21" name="Shape 521"/>
        <p:cNvGrpSpPr/>
        <p:nvPr/>
      </p:nvGrpSpPr>
      <p:grpSpPr>
        <a:xfrm>
          <a:off x="0" y="0"/>
          <a:ext cx="0" cy="0"/>
          <a:chOff x="0" y="0"/>
          <a:chExt cx="0" cy="0"/>
        </a:xfrm>
      </p:grpSpPr>
      <p:sp>
        <p:nvSpPr>
          <p:cNvPr id="522" name="Google Shape;522;p41"/>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1"/>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1"/>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Gradient Descent and Optimization</a:t>
            </a:r>
            <a:endParaRPr b="1" sz="2400">
              <a:solidFill>
                <a:srgbClr val="0F2B46"/>
              </a:solidFill>
              <a:latin typeface="Trebuchet MS"/>
              <a:ea typeface="Trebuchet MS"/>
              <a:cs typeface="Trebuchet MS"/>
              <a:sym typeface="Trebuchet MS"/>
            </a:endParaRPr>
          </a:p>
        </p:txBody>
      </p:sp>
      <p:sp>
        <p:nvSpPr>
          <p:cNvPr id="525" name="Google Shape;525;p41"/>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526" name="Google Shape;526;p41"/>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527" name="Google Shape;527;p41"/>
          <p:cNvPicPr preferRelativeResize="0"/>
          <p:nvPr/>
        </p:nvPicPr>
        <p:blipFill>
          <a:blip r:embed="rId4">
            <a:alphaModFix/>
          </a:blip>
          <a:stretch>
            <a:fillRect/>
          </a:stretch>
        </p:blipFill>
        <p:spPr>
          <a:xfrm>
            <a:off x="4475750" y="1066652"/>
            <a:ext cx="4105751" cy="3271324"/>
          </a:xfrm>
          <a:prstGeom prst="rect">
            <a:avLst/>
          </a:prstGeom>
          <a:noFill/>
          <a:ln>
            <a:noFill/>
          </a:ln>
        </p:spPr>
      </p:pic>
      <p:pic>
        <p:nvPicPr>
          <p:cNvPr id="528" name="Google Shape;528;p41" title="{&quot;red&quot;:0,&quot;green&quot;:0,&quot;blue&quot;:0,&quot;origURL&quot;:&quot;https://www.codecogs.com/eqnedit.php?latex=%5Ctheta%5E*%20%3D%20%5Carg%5Cmin_%7B%5Ctheta%20%5Cin%20%5Cmathbb%7BR%7D%5Ep%7D%20%5Cell(%5Ctheta)%20%3D%20%5Carg%5Cmin_%7B%5Ctheta%20%5Cin%20%5Cmathbb%7BR%7D%5Ep%7D%20l(Y%2C%20f_%5Ctheta(X))#0&quot;,&quot;size&quot;:14,&quot;width&quot;:236.2204724409449,&quot;height&quot;:82.41732283464567}"/>
          <p:cNvPicPr preferRelativeResize="0"/>
          <p:nvPr/>
        </p:nvPicPr>
        <p:blipFill>
          <a:blip r:embed="rId5">
            <a:alphaModFix/>
          </a:blip>
          <a:stretch>
            <a:fillRect/>
          </a:stretch>
        </p:blipFill>
        <p:spPr>
          <a:xfrm>
            <a:off x="4657037" y="4464475"/>
            <a:ext cx="3725638" cy="181350"/>
          </a:xfrm>
          <a:prstGeom prst="rect">
            <a:avLst/>
          </a:prstGeom>
          <a:noFill/>
          <a:ln>
            <a:noFill/>
          </a:ln>
        </p:spPr>
      </p:pic>
      <p:sp>
        <p:nvSpPr>
          <p:cNvPr id="529" name="Google Shape;529;p41"/>
          <p:cNvSpPr txBox="1"/>
          <p:nvPr/>
        </p:nvSpPr>
        <p:spPr>
          <a:xfrm>
            <a:off x="484550" y="1066650"/>
            <a:ext cx="2774100" cy="1596900"/>
          </a:xfrm>
          <a:prstGeom prst="rect">
            <a:avLst/>
          </a:prstGeom>
          <a:noFill/>
          <a:ln>
            <a:noFill/>
          </a:ln>
        </p:spPr>
        <p:txBody>
          <a:bodyPr anchorCtr="0" anchor="t" bIns="91425" lIns="91425" spcFirstLastPara="1" rIns="91425" wrap="square" tIns="91425">
            <a:spAutoFit/>
          </a:bodyPr>
          <a:lstStyle/>
          <a:p>
            <a:pPr indent="0" lvl="0" marL="0" rtl="0" algn="l">
              <a:lnSpc>
                <a:spcPct val="145000"/>
              </a:lnSpc>
              <a:spcBef>
                <a:spcPts val="0"/>
              </a:spcBef>
              <a:spcAft>
                <a:spcPts val="0"/>
              </a:spcAft>
              <a:buClr>
                <a:schemeClr val="dk1"/>
              </a:buClr>
              <a:buSzPts val="1100"/>
              <a:buFont typeface="Arial"/>
              <a:buNone/>
            </a:pPr>
            <a:r>
              <a:rPr b="1" lang="fr" sz="1400">
                <a:solidFill>
                  <a:schemeClr val="dk1"/>
                </a:solidFill>
                <a:latin typeface="Calibri"/>
                <a:ea typeface="Calibri"/>
                <a:cs typeface="Calibri"/>
                <a:sym typeface="Calibri"/>
              </a:rPr>
              <a:t>0. Initialization</a:t>
            </a:r>
            <a:endParaRPr b="1" sz="1400">
              <a:solidFill>
                <a:schemeClr val="dk1"/>
              </a:solidFill>
              <a:latin typeface="Calibri"/>
              <a:ea typeface="Calibri"/>
              <a:cs typeface="Calibri"/>
              <a:sym typeface="Calibri"/>
            </a:endParaRPr>
          </a:p>
          <a:p>
            <a:pPr indent="0" lvl="0" marL="0" rtl="0" algn="l">
              <a:lnSpc>
                <a:spcPct val="145000"/>
              </a:lnSpc>
              <a:spcBef>
                <a:spcPts val="900"/>
              </a:spcBef>
              <a:spcAft>
                <a:spcPts val="0"/>
              </a:spcAft>
              <a:buClr>
                <a:schemeClr val="dk1"/>
              </a:buClr>
              <a:buSzPts val="1100"/>
              <a:buFont typeface="Arial"/>
              <a:buNone/>
            </a:pPr>
            <a:r>
              <a:rPr b="1" lang="fr" sz="1400">
                <a:solidFill>
                  <a:schemeClr val="dk1"/>
                </a:solidFill>
                <a:latin typeface="Calibri"/>
                <a:ea typeface="Calibri"/>
                <a:cs typeface="Calibri"/>
                <a:sym typeface="Calibri"/>
              </a:rPr>
              <a:t>Initialize </a:t>
            </a:r>
            <a:endParaRPr b="1" sz="1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fr" sz="1100">
                <a:solidFill>
                  <a:schemeClr val="dk1"/>
                </a:solidFill>
                <a:latin typeface="Calibri"/>
                <a:ea typeface="Calibri"/>
                <a:cs typeface="Calibri"/>
                <a:sym typeface="Calibri"/>
              </a:rPr>
              <a:t>Initialize  parameters randomly</a:t>
            </a:r>
            <a:endParaRPr sz="11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t/>
            </a:r>
            <a:endParaRPr sz="1100">
              <a:solidFill>
                <a:schemeClr val="dk1"/>
              </a:solidFill>
              <a:latin typeface="Calibri"/>
              <a:ea typeface="Calibri"/>
              <a:cs typeface="Calibri"/>
              <a:sym typeface="Calibri"/>
            </a:endParaRPr>
          </a:p>
        </p:txBody>
      </p:sp>
      <p:sp>
        <p:nvSpPr>
          <p:cNvPr id="530" name="Google Shape;530;p41"/>
          <p:cNvSpPr txBox="1"/>
          <p:nvPr/>
        </p:nvSpPr>
        <p:spPr>
          <a:xfrm>
            <a:off x="484550" y="2359900"/>
            <a:ext cx="2312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b="1" lang="fr" sz="1400">
                <a:solidFill>
                  <a:schemeClr val="dk1"/>
                </a:solidFill>
                <a:latin typeface="Calibri"/>
                <a:ea typeface="Calibri"/>
                <a:cs typeface="Calibri"/>
                <a:sym typeface="Calibri"/>
              </a:rPr>
              <a:t>1. Update Rule</a:t>
            </a:r>
            <a:endParaRPr sz="1100">
              <a:solidFill>
                <a:schemeClr val="dk1"/>
              </a:solidFill>
              <a:latin typeface="Calibri"/>
              <a:ea typeface="Calibri"/>
              <a:cs typeface="Calibri"/>
              <a:sym typeface="Calibri"/>
            </a:endParaRPr>
          </a:p>
        </p:txBody>
      </p:sp>
      <p:sp>
        <p:nvSpPr>
          <p:cNvPr id="531" name="Google Shape;531;p41"/>
          <p:cNvSpPr txBox="1"/>
          <p:nvPr/>
        </p:nvSpPr>
        <p:spPr>
          <a:xfrm>
            <a:off x="484538" y="3323688"/>
            <a:ext cx="2312400" cy="75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fr" sz="1400">
                <a:solidFill>
                  <a:schemeClr val="dk1"/>
                </a:solidFill>
                <a:latin typeface="Calibri"/>
                <a:ea typeface="Calibri"/>
                <a:cs typeface="Calibri"/>
                <a:sym typeface="Calibri"/>
              </a:rPr>
              <a:t>1. Iterate</a:t>
            </a:r>
            <a:endParaRPr b="1" sz="14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fr" sz="1100">
                <a:solidFill>
                  <a:schemeClr val="dk1"/>
                </a:solidFill>
                <a:latin typeface="Calibri"/>
                <a:ea typeface="Calibri"/>
                <a:cs typeface="Calibri"/>
                <a:sym typeface="Calibri"/>
              </a:rPr>
              <a:t>Repeat 1. while</a:t>
            </a:r>
            <a:endParaRPr b="1" sz="1400">
              <a:solidFill>
                <a:schemeClr val="dk1"/>
              </a:solidFill>
              <a:latin typeface="Calibri"/>
              <a:ea typeface="Calibri"/>
              <a:cs typeface="Calibri"/>
              <a:sym typeface="Calibri"/>
            </a:endParaRPr>
          </a:p>
        </p:txBody>
      </p:sp>
      <p:pic>
        <p:nvPicPr>
          <p:cNvPr id="532" name="Google Shape;532;p41" title="{&quot;red&quot;:0,&quot;green&quot;:0,&quot;blue&quot;:0,&quot;origURL&quot;:&quot;https://www.codecogs.com/eqnedit.php?latex=%5Ctheta_0#0&quot;,&quot;size&quot;:14,&quot;width&quot;:236.2204724409449,&quot;height&quot;:31.511811023622045}"/>
          <p:cNvPicPr preferRelativeResize="0"/>
          <p:nvPr/>
        </p:nvPicPr>
        <p:blipFill>
          <a:blip r:embed="rId6">
            <a:alphaModFix/>
          </a:blip>
          <a:stretch>
            <a:fillRect/>
          </a:stretch>
        </p:blipFill>
        <p:spPr>
          <a:xfrm>
            <a:off x="1410109" y="1540425"/>
            <a:ext cx="234166" cy="255875"/>
          </a:xfrm>
          <a:prstGeom prst="rect">
            <a:avLst/>
          </a:prstGeom>
          <a:noFill/>
          <a:ln>
            <a:noFill/>
          </a:ln>
        </p:spPr>
      </p:pic>
      <p:pic>
        <p:nvPicPr>
          <p:cNvPr id="533" name="Google Shape;533;p41" title="{&quot;red&quot;:0,&quot;green&quot;:0,&quot;blue&quot;:0,&quot;origURL&quot;:&quot;https://www.codecogs.com/eqnedit.php?latex=l(%5Ctheta_%7Bt%2B1%7D)%20%3C%20l(%5Ctheta_t)#0&quot;,&quot;size&quot;:14,&quot;width&quot;:236.2204724409449,&quot;height&quot;:31.511811023622048}"/>
          <p:cNvPicPr preferRelativeResize="0"/>
          <p:nvPr/>
        </p:nvPicPr>
        <p:blipFill>
          <a:blip r:embed="rId7">
            <a:alphaModFix/>
          </a:blip>
          <a:stretch>
            <a:fillRect/>
          </a:stretch>
        </p:blipFill>
        <p:spPr>
          <a:xfrm>
            <a:off x="1710150" y="3831450"/>
            <a:ext cx="1086803" cy="181356"/>
          </a:xfrm>
          <a:prstGeom prst="rect">
            <a:avLst/>
          </a:prstGeom>
          <a:noFill/>
          <a:ln>
            <a:noFill/>
          </a:ln>
        </p:spPr>
      </p:pic>
      <p:pic>
        <p:nvPicPr>
          <p:cNvPr id="534" name="Google Shape;534;p41" title="{&quot;red&quot;:0,&quot;green&quot;:0,&quot;blue&quot;:0,&quot;origURL&quot;:&quot;https://www.codecogs.com/eqnedit.php?latex=%5Ctheta_%7Bt%2B1%7D%20%3D%20%5Ctheta_t%20-%20%5Ceta%20%5Cnabla_%7B%5Ctheta%7D%20l(%5Ctheta_t)#0&quot;,&quot;size&quot;:14,&quot;width&quot;:236.2204724409449,&quot;height&quot;:48.47244094488189}"/>
          <p:cNvPicPr preferRelativeResize="0"/>
          <p:nvPr/>
        </p:nvPicPr>
        <p:blipFill>
          <a:blip r:embed="rId8">
            <a:alphaModFix/>
          </a:blip>
          <a:stretch>
            <a:fillRect/>
          </a:stretch>
        </p:blipFill>
        <p:spPr>
          <a:xfrm>
            <a:off x="605650" y="2812175"/>
            <a:ext cx="1883149" cy="216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39" name="Shape 539"/>
        <p:cNvGrpSpPr/>
        <p:nvPr/>
      </p:nvGrpSpPr>
      <p:grpSpPr>
        <a:xfrm>
          <a:off x="0" y="0"/>
          <a:ext cx="0" cy="0"/>
          <a:chOff x="0" y="0"/>
          <a:chExt cx="0" cy="0"/>
        </a:xfrm>
      </p:grpSpPr>
      <p:sp>
        <p:nvSpPr>
          <p:cNvPr id="540" name="Google Shape;540;p42"/>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42"/>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42"/>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Hyperparameter - Learning rate</a:t>
            </a:r>
            <a:endParaRPr b="1" sz="2400">
              <a:solidFill>
                <a:srgbClr val="0F2B46"/>
              </a:solidFill>
              <a:latin typeface="Trebuchet MS"/>
              <a:ea typeface="Trebuchet MS"/>
              <a:cs typeface="Trebuchet MS"/>
              <a:sym typeface="Trebuchet MS"/>
            </a:endParaRPr>
          </a:p>
        </p:txBody>
      </p:sp>
      <p:sp>
        <p:nvSpPr>
          <p:cNvPr id="543" name="Google Shape;543;p42"/>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544" name="Google Shape;544;p42"/>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545" name="Google Shape;545;p42"/>
          <p:cNvPicPr preferRelativeResize="0"/>
          <p:nvPr/>
        </p:nvPicPr>
        <p:blipFill>
          <a:blip r:embed="rId4">
            <a:alphaModFix/>
          </a:blip>
          <a:stretch>
            <a:fillRect/>
          </a:stretch>
        </p:blipFill>
        <p:spPr>
          <a:xfrm>
            <a:off x="0" y="1725262"/>
            <a:ext cx="2999900" cy="2390224"/>
          </a:xfrm>
          <a:prstGeom prst="rect">
            <a:avLst/>
          </a:prstGeom>
          <a:noFill/>
          <a:ln>
            <a:noFill/>
          </a:ln>
        </p:spPr>
      </p:pic>
      <p:pic>
        <p:nvPicPr>
          <p:cNvPr id="546" name="Google Shape;546;p42"/>
          <p:cNvPicPr preferRelativeResize="0"/>
          <p:nvPr/>
        </p:nvPicPr>
        <p:blipFill>
          <a:blip r:embed="rId5">
            <a:alphaModFix/>
          </a:blip>
          <a:stretch>
            <a:fillRect/>
          </a:stretch>
        </p:blipFill>
        <p:spPr>
          <a:xfrm>
            <a:off x="3072043" y="1725298"/>
            <a:ext cx="2999896" cy="2390227"/>
          </a:xfrm>
          <a:prstGeom prst="rect">
            <a:avLst/>
          </a:prstGeom>
          <a:noFill/>
          <a:ln>
            <a:noFill/>
          </a:ln>
        </p:spPr>
      </p:pic>
      <p:pic>
        <p:nvPicPr>
          <p:cNvPr id="547" name="Google Shape;547;p42"/>
          <p:cNvPicPr preferRelativeResize="0"/>
          <p:nvPr/>
        </p:nvPicPr>
        <p:blipFill>
          <a:blip r:embed="rId6">
            <a:alphaModFix/>
          </a:blip>
          <a:stretch>
            <a:fillRect/>
          </a:stretch>
        </p:blipFill>
        <p:spPr>
          <a:xfrm>
            <a:off x="6144083" y="1725225"/>
            <a:ext cx="2999915" cy="2390250"/>
          </a:xfrm>
          <a:prstGeom prst="rect">
            <a:avLst/>
          </a:prstGeom>
          <a:noFill/>
          <a:ln>
            <a:noFill/>
          </a:ln>
        </p:spPr>
      </p:pic>
      <p:sp>
        <p:nvSpPr>
          <p:cNvPr id="548" name="Google Shape;548;p42"/>
          <p:cNvSpPr txBox="1"/>
          <p:nvPr/>
        </p:nvSpPr>
        <p:spPr>
          <a:xfrm>
            <a:off x="1620425" y="4306000"/>
            <a:ext cx="669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latin typeface="Calibri"/>
                <a:ea typeface="Calibri"/>
                <a:cs typeface="Calibri"/>
                <a:sym typeface="Calibri"/>
              </a:rPr>
              <a:t>Hyperparameters</a:t>
            </a:r>
            <a:r>
              <a:rPr lang="fr">
                <a:latin typeface="Calibri"/>
                <a:ea typeface="Calibri"/>
                <a:cs typeface="Calibri"/>
                <a:sym typeface="Calibri"/>
              </a:rPr>
              <a:t>: are settings chosen that control how a model learns</a:t>
            </a:r>
            <a:endParaRPr>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53" name="Shape 553"/>
        <p:cNvGrpSpPr/>
        <p:nvPr/>
      </p:nvGrpSpPr>
      <p:grpSpPr>
        <a:xfrm>
          <a:off x="0" y="0"/>
          <a:ext cx="0" cy="0"/>
          <a:chOff x="0" y="0"/>
          <a:chExt cx="0" cy="0"/>
        </a:xfrm>
      </p:grpSpPr>
      <p:sp>
        <p:nvSpPr>
          <p:cNvPr id="554" name="Google Shape;554;p43"/>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3"/>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3"/>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Optimizers : how do we update the gradient</a:t>
            </a:r>
            <a:endParaRPr b="1" sz="2400">
              <a:solidFill>
                <a:srgbClr val="0F2B46"/>
              </a:solidFill>
              <a:latin typeface="Trebuchet MS"/>
              <a:ea typeface="Trebuchet MS"/>
              <a:cs typeface="Trebuchet MS"/>
              <a:sym typeface="Trebuchet MS"/>
            </a:endParaRPr>
          </a:p>
        </p:txBody>
      </p:sp>
      <p:sp>
        <p:nvSpPr>
          <p:cNvPr id="557" name="Google Shape;557;p43"/>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558" name="Google Shape;558;p43"/>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559" name="Google Shape;559;p43" title="optimize_with_momentum.gif"/>
          <p:cNvPicPr preferRelativeResize="0"/>
          <p:nvPr/>
        </p:nvPicPr>
        <p:blipFill>
          <a:blip r:embed="rId4">
            <a:alphaModFix/>
          </a:blip>
          <a:stretch>
            <a:fillRect/>
          </a:stretch>
        </p:blipFill>
        <p:spPr>
          <a:xfrm>
            <a:off x="3782650" y="1280301"/>
            <a:ext cx="4660375" cy="2796200"/>
          </a:xfrm>
          <a:prstGeom prst="rect">
            <a:avLst/>
          </a:prstGeom>
          <a:noFill/>
          <a:ln>
            <a:noFill/>
          </a:ln>
        </p:spPr>
      </p:pic>
      <p:sp>
        <p:nvSpPr>
          <p:cNvPr id="560" name="Google Shape;560;p43"/>
          <p:cNvSpPr/>
          <p:nvPr/>
        </p:nvSpPr>
        <p:spPr>
          <a:xfrm>
            <a:off x="0" y="868800"/>
            <a:ext cx="2856900" cy="4273500"/>
          </a:xfrm>
          <a:prstGeom prst="rect">
            <a:avLst/>
          </a:prstGeom>
          <a:solidFill>
            <a:srgbClr val="F5F5F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1" name="Google Shape;561;p43"/>
          <p:cNvSpPr txBox="1"/>
          <p:nvPr/>
        </p:nvSpPr>
        <p:spPr>
          <a:xfrm>
            <a:off x="0" y="868700"/>
            <a:ext cx="3000000" cy="422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fr" sz="1200">
                <a:solidFill>
                  <a:schemeClr val="dk1"/>
                </a:solidFill>
                <a:latin typeface="Montserrat"/>
                <a:ea typeface="Montserrat"/>
                <a:cs typeface="Montserrat"/>
                <a:sym typeface="Montserrat"/>
              </a:rPr>
              <a:t>Gradient Descent:</a:t>
            </a:r>
            <a:br>
              <a:rPr b="1" lang="fr" sz="1200">
                <a:solidFill>
                  <a:schemeClr val="dk1"/>
                </a:solidFill>
                <a:latin typeface="Montserrat"/>
                <a:ea typeface="Montserrat"/>
                <a:cs typeface="Montserrat"/>
                <a:sym typeface="Montserrat"/>
              </a:rPr>
            </a:br>
            <a:endParaRPr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r>
              <a:t/>
            </a:r>
            <a:endParaRPr b="1"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r>
              <a:rPr b="1" lang="fr" sz="1200">
                <a:solidFill>
                  <a:schemeClr val="dk1"/>
                </a:solidFill>
                <a:latin typeface="Montserrat"/>
                <a:ea typeface="Montserrat"/>
                <a:cs typeface="Montserrat"/>
                <a:sym typeface="Montserrat"/>
              </a:rPr>
              <a:t>Gradient Descent + Momentum:</a:t>
            </a:r>
            <a:br>
              <a:rPr b="1" lang="fr" sz="1200">
                <a:solidFill>
                  <a:schemeClr val="dk1"/>
                </a:solidFill>
                <a:latin typeface="Montserrat"/>
                <a:ea typeface="Montserrat"/>
                <a:cs typeface="Montserrat"/>
                <a:sym typeface="Montserrat"/>
              </a:rPr>
            </a:br>
            <a:endParaRPr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r>
              <a:t/>
            </a:r>
            <a:endParaRPr b="1"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br>
              <a:rPr b="1" lang="fr" sz="1200">
                <a:solidFill>
                  <a:schemeClr val="dk1"/>
                </a:solidFill>
                <a:latin typeface="Montserrat"/>
                <a:ea typeface="Montserrat"/>
                <a:cs typeface="Montserrat"/>
                <a:sym typeface="Montserrat"/>
              </a:rPr>
            </a:br>
            <a:endParaRPr sz="1200">
              <a:solidFill>
                <a:schemeClr val="dk1"/>
              </a:solidFill>
              <a:latin typeface="Montserrat"/>
              <a:ea typeface="Montserrat"/>
              <a:cs typeface="Montserrat"/>
              <a:sym typeface="Montserrat"/>
            </a:endParaRPr>
          </a:p>
          <a:p>
            <a:pPr indent="0" lvl="0" marL="0" rtl="0" algn="l">
              <a:lnSpc>
                <a:spcPct val="115000"/>
              </a:lnSpc>
              <a:spcBef>
                <a:spcPts val="1200"/>
              </a:spcBef>
              <a:spcAft>
                <a:spcPts val="1200"/>
              </a:spcAft>
              <a:buNone/>
            </a:pPr>
            <a:r>
              <a:t/>
            </a:r>
            <a:endParaRPr b="1" sz="1100">
              <a:solidFill>
                <a:schemeClr val="dk1"/>
              </a:solidFill>
              <a:latin typeface="Montserrat"/>
              <a:ea typeface="Montserrat"/>
              <a:cs typeface="Montserrat"/>
              <a:sym typeface="Montserrat"/>
            </a:endParaRPr>
          </a:p>
        </p:txBody>
      </p:sp>
      <p:pic>
        <p:nvPicPr>
          <p:cNvPr id="562" name="Google Shape;562;p43" title="{&quot;red&quot;:0,&quot;green&quot;:0,&quot;blue&quot;:0,&quot;origURL&quot;:&quot;https://www.codecogs.com/eqnedit.php?latex=w_%7Bt%2B1%7D%20%3D%20w_t%20-%20%5Ceta%20%5Cnabla%20L(w_t)#0&quot;,&quot;size&quot;:14,&quot;width&quot;:236.2204724409449,&quot;height&quot;:51.023622047244096}"/>
          <p:cNvPicPr preferRelativeResize="0"/>
          <p:nvPr/>
        </p:nvPicPr>
        <p:blipFill>
          <a:blip r:embed="rId5">
            <a:alphaModFix/>
          </a:blip>
          <a:stretch>
            <a:fillRect/>
          </a:stretch>
        </p:blipFill>
        <p:spPr>
          <a:xfrm>
            <a:off x="161950" y="1280298"/>
            <a:ext cx="2470021" cy="262650"/>
          </a:xfrm>
          <a:prstGeom prst="rect">
            <a:avLst/>
          </a:prstGeom>
          <a:noFill/>
          <a:ln>
            <a:noFill/>
          </a:ln>
        </p:spPr>
      </p:pic>
      <p:pic>
        <p:nvPicPr>
          <p:cNvPr id="563" name="Google Shape;563;p43" title="{&quot;red&quot;:0,&quot;green&quot;:0,&quot;blue&quot;:0,&quot;origURL&quot;:&quot;https://www.codecogs.com/eqnedit.php?latex=m_t%20%3D%20%5Cbeta_1%20m_%7Bt-1%7D%20%2B%20(1%20-%20%5Cbeta_1)%20%5Cnabla%20L(w_t)#0&quot;,&quot;size&quot;:11,&quot;width&quot;:236.2204724409449,&quot;height&quot;:43.20472440944882}"/>
          <p:cNvPicPr preferRelativeResize="0"/>
          <p:nvPr/>
        </p:nvPicPr>
        <p:blipFill>
          <a:blip r:embed="rId6">
            <a:alphaModFix/>
          </a:blip>
          <a:stretch>
            <a:fillRect/>
          </a:stretch>
        </p:blipFill>
        <p:spPr>
          <a:xfrm>
            <a:off x="117938" y="2195673"/>
            <a:ext cx="2513972" cy="183423"/>
          </a:xfrm>
          <a:prstGeom prst="rect">
            <a:avLst/>
          </a:prstGeom>
          <a:noFill/>
          <a:ln>
            <a:noFill/>
          </a:ln>
        </p:spPr>
      </p:pic>
      <p:pic>
        <p:nvPicPr>
          <p:cNvPr id="564" name="Google Shape;564;p43" title="{&quot;red&quot;:0,&quot;green&quot;:0,&quot;blue&quot;:0,&quot;origURL&quot;:&quot;https://www.codecogs.com/eqnedit.php?latex=v_t%20%3D%20%5Cbeta_2%20v_%7Bt-1%7D%20%2B%20(1%20-%20%5Cbeta_2)%20(%5Cnabla%20L(w_t))%5E2#0&quot;,&quot;size&quot;:11,&quot;width&quot;:236.2204724409449,&quot;height&quot;:43.20472440944882}"/>
          <p:cNvPicPr preferRelativeResize="0"/>
          <p:nvPr/>
        </p:nvPicPr>
        <p:blipFill>
          <a:blip r:embed="rId7">
            <a:alphaModFix/>
          </a:blip>
          <a:stretch>
            <a:fillRect/>
          </a:stretch>
        </p:blipFill>
        <p:spPr>
          <a:xfrm>
            <a:off x="117941" y="2675301"/>
            <a:ext cx="2513967" cy="19479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9" name="Shape 569"/>
        <p:cNvGrpSpPr/>
        <p:nvPr/>
      </p:nvGrpSpPr>
      <p:grpSpPr>
        <a:xfrm>
          <a:off x="0" y="0"/>
          <a:ext cx="0" cy="0"/>
          <a:chOff x="0" y="0"/>
          <a:chExt cx="0" cy="0"/>
        </a:xfrm>
      </p:grpSpPr>
      <p:pic>
        <p:nvPicPr>
          <p:cNvPr id="570" name="Google Shape;570;p44"/>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571" name="Google Shape;571;p44"/>
          <p:cNvSpPr txBox="1"/>
          <p:nvPr/>
        </p:nvSpPr>
        <p:spPr>
          <a:xfrm>
            <a:off x="638900" y="2918425"/>
            <a:ext cx="1857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800">
                <a:solidFill>
                  <a:schemeClr val="dk1"/>
                </a:solidFill>
                <a:latin typeface="Montserrat"/>
                <a:ea typeface="Montserrat"/>
                <a:cs typeface="Montserrat"/>
                <a:sym typeface="Montserrat"/>
              </a:rPr>
              <a:t>Initialisation</a:t>
            </a:r>
            <a:endParaRPr b="1" sz="800">
              <a:solidFill>
                <a:schemeClr val="dk1"/>
              </a:solidFill>
              <a:latin typeface="Montserrat"/>
              <a:ea typeface="Montserrat"/>
              <a:cs typeface="Montserrat"/>
              <a:sym typeface="Montserrat"/>
            </a:endParaRPr>
          </a:p>
        </p:txBody>
      </p:sp>
      <p:pic>
        <p:nvPicPr>
          <p:cNvPr id="572" name="Google Shape;572;p44"/>
          <p:cNvPicPr preferRelativeResize="0"/>
          <p:nvPr/>
        </p:nvPicPr>
        <p:blipFill>
          <a:blip r:embed="rId4">
            <a:alphaModFix/>
          </a:blip>
          <a:stretch>
            <a:fillRect/>
          </a:stretch>
        </p:blipFill>
        <p:spPr>
          <a:xfrm>
            <a:off x="0" y="711725"/>
            <a:ext cx="2812324" cy="2095526"/>
          </a:xfrm>
          <a:prstGeom prst="rect">
            <a:avLst/>
          </a:prstGeom>
          <a:noFill/>
          <a:ln>
            <a:noFill/>
          </a:ln>
        </p:spPr>
      </p:pic>
      <p:pic>
        <p:nvPicPr>
          <p:cNvPr id="573" name="Google Shape;573;p44"/>
          <p:cNvPicPr preferRelativeResize="0"/>
          <p:nvPr/>
        </p:nvPicPr>
        <p:blipFill>
          <a:blip r:embed="rId5">
            <a:alphaModFix/>
          </a:blip>
          <a:stretch>
            <a:fillRect/>
          </a:stretch>
        </p:blipFill>
        <p:spPr>
          <a:xfrm>
            <a:off x="4527700" y="42575"/>
            <a:ext cx="3042406" cy="2266949"/>
          </a:xfrm>
          <a:prstGeom prst="rect">
            <a:avLst/>
          </a:prstGeom>
          <a:noFill/>
          <a:ln>
            <a:noFill/>
          </a:ln>
        </p:spPr>
      </p:pic>
      <p:sp>
        <p:nvSpPr>
          <p:cNvPr id="574" name="Google Shape;574;p44"/>
          <p:cNvSpPr txBox="1"/>
          <p:nvPr/>
        </p:nvSpPr>
        <p:spPr>
          <a:xfrm>
            <a:off x="6597688" y="1668988"/>
            <a:ext cx="1857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800">
                <a:solidFill>
                  <a:schemeClr val="dk1"/>
                </a:solidFill>
                <a:latin typeface="Montserrat"/>
                <a:ea typeface="Montserrat"/>
                <a:cs typeface="Montserrat"/>
                <a:sym typeface="Montserrat"/>
              </a:rPr>
              <a:t>Compute loss/error gradient</a:t>
            </a:r>
            <a:endParaRPr b="1" sz="800">
              <a:solidFill>
                <a:schemeClr val="dk1"/>
              </a:solidFill>
              <a:latin typeface="Montserrat"/>
              <a:ea typeface="Montserrat"/>
              <a:cs typeface="Montserrat"/>
              <a:sym typeface="Montserrat"/>
            </a:endParaRPr>
          </a:p>
        </p:txBody>
      </p:sp>
      <p:graphicFrame>
        <p:nvGraphicFramePr>
          <p:cNvPr id="575" name="Google Shape;575;p44"/>
          <p:cNvGraphicFramePr/>
          <p:nvPr/>
        </p:nvGraphicFramePr>
        <p:xfrm>
          <a:off x="6597700" y="2388025"/>
          <a:ext cx="3000000" cy="3000000"/>
        </p:xfrm>
        <a:graphic>
          <a:graphicData uri="http://schemas.openxmlformats.org/drawingml/2006/table">
            <a:tbl>
              <a:tblPr>
                <a:noFill/>
                <a:tableStyleId>{96C519A4-8B63-471A-9573-9005C2BE45B1}</a:tableStyleId>
              </a:tblPr>
              <a:tblGrid>
                <a:gridCol w="497450"/>
                <a:gridCol w="487075"/>
                <a:gridCol w="621800"/>
                <a:gridCol w="860150"/>
              </a:tblGrid>
              <a:tr h="200025">
                <a:tc>
                  <a:txBody>
                    <a:bodyPr/>
                    <a:lstStyle/>
                    <a:p>
                      <a:pPr indent="0" lvl="0" marL="0" rtl="0" algn="ctr">
                        <a:lnSpc>
                          <a:spcPct val="115000"/>
                        </a:lnSpc>
                        <a:spcBef>
                          <a:spcPts val="0"/>
                        </a:spcBef>
                        <a:spcAft>
                          <a:spcPts val="0"/>
                        </a:spcAft>
                        <a:buNone/>
                      </a:pPr>
                      <a:r>
                        <a:rPr b="1" lang="fr" sz="1000">
                          <a:latin typeface="Montserrat"/>
                          <a:ea typeface="Montserrat"/>
                          <a:cs typeface="Montserrat"/>
                          <a:sym typeface="Montserrat"/>
                        </a:rPr>
                        <a:t>Year</a:t>
                      </a:r>
                      <a:endParaRPr b="1"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1000">
                          <a:latin typeface="Montserrat"/>
                          <a:ea typeface="Montserrat"/>
                          <a:cs typeface="Montserrat"/>
                          <a:sym typeface="Montserrat"/>
                        </a:rPr>
                        <a:t>Y_true</a:t>
                      </a:r>
                      <a:endParaRPr b="1"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1000">
                          <a:latin typeface="Montserrat"/>
                          <a:ea typeface="Montserrat"/>
                          <a:cs typeface="Montserrat"/>
                          <a:sym typeface="Montserrat"/>
                        </a:rPr>
                        <a:t>Y_pred</a:t>
                      </a:r>
                      <a:endParaRPr b="1"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fr" sz="1000">
                          <a:latin typeface="Montserrat"/>
                          <a:ea typeface="Montserrat"/>
                          <a:cs typeface="Montserrat"/>
                          <a:sym typeface="Montserrat"/>
                        </a:rPr>
                        <a:t>Error</a:t>
                      </a:r>
                      <a:endParaRPr b="1"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100000">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1980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14.18</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14.80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0.62</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1985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14.10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14.75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0.65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1990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14.35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14.70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0.35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1995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14.38</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14.65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0.27</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2000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14.33</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14.60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0.27</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2005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14.55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14.55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0.00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2010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14.58</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14.50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0.08</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2015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14.80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14.45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0.35</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00025">
                <a:tc>
                  <a:txBody>
                    <a:bodyPr/>
                    <a:lstStyle/>
                    <a:p>
                      <a:pPr indent="0" lvl="0" marL="0" rtl="0" algn="r">
                        <a:lnSpc>
                          <a:spcPct val="115000"/>
                        </a:lnSpc>
                        <a:spcBef>
                          <a:spcPts val="0"/>
                        </a:spcBef>
                        <a:spcAft>
                          <a:spcPts val="0"/>
                        </a:spcAft>
                        <a:buNone/>
                      </a:pPr>
                      <a:r>
                        <a:rPr lang="fr" sz="1000">
                          <a:latin typeface="Montserrat"/>
                          <a:ea typeface="Montserrat"/>
                          <a:cs typeface="Montserrat"/>
                          <a:sym typeface="Montserrat"/>
                        </a:rPr>
                        <a:t>2020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14.92</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14.40</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fr" sz="1000">
                          <a:latin typeface="Montserrat"/>
                          <a:ea typeface="Montserrat"/>
                          <a:cs typeface="Montserrat"/>
                          <a:sym typeface="Montserrat"/>
                        </a:rPr>
                        <a:t>0.52</a:t>
                      </a:r>
                      <a:endParaRPr sz="1000">
                        <a:latin typeface="Montserrat"/>
                        <a:ea typeface="Montserrat"/>
                        <a:cs typeface="Montserrat"/>
                        <a:sym typeface="Montserrat"/>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bl>
          </a:graphicData>
        </a:graphic>
      </p:graphicFrame>
      <p:pic>
        <p:nvPicPr>
          <p:cNvPr id="576" name="Google Shape;576;p44"/>
          <p:cNvPicPr preferRelativeResize="0"/>
          <p:nvPr/>
        </p:nvPicPr>
        <p:blipFill>
          <a:blip r:embed="rId6">
            <a:alphaModFix/>
          </a:blip>
          <a:stretch>
            <a:fillRect/>
          </a:stretch>
        </p:blipFill>
        <p:spPr>
          <a:xfrm>
            <a:off x="3392825" y="2617327"/>
            <a:ext cx="2812329" cy="2095499"/>
          </a:xfrm>
          <a:prstGeom prst="rect">
            <a:avLst/>
          </a:prstGeom>
          <a:noFill/>
          <a:ln>
            <a:noFill/>
          </a:ln>
        </p:spPr>
      </p:pic>
      <p:sp>
        <p:nvSpPr>
          <p:cNvPr id="577" name="Google Shape;577;p44"/>
          <p:cNvSpPr txBox="1"/>
          <p:nvPr/>
        </p:nvSpPr>
        <p:spPr>
          <a:xfrm>
            <a:off x="3392826" y="4712825"/>
            <a:ext cx="20724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fr" sz="800">
                <a:solidFill>
                  <a:schemeClr val="dk1"/>
                </a:solidFill>
                <a:latin typeface="Montserrat"/>
                <a:ea typeface="Montserrat"/>
                <a:cs typeface="Montserrat"/>
                <a:sym typeface="Montserrat"/>
              </a:rPr>
              <a:t>Update params (gradient descent)</a:t>
            </a:r>
            <a:endParaRPr b="1" sz="800">
              <a:solidFill>
                <a:schemeClr val="dk1"/>
              </a:solidFill>
              <a:latin typeface="Montserrat"/>
              <a:ea typeface="Montserrat"/>
              <a:cs typeface="Montserrat"/>
              <a:sym typeface="Montserrat"/>
            </a:endParaRPr>
          </a:p>
        </p:txBody>
      </p:sp>
      <p:cxnSp>
        <p:nvCxnSpPr>
          <p:cNvPr id="578" name="Google Shape;578;p44"/>
          <p:cNvCxnSpPr>
            <a:stCxn id="573" idx="3"/>
          </p:cNvCxnSpPr>
          <p:nvPr/>
        </p:nvCxnSpPr>
        <p:spPr>
          <a:xfrm>
            <a:off x="7570106" y="1176050"/>
            <a:ext cx="819000" cy="1015200"/>
          </a:xfrm>
          <a:prstGeom prst="curvedConnector2">
            <a:avLst/>
          </a:prstGeom>
          <a:noFill/>
          <a:ln cap="flat" cmpd="sng" w="9525">
            <a:solidFill>
              <a:schemeClr val="dk2"/>
            </a:solidFill>
            <a:prstDash val="solid"/>
            <a:round/>
            <a:headEnd len="med" w="med" type="none"/>
            <a:tailEnd len="med" w="med" type="triangle"/>
          </a:ln>
        </p:spPr>
      </p:cxnSp>
      <p:cxnSp>
        <p:nvCxnSpPr>
          <p:cNvPr id="579" name="Google Shape;579;p44"/>
          <p:cNvCxnSpPr>
            <a:stCxn id="580" idx="2"/>
            <a:endCxn id="576" idx="2"/>
          </p:cNvCxnSpPr>
          <p:nvPr/>
        </p:nvCxnSpPr>
        <p:spPr>
          <a:xfrm rot="5400000">
            <a:off x="6200438" y="3082225"/>
            <a:ext cx="229200" cy="3031800"/>
          </a:xfrm>
          <a:prstGeom prst="curvedConnector3">
            <a:avLst>
              <a:gd fmla="val 203938" name="adj1"/>
            </a:avLst>
          </a:prstGeom>
          <a:noFill/>
          <a:ln cap="flat" cmpd="sng" w="9525">
            <a:solidFill>
              <a:schemeClr val="dk2"/>
            </a:solidFill>
            <a:prstDash val="solid"/>
            <a:round/>
            <a:headEnd len="med" w="med" type="none"/>
            <a:tailEnd len="med" w="med" type="stealth"/>
          </a:ln>
        </p:spPr>
      </p:cxnSp>
      <p:cxnSp>
        <p:nvCxnSpPr>
          <p:cNvPr id="581" name="Google Shape;581;p44"/>
          <p:cNvCxnSpPr>
            <a:stCxn id="576" idx="1"/>
            <a:endCxn id="573" idx="1"/>
          </p:cNvCxnSpPr>
          <p:nvPr/>
        </p:nvCxnSpPr>
        <p:spPr>
          <a:xfrm flipH="1" rot="10800000">
            <a:off x="3392825" y="1175976"/>
            <a:ext cx="1134900" cy="2489100"/>
          </a:xfrm>
          <a:prstGeom prst="curvedConnector3">
            <a:avLst>
              <a:gd fmla="val -20982" name="adj1"/>
            </a:avLst>
          </a:prstGeom>
          <a:noFill/>
          <a:ln cap="flat" cmpd="sng" w="9525">
            <a:solidFill>
              <a:schemeClr val="dk2"/>
            </a:solidFill>
            <a:prstDash val="solid"/>
            <a:round/>
            <a:headEnd len="med" w="med" type="none"/>
            <a:tailEnd len="med" w="med" type="stealth"/>
          </a:ln>
        </p:spPr>
      </p:cxnSp>
      <p:sp>
        <p:nvSpPr>
          <p:cNvPr id="580" name="Google Shape;580;p44"/>
          <p:cNvSpPr txBox="1"/>
          <p:nvPr/>
        </p:nvSpPr>
        <p:spPr>
          <a:xfrm>
            <a:off x="7503038" y="4021825"/>
            <a:ext cx="65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lt1"/>
                </a:solidFill>
                <a:latin typeface="Montserrat"/>
                <a:ea typeface="Montserrat"/>
                <a:cs typeface="Montserrat"/>
                <a:sym typeface="Montserrat"/>
              </a:rPr>
              <a:t>q</a:t>
            </a:r>
            <a:endParaRPr sz="1800">
              <a:solidFill>
                <a:schemeClr val="lt1"/>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586" name="Shape 586"/>
        <p:cNvGrpSpPr/>
        <p:nvPr/>
      </p:nvGrpSpPr>
      <p:grpSpPr>
        <a:xfrm>
          <a:off x="0" y="0"/>
          <a:ext cx="0" cy="0"/>
          <a:chOff x="0" y="0"/>
          <a:chExt cx="0" cy="0"/>
        </a:xfrm>
      </p:grpSpPr>
      <p:sp>
        <p:nvSpPr>
          <p:cNvPr id="587" name="Google Shape;587;p4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ML : Training example</a:t>
            </a:r>
            <a:endParaRPr b="1" sz="2400">
              <a:solidFill>
                <a:srgbClr val="0F2B46"/>
              </a:solidFill>
              <a:latin typeface="Trebuchet MS"/>
              <a:ea typeface="Trebuchet MS"/>
              <a:cs typeface="Trebuchet MS"/>
              <a:sym typeface="Trebuchet MS"/>
            </a:endParaRPr>
          </a:p>
        </p:txBody>
      </p:sp>
      <p:sp>
        <p:nvSpPr>
          <p:cNvPr id="590" name="Google Shape;590;p45"/>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591" name="Google Shape;591;p45"/>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592" name="Google Shape;592;p45"/>
          <p:cNvPicPr preferRelativeResize="0"/>
          <p:nvPr/>
        </p:nvPicPr>
        <p:blipFill>
          <a:blip r:embed="rId4">
            <a:alphaModFix/>
          </a:blip>
          <a:stretch>
            <a:fillRect/>
          </a:stretch>
        </p:blipFill>
        <p:spPr>
          <a:xfrm>
            <a:off x="4296100" y="868801"/>
            <a:ext cx="4415949" cy="2634876"/>
          </a:xfrm>
          <a:prstGeom prst="rect">
            <a:avLst/>
          </a:prstGeom>
          <a:noFill/>
          <a:ln>
            <a:noFill/>
          </a:ln>
        </p:spPr>
      </p:pic>
      <p:pic>
        <p:nvPicPr>
          <p:cNvPr id="593" name="Google Shape;593;p45"/>
          <p:cNvPicPr preferRelativeResize="0"/>
          <p:nvPr/>
        </p:nvPicPr>
        <p:blipFill>
          <a:blip r:embed="rId5">
            <a:alphaModFix/>
          </a:blip>
          <a:stretch>
            <a:fillRect/>
          </a:stretch>
        </p:blipFill>
        <p:spPr>
          <a:xfrm>
            <a:off x="431850" y="868800"/>
            <a:ext cx="3789450" cy="2634873"/>
          </a:xfrm>
          <a:prstGeom prst="rect">
            <a:avLst/>
          </a:prstGeom>
          <a:noFill/>
          <a:ln>
            <a:noFill/>
          </a:ln>
        </p:spPr>
      </p:pic>
      <p:sp>
        <p:nvSpPr>
          <p:cNvPr id="594" name="Google Shape;594;p45"/>
          <p:cNvSpPr txBox="1"/>
          <p:nvPr/>
        </p:nvSpPr>
        <p:spPr>
          <a:xfrm>
            <a:off x="474350" y="3896700"/>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30770"/>
              </a:lnSpc>
              <a:spcBef>
                <a:spcPts val="0"/>
              </a:spcBef>
              <a:spcAft>
                <a:spcPts val="0"/>
              </a:spcAft>
              <a:buNone/>
            </a:pPr>
            <a:r>
              <a:t/>
            </a:r>
            <a:endParaRPr sz="1000">
              <a:solidFill>
                <a:schemeClr val="dk1"/>
              </a:solidFill>
              <a:highlight>
                <a:srgbClr val="FFFFFF"/>
              </a:highlight>
              <a:latin typeface="Montserrat"/>
              <a:ea typeface="Montserrat"/>
              <a:cs typeface="Montserrat"/>
              <a:sym typeface="Montserrat"/>
            </a:endParaRPr>
          </a:p>
        </p:txBody>
      </p:sp>
      <p:sp>
        <p:nvSpPr>
          <p:cNvPr id="595" name="Google Shape;595;p45"/>
          <p:cNvSpPr txBox="1"/>
          <p:nvPr/>
        </p:nvSpPr>
        <p:spPr>
          <a:xfrm>
            <a:off x="1205013" y="3601763"/>
            <a:ext cx="18573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solidFill>
                  <a:schemeClr val="dk1"/>
                </a:solidFill>
                <a:latin typeface="Montserrat"/>
                <a:ea typeface="Montserrat"/>
                <a:cs typeface="Montserrat"/>
                <a:sym typeface="Montserrat"/>
              </a:rPr>
              <a:t>Initial Model </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a=-0.01, b=34.70</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rPr b="1" lang="fr" sz="1100">
                <a:solidFill>
                  <a:schemeClr val="dk1"/>
                </a:solidFill>
                <a:latin typeface="Montserrat"/>
                <a:ea typeface="Montserrat"/>
                <a:cs typeface="Montserrat"/>
                <a:sym typeface="Montserrat"/>
              </a:rPr>
              <a:t>Trained Model </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a=0.019, b=-23.47</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b="1" sz="1100">
              <a:solidFill>
                <a:schemeClr val="dk1"/>
              </a:solidFill>
              <a:latin typeface="Montserrat"/>
              <a:ea typeface="Montserrat"/>
              <a:cs typeface="Montserrat"/>
              <a:sym typeface="Montserrat"/>
            </a:endParaRPr>
          </a:p>
        </p:txBody>
      </p:sp>
      <p:sp>
        <p:nvSpPr>
          <p:cNvPr id="596" name="Google Shape;596;p45"/>
          <p:cNvSpPr txBox="1"/>
          <p:nvPr/>
        </p:nvSpPr>
        <p:spPr>
          <a:xfrm>
            <a:off x="2950930" y="3661075"/>
            <a:ext cx="2607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dk1"/>
              </a:solidFill>
              <a:latin typeface="Montserrat"/>
              <a:ea typeface="Montserrat"/>
              <a:cs typeface="Montserrat"/>
              <a:sym typeface="Montserrat"/>
            </a:endParaRPr>
          </a:p>
        </p:txBody>
      </p:sp>
      <p:sp>
        <p:nvSpPr>
          <p:cNvPr id="597" name="Google Shape;597;p45"/>
          <p:cNvSpPr txBox="1"/>
          <p:nvPr/>
        </p:nvSpPr>
        <p:spPr>
          <a:xfrm>
            <a:off x="3413822" y="3601775"/>
            <a:ext cx="40893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solidFill>
                  <a:schemeClr val="dk1"/>
                </a:solidFill>
                <a:latin typeface="Montserrat"/>
                <a:ea typeface="Montserrat"/>
                <a:cs typeface="Montserrat"/>
                <a:sym typeface="Montserrat"/>
              </a:rPr>
              <a:t>Initial model prediction </a:t>
            </a:r>
            <a:r>
              <a:rPr lang="fr" sz="1100">
                <a:solidFill>
                  <a:schemeClr val="dk1"/>
                </a:solidFill>
                <a:latin typeface="Montserrat"/>
                <a:ea typeface="Montserrat"/>
                <a:cs typeface="Montserrat"/>
                <a:sym typeface="Montserrat"/>
              </a:rPr>
              <a:t>for 2030</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-0.01 * 2030 + 34.70 = 14.4</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b="1" lang="fr" sz="1100">
                <a:solidFill>
                  <a:schemeClr val="dk1"/>
                </a:solidFill>
                <a:latin typeface="Montserrat"/>
                <a:ea typeface="Montserrat"/>
                <a:cs typeface="Montserrat"/>
                <a:sym typeface="Montserrat"/>
              </a:rPr>
              <a:t>Trained model prediction </a:t>
            </a:r>
            <a:r>
              <a:rPr lang="fr" sz="1100">
                <a:solidFill>
                  <a:schemeClr val="dk1"/>
                </a:solidFill>
                <a:latin typeface="Montserrat"/>
                <a:ea typeface="Montserrat"/>
                <a:cs typeface="Montserrat"/>
                <a:sym typeface="Montserrat"/>
              </a:rPr>
              <a:t>for 2030</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0.019 * 2030 - 23.47 = 15.1</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b="1" sz="1100">
              <a:solidFill>
                <a:schemeClr val="dk1"/>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02" name="Shape 602"/>
        <p:cNvGrpSpPr/>
        <p:nvPr/>
      </p:nvGrpSpPr>
      <p:grpSpPr>
        <a:xfrm>
          <a:off x="0" y="0"/>
          <a:ext cx="0" cy="0"/>
          <a:chOff x="0" y="0"/>
          <a:chExt cx="0" cy="0"/>
        </a:xfrm>
      </p:grpSpPr>
      <p:sp>
        <p:nvSpPr>
          <p:cNvPr id="603" name="Google Shape;603;p4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QUIZ : ML framework</a:t>
            </a:r>
            <a:endParaRPr b="1" sz="2400">
              <a:solidFill>
                <a:srgbClr val="0F2B46"/>
              </a:solidFill>
              <a:latin typeface="Trebuchet MS"/>
              <a:ea typeface="Trebuchet MS"/>
              <a:cs typeface="Trebuchet MS"/>
              <a:sym typeface="Trebuchet MS"/>
            </a:endParaRPr>
          </a:p>
        </p:txBody>
      </p:sp>
      <p:sp>
        <p:nvSpPr>
          <p:cNvPr id="606" name="Google Shape;606;p4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607" name="Google Shape;607;p46"/>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608" name="Google Shape;608;p46"/>
          <p:cNvPicPr preferRelativeResize="0"/>
          <p:nvPr/>
        </p:nvPicPr>
        <p:blipFill>
          <a:blip r:embed="rId4">
            <a:alphaModFix/>
          </a:blip>
          <a:stretch>
            <a:fillRect/>
          </a:stretch>
        </p:blipFill>
        <p:spPr>
          <a:xfrm>
            <a:off x="7975940" y="0"/>
            <a:ext cx="1168060" cy="868800"/>
          </a:xfrm>
          <a:prstGeom prst="rect">
            <a:avLst/>
          </a:prstGeom>
          <a:noFill/>
          <a:ln>
            <a:noFill/>
          </a:ln>
        </p:spPr>
      </p:pic>
      <p:sp>
        <p:nvSpPr>
          <p:cNvPr id="609" name="Google Shape;609;p46"/>
          <p:cNvSpPr txBox="1"/>
          <p:nvPr/>
        </p:nvSpPr>
        <p:spPr>
          <a:xfrm>
            <a:off x="685800" y="2522850"/>
            <a:ext cx="78522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What are the two dimensions that characterize data in machine learning?</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How are a models parameter values initialized?</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How to train a parametric model?</a:t>
            </a:r>
            <a:endParaRPr sz="16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614" name="Shape 614"/>
        <p:cNvGrpSpPr/>
        <p:nvPr/>
      </p:nvGrpSpPr>
      <p:grpSpPr>
        <a:xfrm>
          <a:off x="0" y="0"/>
          <a:ext cx="0" cy="0"/>
          <a:chOff x="0" y="0"/>
          <a:chExt cx="0" cy="0"/>
        </a:xfrm>
      </p:grpSpPr>
      <p:pic>
        <p:nvPicPr>
          <p:cNvPr id="615" name="Google Shape;615;p47"/>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616" name="Google Shape;616;p47"/>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Linear Regression</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21" name="Shape 621"/>
        <p:cNvGrpSpPr/>
        <p:nvPr/>
      </p:nvGrpSpPr>
      <p:grpSpPr>
        <a:xfrm>
          <a:off x="0" y="0"/>
          <a:ext cx="0" cy="0"/>
          <a:chOff x="0" y="0"/>
          <a:chExt cx="0" cy="0"/>
        </a:xfrm>
      </p:grpSpPr>
      <p:sp>
        <p:nvSpPr>
          <p:cNvPr id="622" name="Google Shape;622;p48"/>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8"/>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8"/>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Linear Regression: Setup</a:t>
            </a:r>
            <a:endParaRPr b="0" i="0" sz="2400" u="none" cap="none" strike="noStrike">
              <a:solidFill>
                <a:schemeClr val="dk1"/>
              </a:solidFill>
              <a:latin typeface="Calibri"/>
              <a:ea typeface="Calibri"/>
              <a:cs typeface="Calibri"/>
              <a:sym typeface="Calibri"/>
            </a:endParaRPr>
          </a:p>
        </p:txBody>
      </p:sp>
      <p:sp>
        <p:nvSpPr>
          <p:cNvPr id="625" name="Google Shape;625;p48"/>
          <p:cNvSpPr/>
          <p:nvPr/>
        </p:nvSpPr>
        <p:spPr>
          <a:xfrm>
            <a:off x="548640" y="1097280"/>
            <a:ext cx="8046600" cy="18288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8"/>
          <p:cNvSpPr/>
          <p:nvPr/>
        </p:nvSpPr>
        <p:spPr>
          <a:xfrm>
            <a:off x="822960" y="2103120"/>
            <a:ext cx="74982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80"/>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is the intercept (bias term)</a:t>
            </a:r>
            <a:endParaRPr b="0" i="0" sz="1400" u="none" cap="none" strike="noStrike">
              <a:solidFill>
                <a:schemeClr val="dk1"/>
              </a:solidFill>
              <a:latin typeface="Calibri"/>
              <a:ea typeface="Calibri"/>
              <a:cs typeface="Calibri"/>
              <a:sym typeface="Calibri"/>
            </a:endParaRPr>
          </a:p>
        </p:txBody>
      </p:sp>
      <p:sp>
        <p:nvSpPr>
          <p:cNvPr id="627" name="Google Shape;627;p48"/>
          <p:cNvSpPr/>
          <p:nvPr/>
        </p:nvSpPr>
        <p:spPr>
          <a:xfrm>
            <a:off x="548640" y="3200400"/>
            <a:ext cx="8046600" cy="12801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8"/>
          <p:cNvSpPr/>
          <p:nvPr/>
        </p:nvSpPr>
        <p:spPr>
          <a:xfrm>
            <a:off x="822960" y="3291840"/>
            <a:ext cx="74982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0" i="0" lang="fr" sz="1400" u="none" cap="none" strike="noStrike">
                <a:solidFill>
                  <a:srgbClr val="1A1A2E"/>
                </a:solidFill>
                <a:latin typeface="Calibri"/>
                <a:ea typeface="Calibri"/>
                <a:cs typeface="Calibri"/>
                <a:sym typeface="Calibri"/>
              </a:rPr>
              <a:t>Each </a:t>
            </a:r>
            <a:r>
              <a:rPr lang="fr">
                <a:solidFill>
                  <a:srgbClr val="1A1A2E"/>
                </a:solidFill>
                <a:latin typeface="Calibri"/>
                <a:ea typeface="Calibri"/>
                <a:cs typeface="Calibri"/>
                <a:sym typeface="Calibri"/>
              </a:rPr>
              <a:t>   </a:t>
            </a:r>
            <a:r>
              <a:rPr b="0" i="0" lang="fr" sz="1400" u="none" cap="none" strike="noStrike">
                <a:solidFill>
                  <a:srgbClr val="1A1A2E"/>
                </a:solidFill>
                <a:latin typeface="Calibri"/>
                <a:ea typeface="Calibri"/>
                <a:cs typeface="Calibri"/>
                <a:sym typeface="Calibri"/>
              </a:rPr>
              <a:t> represents the effect of feature </a:t>
            </a:r>
            <a:r>
              <a:rPr lang="fr">
                <a:solidFill>
                  <a:srgbClr val="1A1A2E"/>
                </a:solidFill>
                <a:latin typeface="Calibri"/>
                <a:ea typeface="Calibri"/>
                <a:cs typeface="Calibri"/>
                <a:sym typeface="Calibri"/>
              </a:rPr>
              <a:t>j</a:t>
            </a:r>
            <a:r>
              <a:rPr b="0" i="0" lang="fr" sz="1400" u="none" cap="none" strike="noStrike">
                <a:solidFill>
                  <a:srgbClr val="1A1A2E"/>
                </a:solidFill>
                <a:latin typeface="Calibri"/>
                <a:ea typeface="Calibri"/>
                <a:cs typeface="Calibri"/>
                <a:sym typeface="Calibri"/>
              </a:rPr>
              <a:t> on the prediction. Simple, interpretable, and a powerful baseline.</a:t>
            </a:r>
            <a:endParaRPr b="0" i="0" sz="1400" u="none" cap="none" strike="noStrike">
              <a:solidFill>
                <a:schemeClr val="dk1"/>
              </a:solidFill>
              <a:latin typeface="Calibri"/>
              <a:ea typeface="Calibri"/>
              <a:cs typeface="Calibri"/>
              <a:sym typeface="Calibri"/>
            </a:endParaRPr>
          </a:p>
        </p:txBody>
      </p:sp>
      <p:pic>
        <p:nvPicPr>
          <p:cNvPr id="629" name="Google Shape;629;p48" title="{&quot;red&quot;:15,&quot;green&quot;:43,&quot;blue&quot;:70,&quot;origURL&quot;:&quot;https://www.codecogs.com/eqnedit.php?latex=%5Chat%7By%7D%20%3D%20%5Ctheta_0%20%2B%20%5Ctheta_1%20x_1%20%2B%20%5Ctheta_2%20x_2%20%2B%20%5Cldots%20%2B%20%5Ctheta_p%20x_p%20%3D%20%5Ctheta%5ET%20x#0&quot;,&quot;size&quot;:20,&quot;width&quot;:236.2204724409449,&quot;height&quot;:111.49606299212599}"/>
          <p:cNvPicPr preferRelativeResize="0"/>
          <p:nvPr/>
        </p:nvPicPr>
        <p:blipFill>
          <a:blip r:embed="rId3">
            <a:alphaModFix/>
          </a:blip>
          <a:stretch>
            <a:fillRect/>
          </a:stretch>
        </p:blipFill>
        <p:spPr>
          <a:xfrm>
            <a:off x="2036000" y="1522900"/>
            <a:ext cx="5491803" cy="371625"/>
          </a:xfrm>
          <a:prstGeom prst="rect">
            <a:avLst/>
          </a:prstGeom>
          <a:noFill/>
          <a:ln>
            <a:noFill/>
          </a:ln>
        </p:spPr>
      </p:pic>
      <p:pic>
        <p:nvPicPr>
          <p:cNvPr id="630" name="Google Shape;630;p48" title="{&quot;red&quot;:61,&quot;green&quot;:90,&quot;blue&quot;:128,&quot;origURL&quot;:&quot;https://www.codecogs.com/eqnedit.php?latex=%5Ctheta_0#0&quot;,&quot;size&quot;:14,&quot;width&quot;:236.2204724409449,&quot;height&quot;:31.511811023622048}"/>
          <p:cNvPicPr preferRelativeResize="0"/>
          <p:nvPr/>
        </p:nvPicPr>
        <p:blipFill>
          <a:blip r:embed="rId4">
            <a:alphaModFix/>
          </a:blip>
          <a:stretch>
            <a:fillRect/>
          </a:stretch>
        </p:blipFill>
        <p:spPr>
          <a:xfrm>
            <a:off x="3322574" y="2460788"/>
            <a:ext cx="149352" cy="173355"/>
          </a:xfrm>
          <a:prstGeom prst="rect">
            <a:avLst/>
          </a:prstGeom>
          <a:noFill/>
          <a:ln>
            <a:noFill/>
          </a:ln>
        </p:spPr>
      </p:pic>
      <p:pic>
        <p:nvPicPr>
          <p:cNvPr id="631" name="Google Shape;631;p48" title="{&quot;red&quot;:26,&quot;green&quot;:26,&quot;blue&quot;:46,&quot;origURL&quot;:&quot;https://www.codecogs.com/eqnedit.php?latex=%5Ctheta_j#0&quot;,&quot;size&quot;:14,&quot;width&quot;:236.2204724409449,&quot;height&quot;:31.511811023622048}"/>
          <p:cNvPicPr preferRelativeResize="0"/>
          <p:nvPr/>
        </p:nvPicPr>
        <p:blipFill>
          <a:blip r:embed="rId5">
            <a:alphaModFix/>
          </a:blip>
          <a:stretch>
            <a:fillRect/>
          </a:stretch>
        </p:blipFill>
        <p:spPr>
          <a:xfrm>
            <a:off x="1183550" y="3627563"/>
            <a:ext cx="140017" cy="197358"/>
          </a:xfrm>
          <a:prstGeom prst="rect">
            <a:avLst/>
          </a:prstGeom>
          <a:noFill/>
          <a:ln>
            <a:noFill/>
          </a:ln>
        </p:spPr>
      </p:pic>
      <p:sp>
        <p:nvSpPr>
          <p:cNvPr id="632" name="Google Shape;632;p48"/>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633" name="Google Shape;633;p48"/>
          <p:cNvPicPr preferRelativeResize="0"/>
          <p:nvPr/>
        </p:nvPicPr>
        <p:blipFill>
          <a:blip r:embed="rId6">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38" name="Shape 638"/>
        <p:cNvGrpSpPr/>
        <p:nvPr/>
      </p:nvGrpSpPr>
      <p:grpSpPr>
        <a:xfrm>
          <a:off x="0" y="0"/>
          <a:ext cx="0" cy="0"/>
          <a:chOff x="0" y="0"/>
          <a:chExt cx="0" cy="0"/>
        </a:xfrm>
      </p:grpSpPr>
      <p:sp>
        <p:nvSpPr>
          <p:cNvPr id="639" name="Google Shape;639;p49"/>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9"/>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9"/>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Geometric Intuition</a:t>
            </a:r>
            <a:endParaRPr b="0" i="0" sz="2400" u="none" cap="none" strike="noStrike">
              <a:solidFill>
                <a:schemeClr val="dk1"/>
              </a:solidFill>
              <a:latin typeface="Calibri"/>
              <a:ea typeface="Calibri"/>
              <a:cs typeface="Calibri"/>
              <a:sym typeface="Calibri"/>
            </a:endParaRPr>
          </a:p>
        </p:txBody>
      </p:sp>
      <p:sp>
        <p:nvSpPr>
          <p:cNvPr id="642" name="Google Shape;642;p49"/>
          <p:cNvSpPr/>
          <p:nvPr/>
        </p:nvSpPr>
        <p:spPr>
          <a:xfrm>
            <a:off x="548640" y="1097280"/>
            <a:ext cx="3749100" cy="3200400"/>
          </a:xfrm>
          <a:prstGeom prst="rect">
            <a:avLst/>
          </a:prstGeom>
          <a:solidFill>
            <a:srgbClr val="E2E8F0"/>
          </a:solidFill>
          <a:ln cap="flat" cmpd="sng" w="12700">
            <a:solidFill>
              <a:srgbClr val="8BA4B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9"/>
          <p:cNvSpPr/>
          <p:nvPr/>
        </p:nvSpPr>
        <p:spPr>
          <a:xfrm>
            <a:off x="4846320" y="1097280"/>
            <a:ext cx="3749100" cy="3200400"/>
          </a:xfrm>
          <a:prstGeom prst="rect">
            <a:avLst/>
          </a:prstGeom>
          <a:solidFill>
            <a:srgbClr val="E2E8F0"/>
          </a:solidFill>
          <a:ln cap="flat" cmpd="sng" w="12700">
            <a:solidFill>
              <a:srgbClr val="8BA4B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4" name="Google Shape;644;p49"/>
          <p:cNvPicPr preferRelativeResize="0"/>
          <p:nvPr/>
        </p:nvPicPr>
        <p:blipFill rotWithShape="1">
          <a:blip r:embed="rId3">
            <a:alphaModFix/>
          </a:blip>
          <a:srcRect b="0" l="48315" r="0" t="0"/>
          <a:stretch/>
        </p:blipFill>
        <p:spPr>
          <a:xfrm>
            <a:off x="4942228" y="1671162"/>
            <a:ext cx="3653023" cy="2098286"/>
          </a:xfrm>
          <a:prstGeom prst="rect">
            <a:avLst/>
          </a:prstGeom>
          <a:noFill/>
          <a:ln>
            <a:noFill/>
          </a:ln>
        </p:spPr>
      </p:pic>
      <p:pic>
        <p:nvPicPr>
          <p:cNvPr id="645" name="Google Shape;645;p49"/>
          <p:cNvPicPr preferRelativeResize="0"/>
          <p:nvPr/>
        </p:nvPicPr>
        <p:blipFill rotWithShape="1">
          <a:blip r:embed="rId3">
            <a:alphaModFix/>
          </a:blip>
          <a:srcRect b="0" l="0" r="55996" t="0"/>
          <a:stretch/>
        </p:blipFill>
        <p:spPr>
          <a:xfrm>
            <a:off x="939100" y="1671152"/>
            <a:ext cx="3110098" cy="2098286"/>
          </a:xfrm>
          <a:prstGeom prst="rect">
            <a:avLst/>
          </a:prstGeom>
          <a:noFill/>
          <a:ln>
            <a:noFill/>
          </a:ln>
        </p:spPr>
      </p:pic>
      <p:sp>
        <p:nvSpPr>
          <p:cNvPr id="646" name="Google Shape;646;p49"/>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647" name="Google Shape;647;p49"/>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52" name="Shape 652"/>
        <p:cNvGrpSpPr/>
        <p:nvPr/>
      </p:nvGrpSpPr>
      <p:grpSpPr>
        <a:xfrm>
          <a:off x="0" y="0"/>
          <a:ext cx="0" cy="0"/>
          <a:chOff x="0" y="0"/>
          <a:chExt cx="0" cy="0"/>
        </a:xfrm>
      </p:grpSpPr>
      <p:sp>
        <p:nvSpPr>
          <p:cNvPr id="653" name="Google Shape;653;p50"/>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0"/>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Loss </a:t>
            </a:r>
            <a:r>
              <a:rPr b="1" lang="fr" sz="2400">
                <a:solidFill>
                  <a:srgbClr val="0F2B46"/>
                </a:solidFill>
                <a:latin typeface="Trebuchet MS"/>
                <a:ea typeface="Trebuchet MS"/>
                <a:cs typeface="Trebuchet MS"/>
                <a:sym typeface="Trebuchet MS"/>
              </a:rPr>
              <a:t>Choice</a:t>
            </a:r>
            <a:endParaRPr b="0" i="0" sz="2400" u="none" cap="none" strike="noStrike">
              <a:solidFill>
                <a:schemeClr val="dk1"/>
              </a:solidFill>
              <a:latin typeface="Calibri"/>
              <a:ea typeface="Calibri"/>
              <a:cs typeface="Calibri"/>
              <a:sym typeface="Calibri"/>
            </a:endParaRPr>
          </a:p>
        </p:txBody>
      </p:sp>
      <p:sp>
        <p:nvSpPr>
          <p:cNvPr id="656" name="Google Shape;656;p50"/>
          <p:cNvSpPr txBox="1"/>
          <p:nvPr/>
        </p:nvSpPr>
        <p:spPr>
          <a:xfrm>
            <a:off x="323350" y="1990700"/>
            <a:ext cx="3000000" cy="105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 sz="1100">
                <a:solidFill>
                  <a:schemeClr val="dk1"/>
                </a:solidFill>
                <a:latin typeface="Montserrat"/>
                <a:ea typeface="Montserrat"/>
                <a:cs typeface="Montserrat"/>
                <a:sym typeface="Montserrat"/>
              </a:rPr>
              <a:t>Mean Squared Error (MSE):</a:t>
            </a:r>
            <a:r>
              <a:rPr lang="fr" sz="1100">
                <a:solidFill>
                  <a:schemeClr val="dk1"/>
                </a:solidFill>
                <a:latin typeface="Montserrat"/>
                <a:ea typeface="Montserrat"/>
                <a:cs typeface="Montserrat"/>
                <a:sym typeface="Montserrat"/>
              </a:rPr>
              <a:t> </a:t>
            </a:r>
            <a:endParaRPr sz="1100">
              <a:solidFill>
                <a:schemeClr val="dk1"/>
              </a:solidFill>
              <a:latin typeface="Montserrat"/>
              <a:ea typeface="Montserrat"/>
              <a:cs typeface="Montserrat"/>
              <a:sym typeface="Montserrat"/>
            </a:endParaRPr>
          </a:p>
          <a:p>
            <a:pPr indent="0" lvl="0" marL="0" rtl="0" algn="l">
              <a:lnSpc>
                <a:spcPct val="115000"/>
              </a:lnSpc>
              <a:spcBef>
                <a:spcPts val="1200"/>
              </a:spcBef>
              <a:spcAft>
                <a:spcPts val="0"/>
              </a:spcAft>
              <a:buNone/>
            </a:pPr>
            <a:r>
              <a:t/>
            </a:r>
            <a:endParaRPr sz="1100">
              <a:solidFill>
                <a:schemeClr val="dk1"/>
              </a:solidFill>
              <a:latin typeface="Montserrat"/>
              <a:ea typeface="Montserrat"/>
              <a:cs typeface="Montserrat"/>
              <a:sym typeface="Montserrat"/>
            </a:endParaRPr>
          </a:p>
          <a:p>
            <a:pPr indent="0" lvl="0" marL="0" rtl="0" algn="l">
              <a:lnSpc>
                <a:spcPct val="115000"/>
              </a:lnSpc>
              <a:spcBef>
                <a:spcPts val="1200"/>
              </a:spcBef>
              <a:spcAft>
                <a:spcPts val="1200"/>
              </a:spcAft>
              <a:buNone/>
            </a:pPr>
            <a:r>
              <a:rPr b="1" lang="fr" sz="1100">
                <a:solidFill>
                  <a:schemeClr val="dk1"/>
                </a:solidFill>
                <a:latin typeface="Montserrat"/>
                <a:ea typeface="Montserrat"/>
                <a:cs typeface="Montserrat"/>
                <a:sym typeface="Montserrat"/>
              </a:rPr>
              <a:t>Mean Absolute Error (MAE):</a:t>
            </a:r>
            <a:r>
              <a:rPr lang="fr" sz="1100">
                <a:solidFill>
                  <a:schemeClr val="dk1"/>
                </a:solidFill>
                <a:latin typeface="Montserrat"/>
                <a:ea typeface="Montserrat"/>
                <a:cs typeface="Montserrat"/>
                <a:sym typeface="Montserrat"/>
              </a:rPr>
              <a:t> </a:t>
            </a:r>
            <a:endParaRPr>
              <a:latin typeface="Montserrat"/>
              <a:ea typeface="Montserrat"/>
              <a:cs typeface="Montserrat"/>
              <a:sym typeface="Montserrat"/>
            </a:endParaRPr>
          </a:p>
        </p:txBody>
      </p:sp>
      <p:pic>
        <p:nvPicPr>
          <p:cNvPr id="657" name="Google Shape;657;p50" title="{&quot;red&quot;:0,&quot;green&quot;:0,&quot;blue&quot;:0,&quot;origURL&quot;:&quot;https://www.codecogs.com/eqnedit.php?latex=%5Cell_%7BMAE%7D(y%2C%20%5Chat%7By%7D)%20%3D%20%5Cfrac%7B1%7D%7Bn%7D%20%5Csum_%7Bi%3D1%7D%5E%7Bn%7D%20%7Cy_i%20-%20%5Chat%7By%7D_i%7C#0&quot;,&quot;size&quot;:11,&quot;width&quot;:236.2204724409449,&quot;height&quot;:43.20472440944882}"/>
          <p:cNvPicPr preferRelativeResize="0"/>
          <p:nvPr/>
        </p:nvPicPr>
        <p:blipFill>
          <a:blip r:embed="rId3">
            <a:alphaModFix/>
          </a:blip>
          <a:stretch>
            <a:fillRect/>
          </a:stretch>
        </p:blipFill>
        <p:spPr>
          <a:xfrm>
            <a:off x="398780" y="3185817"/>
            <a:ext cx="1665836" cy="161396"/>
          </a:xfrm>
          <a:prstGeom prst="rect">
            <a:avLst/>
          </a:prstGeom>
          <a:noFill/>
          <a:ln>
            <a:noFill/>
          </a:ln>
        </p:spPr>
      </p:pic>
      <p:pic>
        <p:nvPicPr>
          <p:cNvPr id="658" name="Google Shape;658;p50" title="{&quot;red&quot;:0,&quot;green&quot;:0,&quot;blue&quot;:0,&quot;origURL&quot;:&quot;https://www.codecogs.com/eqnedit.php?latex=%5Cell_%7BMSE%7D(y%2C%20%5Chat%7By%7D)%20%3D%20%5Cfrac%7B1%7D%7Bn%7D%20%5Csum_%7Bi%3D1%7D%5E%7Bn%7D%20(y_i%20-%20%5Chat%7By%7D_i)%5E2#0&quot;,&quot;size&quot;:11,&quot;width&quot;:236.2204724409449,&quot;height&quot;:43.20472440944882}"/>
          <p:cNvPicPr preferRelativeResize="0"/>
          <p:nvPr/>
        </p:nvPicPr>
        <p:blipFill>
          <a:blip r:embed="rId4">
            <a:alphaModFix/>
          </a:blip>
          <a:stretch>
            <a:fillRect/>
          </a:stretch>
        </p:blipFill>
        <p:spPr>
          <a:xfrm>
            <a:off x="398784" y="2438392"/>
            <a:ext cx="1665835" cy="155824"/>
          </a:xfrm>
          <a:prstGeom prst="rect">
            <a:avLst/>
          </a:prstGeom>
          <a:noFill/>
          <a:ln>
            <a:noFill/>
          </a:ln>
        </p:spPr>
      </p:pic>
      <p:pic>
        <p:nvPicPr>
          <p:cNvPr id="659" name="Google Shape;659;p50"/>
          <p:cNvPicPr preferRelativeResize="0"/>
          <p:nvPr/>
        </p:nvPicPr>
        <p:blipFill>
          <a:blip r:embed="rId5">
            <a:alphaModFix/>
          </a:blip>
          <a:stretch>
            <a:fillRect/>
          </a:stretch>
        </p:blipFill>
        <p:spPr>
          <a:xfrm>
            <a:off x="3961350" y="1325350"/>
            <a:ext cx="3700598" cy="2775448"/>
          </a:xfrm>
          <a:prstGeom prst="rect">
            <a:avLst/>
          </a:prstGeom>
          <a:noFill/>
          <a:ln>
            <a:noFill/>
          </a:ln>
        </p:spPr>
      </p:pic>
      <p:sp>
        <p:nvSpPr>
          <p:cNvPr id="660" name="Google Shape;660;p50"/>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661" name="Google Shape;661;p50"/>
          <p:cNvPicPr preferRelativeResize="0"/>
          <p:nvPr/>
        </p:nvPicPr>
        <p:blipFill>
          <a:blip r:embed="rId6">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66" name="Shape 666"/>
        <p:cNvGrpSpPr/>
        <p:nvPr/>
      </p:nvGrpSpPr>
      <p:grpSpPr>
        <a:xfrm>
          <a:off x="0" y="0"/>
          <a:ext cx="0" cy="0"/>
          <a:chOff x="0" y="0"/>
          <a:chExt cx="0" cy="0"/>
        </a:xfrm>
      </p:grpSpPr>
      <p:sp>
        <p:nvSpPr>
          <p:cNvPr id="667" name="Google Shape;667;p51"/>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1"/>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51"/>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Visual: Residuals</a:t>
            </a:r>
            <a:endParaRPr b="0" i="0" sz="2400" u="none" cap="none" strike="noStrike">
              <a:solidFill>
                <a:schemeClr val="dk1"/>
              </a:solidFill>
              <a:latin typeface="Calibri"/>
              <a:ea typeface="Calibri"/>
              <a:cs typeface="Calibri"/>
              <a:sym typeface="Calibri"/>
            </a:endParaRPr>
          </a:p>
        </p:txBody>
      </p:sp>
      <p:pic>
        <p:nvPicPr>
          <p:cNvPr id="670" name="Google Shape;670;p51"/>
          <p:cNvPicPr preferRelativeResize="0"/>
          <p:nvPr/>
        </p:nvPicPr>
        <p:blipFill rotWithShape="1">
          <a:blip r:embed="rId3">
            <a:alphaModFix/>
          </a:blip>
          <a:srcRect b="0" l="0" r="0" t="19055"/>
          <a:stretch/>
        </p:blipFill>
        <p:spPr>
          <a:xfrm>
            <a:off x="4571988" y="1854225"/>
            <a:ext cx="4581525" cy="2374775"/>
          </a:xfrm>
          <a:prstGeom prst="rect">
            <a:avLst/>
          </a:prstGeom>
          <a:noFill/>
          <a:ln>
            <a:noFill/>
          </a:ln>
        </p:spPr>
      </p:pic>
      <p:pic>
        <p:nvPicPr>
          <p:cNvPr id="671" name="Google Shape;671;p51"/>
          <p:cNvPicPr preferRelativeResize="0"/>
          <p:nvPr/>
        </p:nvPicPr>
        <p:blipFill>
          <a:blip r:embed="rId4">
            <a:alphaModFix/>
          </a:blip>
          <a:stretch>
            <a:fillRect/>
          </a:stretch>
        </p:blipFill>
        <p:spPr>
          <a:xfrm>
            <a:off x="144450" y="1426949"/>
            <a:ext cx="4290502" cy="2906800"/>
          </a:xfrm>
          <a:prstGeom prst="rect">
            <a:avLst/>
          </a:prstGeom>
          <a:noFill/>
          <a:ln>
            <a:noFill/>
          </a:ln>
        </p:spPr>
      </p:pic>
      <p:sp>
        <p:nvSpPr>
          <p:cNvPr id="672" name="Google Shape;672;p51"/>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673" name="Google Shape;673;p51"/>
          <p:cNvPicPr preferRelativeResize="0"/>
          <p:nvPr/>
        </p:nvPicPr>
        <p:blipFill>
          <a:blip r:embed="rId5">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78" name="Shape 678"/>
        <p:cNvGrpSpPr/>
        <p:nvPr/>
      </p:nvGrpSpPr>
      <p:grpSpPr>
        <a:xfrm>
          <a:off x="0" y="0"/>
          <a:ext cx="0" cy="0"/>
          <a:chOff x="0" y="0"/>
          <a:chExt cx="0" cy="0"/>
        </a:xfrm>
      </p:grpSpPr>
      <p:sp>
        <p:nvSpPr>
          <p:cNvPr id="679" name="Google Shape;679;p52"/>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2"/>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2"/>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Linear Regression in scikit-learn</a:t>
            </a:r>
            <a:endParaRPr b="0" i="0" sz="2400" u="none" cap="none" strike="noStrike">
              <a:solidFill>
                <a:schemeClr val="dk1"/>
              </a:solidFill>
              <a:latin typeface="Calibri"/>
              <a:ea typeface="Calibri"/>
              <a:cs typeface="Calibri"/>
              <a:sym typeface="Calibri"/>
            </a:endParaRPr>
          </a:p>
        </p:txBody>
      </p:sp>
      <p:sp>
        <p:nvSpPr>
          <p:cNvPr id="682" name="Google Shape;682;p52"/>
          <p:cNvSpPr/>
          <p:nvPr/>
        </p:nvSpPr>
        <p:spPr>
          <a:xfrm>
            <a:off x="548640" y="1097280"/>
            <a:ext cx="8046600" cy="2011800"/>
          </a:xfrm>
          <a:prstGeom prst="rect">
            <a:avLst/>
          </a:prstGeom>
          <a:solidFill>
            <a:srgbClr val="1E293B"/>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p:nvPr/>
        </p:nvSpPr>
        <p:spPr>
          <a:xfrm>
            <a:off x="685800" y="1188720"/>
            <a:ext cx="77724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from sklearn.linear_model import LinearRegression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model = LinearRegression()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model.fit(X_train, y_train)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y_pred = model.predict(X_test)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print(model.coef_, model.intercept_)</a:t>
            </a:r>
            <a:endParaRPr b="0" i="0" sz="1100" u="none" cap="none" strike="noStrike">
              <a:solidFill>
                <a:schemeClr val="dk1"/>
              </a:solidFill>
              <a:latin typeface="Calibri"/>
              <a:ea typeface="Calibri"/>
              <a:cs typeface="Calibri"/>
              <a:sym typeface="Calibri"/>
            </a:endParaRPr>
          </a:p>
        </p:txBody>
      </p:sp>
      <p:sp>
        <p:nvSpPr>
          <p:cNvPr id="684" name="Google Shape;684;p52"/>
          <p:cNvSpPr/>
          <p:nvPr/>
        </p:nvSpPr>
        <p:spPr>
          <a:xfrm>
            <a:off x="548640" y="3383280"/>
            <a:ext cx="8046600" cy="10974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52"/>
          <p:cNvSpPr/>
          <p:nvPr/>
        </p:nvSpPr>
        <p:spPr>
          <a:xfrm>
            <a:off x="822960" y="3474720"/>
            <a:ext cx="7498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sklearn uses the normal equation internally (numerically stable variant).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API pattern: fit() → predict() — same for every model in the course.</a:t>
            </a:r>
            <a:endParaRPr b="0" i="0" sz="1400" u="none" cap="none" strike="noStrike">
              <a:solidFill>
                <a:schemeClr val="dk1"/>
              </a:solidFill>
              <a:latin typeface="Calibri"/>
              <a:ea typeface="Calibri"/>
              <a:cs typeface="Calibri"/>
              <a:sym typeface="Calibri"/>
            </a:endParaRPr>
          </a:p>
        </p:txBody>
      </p:sp>
      <p:sp>
        <p:nvSpPr>
          <p:cNvPr id="686" name="Google Shape;686;p52"/>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687" name="Google Shape;687;p52"/>
          <p:cNvPicPr preferRelativeResize="0"/>
          <p:nvPr/>
        </p:nvPicPr>
        <p:blipFill>
          <a:blip r:embed="rId3">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692" name="Shape 692"/>
        <p:cNvGrpSpPr/>
        <p:nvPr/>
      </p:nvGrpSpPr>
      <p:grpSpPr>
        <a:xfrm>
          <a:off x="0" y="0"/>
          <a:ext cx="0" cy="0"/>
          <a:chOff x="0" y="0"/>
          <a:chExt cx="0" cy="0"/>
        </a:xfrm>
      </p:grpSpPr>
      <p:sp>
        <p:nvSpPr>
          <p:cNvPr id="693" name="Google Shape;693;p53"/>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53"/>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3"/>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Example: Housing Dataset</a:t>
            </a:r>
            <a:endParaRPr b="0" i="0" sz="2400" u="none" cap="none" strike="noStrike">
              <a:solidFill>
                <a:schemeClr val="dk1"/>
              </a:solidFill>
              <a:latin typeface="Calibri"/>
              <a:ea typeface="Calibri"/>
              <a:cs typeface="Calibri"/>
              <a:sym typeface="Calibri"/>
            </a:endParaRPr>
          </a:p>
        </p:txBody>
      </p:sp>
      <p:graphicFrame>
        <p:nvGraphicFramePr>
          <p:cNvPr id="696" name="Google Shape;696;p53"/>
          <p:cNvGraphicFramePr/>
          <p:nvPr/>
        </p:nvGraphicFramePr>
        <p:xfrm>
          <a:off x="731520" y="1097280"/>
          <a:ext cx="3000000" cy="3000000"/>
        </p:xfrm>
        <a:graphic>
          <a:graphicData uri="http://schemas.openxmlformats.org/drawingml/2006/table">
            <a:tbl>
              <a:tblPr>
                <a:noFill/>
                <a:tableStyleId>{96C519A4-8B63-471A-9573-9005C2BE45B1}</a:tableStyleId>
              </a:tblPr>
              <a:tblGrid>
                <a:gridCol w="1920250"/>
                <a:gridCol w="1371600"/>
                <a:gridCol w="2468875"/>
                <a:gridCol w="1920250"/>
              </a:tblGrid>
              <a:tr h="457200">
                <a:tc>
                  <a:txBody>
                    <a:bodyPr/>
                    <a:lstStyle/>
                    <a:p>
                      <a:pPr indent="0" lvl="0" marL="0" marR="0" rtl="0" algn="ctr">
                        <a:spcBef>
                          <a:spcPts val="0"/>
                        </a:spcBef>
                        <a:spcAft>
                          <a:spcPts val="0"/>
                        </a:spcAft>
                        <a:buClr>
                          <a:srgbClr val="FFFFFF"/>
                        </a:buClr>
                        <a:buSzPts val="1200"/>
                        <a:buFont typeface="Trebuchet MS"/>
                        <a:buNone/>
                      </a:pPr>
                      <a:r>
                        <a:rPr b="1" lang="fr" sz="1200" u="none" cap="none" strike="noStrike">
                          <a:solidFill>
                            <a:srgbClr val="FFFFFF"/>
                          </a:solidFill>
                          <a:latin typeface="Trebuchet MS"/>
                          <a:ea typeface="Trebuchet MS"/>
                          <a:cs typeface="Trebuchet MS"/>
                          <a:sym typeface="Trebuchet MS"/>
                        </a:rPr>
                        <a:t>Surface (m²)</a:t>
                      </a:r>
                      <a:endParaRPr sz="1200" u="none" cap="none" strike="noStrike">
                        <a:latin typeface="Trebuchet MS"/>
                        <a:ea typeface="Trebuchet MS"/>
                        <a:cs typeface="Trebuchet MS"/>
                        <a:sym typeface="Trebuchet MS"/>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0F2B46"/>
                    </a:solidFill>
                  </a:tcPr>
                </a:tc>
                <a:tc>
                  <a:txBody>
                    <a:bodyPr/>
                    <a:lstStyle/>
                    <a:p>
                      <a:pPr indent="0" lvl="0" marL="0" marR="0" rtl="0" algn="ctr">
                        <a:spcBef>
                          <a:spcPts val="0"/>
                        </a:spcBef>
                        <a:spcAft>
                          <a:spcPts val="0"/>
                        </a:spcAft>
                        <a:buClr>
                          <a:srgbClr val="FFFFFF"/>
                        </a:buClr>
                        <a:buSzPts val="1200"/>
                        <a:buFont typeface="Trebuchet MS"/>
                        <a:buNone/>
                      </a:pPr>
                      <a:r>
                        <a:rPr b="1" lang="fr" sz="1200" u="none" cap="none" strike="noStrike">
                          <a:solidFill>
                            <a:srgbClr val="FFFFFF"/>
                          </a:solidFill>
                          <a:latin typeface="Trebuchet MS"/>
                          <a:ea typeface="Trebuchet MS"/>
                          <a:cs typeface="Trebuchet MS"/>
                          <a:sym typeface="Trebuchet MS"/>
                        </a:rPr>
                        <a:t>Rooms</a:t>
                      </a:r>
                      <a:endParaRPr sz="1200" u="none" cap="none" strike="noStrike">
                        <a:latin typeface="Trebuchet MS"/>
                        <a:ea typeface="Trebuchet MS"/>
                        <a:cs typeface="Trebuchet MS"/>
                        <a:sym typeface="Trebuchet MS"/>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0F2B46"/>
                    </a:solidFill>
                  </a:tcPr>
                </a:tc>
                <a:tc>
                  <a:txBody>
                    <a:bodyPr/>
                    <a:lstStyle/>
                    <a:p>
                      <a:pPr indent="0" lvl="0" marL="0" marR="0" rtl="0" algn="ctr">
                        <a:spcBef>
                          <a:spcPts val="0"/>
                        </a:spcBef>
                        <a:spcAft>
                          <a:spcPts val="0"/>
                        </a:spcAft>
                        <a:buClr>
                          <a:srgbClr val="FFFFFF"/>
                        </a:buClr>
                        <a:buSzPts val="1200"/>
                        <a:buFont typeface="Trebuchet MS"/>
                        <a:buNone/>
                      </a:pPr>
                      <a:r>
                        <a:rPr b="1" lang="fr" sz="1200" u="none" cap="none" strike="noStrike">
                          <a:solidFill>
                            <a:srgbClr val="FFFFFF"/>
                          </a:solidFill>
                          <a:latin typeface="Trebuchet MS"/>
                          <a:ea typeface="Trebuchet MS"/>
                          <a:cs typeface="Trebuchet MS"/>
                          <a:sym typeface="Trebuchet MS"/>
                        </a:rPr>
                        <a:t>Dist. center (km)</a:t>
                      </a:r>
                      <a:endParaRPr sz="1200" u="none" cap="none" strike="noStrike">
                        <a:latin typeface="Trebuchet MS"/>
                        <a:ea typeface="Trebuchet MS"/>
                        <a:cs typeface="Trebuchet MS"/>
                        <a:sym typeface="Trebuchet MS"/>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0F2B46"/>
                    </a:solidFill>
                  </a:tcPr>
                </a:tc>
                <a:tc>
                  <a:txBody>
                    <a:bodyPr/>
                    <a:lstStyle/>
                    <a:p>
                      <a:pPr indent="0" lvl="0" marL="0" marR="0" rtl="0" algn="ctr">
                        <a:spcBef>
                          <a:spcPts val="0"/>
                        </a:spcBef>
                        <a:spcAft>
                          <a:spcPts val="0"/>
                        </a:spcAft>
                        <a:buClr>
                          <a:srgbClr val="FFFFFF"/>
                        </a:buClr>
                        <a:buSzPts val="1200"/>
                        <a:buFont typeface="Trebuchet MS"/>
                        <a:buNone/>
                      </a:pPr>
                      <a:r>
                        <a:rPr b="1" lang="fr" sz="1200" u="none" cap="none" strike="noStrike">
                          <a:solidFill>
                            <a:srgbClr val="FFFFFF"/>
                          </a:solidFill>
                          <a:latin typeface="Trebuchet MS"/>
                          <a:ea typeface="Trebuchet MS"/>
                          <a:cs typeface="Trebuchet MS"/>
                          <a:sym typeface="Trebuchet MS"/>
                        </a:rPr>
                        <a:t>Price (€)</a:t>
                      </a:r>
                      <a:endParaRPr sz="1200" u="none" cap="none" strike="noStrike">
                        <a:latin typeface="Trebuchet MS"/>
                        <a:ea typeface="Trebuchet MS"/>
                        <a:cs typeface="Trebuchet MS"/>
                        <a:sym typeface="Trebuchet MS"/>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4A442"/>
                    </a:solidFill>
                  </a:tcPr>
                </a:tc>
              </a:tr>
              <a:tr h="411475">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55</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3.2</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b="1" lang="fr" sz="1200" u="none" cap="none" strike="noStrike">
                          <a:solidFill>
                            <a:srgbClr val="1A1A2E"/>
                          </a:solidFill>
                          <a:latin typeface="Calibri"/>
                          <a:ea typeface="Calibri"/>
                          <a:cs typeface="Calibri"/>
                          <a:sym typeface="Calibri"/>
                        </a:rPr>
                        <a:t>185,000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3E0"/>
                    </a:solidFill>
                  </a:tcPr>
                </a:tc>
              </a:tr>
              <a:tr h="411475">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80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3</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1.5</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b="1" lang="fr" sz="1200" u="none" cap="none" strike="noStrike">
                          <a:solidFill>
                            <a:srgbClr val="1A1A2E"/>
                          </a:solidFill>
                          <a:latin typeface="Calibri"/>
                          <a:ea typeface="Calibri"/>
                          <a:cs typeface="Calibri"/>
                          <a:sym typeface="Calibri"/>
                        </a:rPr>
                        <a:t>320,000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3E0"/>
                    </a:solidFill>
                  </a:tcPr>
                </a:tc>
              </a:tr>
              <a:tr h="411475">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120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4</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5.0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b="1" lang="fr" sz="1200" u="none" cap="none" strike="noStrike">
                          <a:solidFill>
                            <a:srgbClr val="1A1A2E"/>
                          </a:solidFill>
                          <a:latin typeface="Calibri"/>
                          <a:ea typeface="Calibri"/>
                          <a:cs typeface="Calibri"/>
                          <a:sym typeface="Calibri"/>
                        </a:rPr>
                        <a:t>280,000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3E0"/>
                    </a:solidFill>
                  </a:tcPr>
                </a:tc>
              </a:tr>
              <a:tr h="411475">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45</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0.8</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b="1" lang="fr" sz="1200" u="none" cap="none" strike="noStrike">
                          <a:solidFill>
                            <a:srgbClr val="1A1A2E"/>
                          </a:solidFill>
                          <a:latin typeface="Calibri"/>
                          <a:ea typeface="Calibri"/>
                          <a:cs typeface="Calibri"/>
                          <a:sym typeface="Calibri"/>
                        </a:rPr>
                        <a:t>250,000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3E0"/>
                    </a:solidFill>
                  </a:tcPr>
                </a:tc>
              </a:tr>
              <a:tr h="411475">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95</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3</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lang="fr" sz="1200" u="none" cap="none" strike="noStrike">
                          <a:solidFill>
                            <a:srgbClr val="1A1A2E"/>
                          </a:solidFill>
                          <a:latin typeface="Calibri"/>
                          <a:ea typeface="Calibri"/>
                          <a:cs typeface="Calibri"/>
                          <a:sym typeface="Calibri"/>
                        </a:rPr>
                        <a:t>2.1</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A1A2E"/>
                        </a:buClr>
                        <a:buSzPts val="1200"/>
                        <a:buFont typeface="Calibri"/>
                        <a:buNone/>
                      </a:pPr>
                      <a:r>
                        <a:rPr b="1" lang="fr" sz="1200" u="none" cap="none" strike="noStrike">
                          <a:solidFill>
                            <a:srgbClr val="1A1A2E"/>
                          </a:solidFill>
                          <a:latin typeface="Calibri"/>
                          <a:ea typeface="Calibri"/>
                          <a:cs typeface="Calibri"/>
                          <a:sym typeface="Calibri"/>
                        </a:rPr>
                        <a:t>350,000</a:t>
                      </a:r>
                      <a:endParaRPr sz="1200" u="none" cap="none" strike="noStrike">
                        <a:latin typeface="Calibri"/>
                        <a:ea typeface="Calibri"/>
                        <a:cs typeface="Calibri"/>
                        <a:sym typeface="Calibri"/>
                      </a:endParaRPr>
                    </a:p>
                  </a:txBody>
                  <a:tcPr marT="45725" marB="45725" marR="91450" marL="91450" anchor="ctr">
                    <a:lnL cap="flat" cmpd="sng" w="9525">
                      <a:solidFill>
                        <a:srgbClr val="D0D5DD"/>
                      </a:solidFill>
                      <a:prstDash val="solid"/>
                      <a:round/>
                      <a:headEnd len="sm" w="sm" type="none"/>
                      <a:tailEnd len="sm" w="sm" type="none"/>
                    </a:lnL>
                    <a:lnR cap="flat" cmpd="sng" w="9525">
                      <a:solidFill>
                        <a:srgbClr val="D0D5DD"/>
                      </a:solidFill>
                      <a:prstDash val="solid"/>
                      <a:round/>
                      <a:headEnd len="sm" w="sm" type="none"/>
                      <a:tailEnd len="sm" w="sm" type="none"/>
                    </a:lnR>
                    <a:lnT cap="flat" cmpd="sng" w="9525">
                      <a:solidFill>
                        <a:srgbClr val="D0D5DD"/>
                      </a:solidFill>
                      <a:prstDash val="solid"/>
                      <a:round/>
                      <a:headEnd len="sm" w="sm" type="none"/>
                      <a:tailEnd len="sm" w="sm" type="none"/>
                    </a:lnT>
                    <a:lnB cap="flat" cmpd="sng" w="9525">
                      <a:solidFill>
                        <a:srgbClr val="D0D5DD"/>
                      </a:solidFill>
                      <a:prstDash val="solid"/>
                      <a:round/>
                      <a:headEnd len="sm" w="sm" type="none"/>
                      <a:tailEnd len="sm" w="sm" type="none"/>
                    </a:lnB>
                    <a:solidFill>
                      <a:srgbClr val="FFF3E0"/>
                    </a:solidFill>
                  </a:tcPr>
                </a:tc>
              </a:tr>
            </a:tbl>
          </a:graphicData>
        </a:graphic>
      </p:graphicFrame>
      <p:sp>
        <p:nvSpPr>
          <p:cNvPr id="697" name="Google Shape;697;p53"/>
          <p:cNvSpPr/>
          <p:nvPr/>
        </p:nvSpPr>
        <p:spPr>
          <a:xfrm>
            <a:off x="731520" y="3840480"/>
            <a:ext cx="76809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400"/>
              <a:buFont typeface="Calibri"/>
              <a:buNone/>
            </a:pPr>
            <a:r>
              <a:rPr b="1" i="0" lang="fr" sz="1400" u="none" cap="none" strike="noStrike">
                <a:solidFill>
                  <a:srgbClr val="0F2B46"/>
                </a:solidFill>
                <a:latin typeface="Calibri"/>
                <a:ea typeface="Calibri"/>
                <a:cs typeface="Calibri"/>
                <a:sym typeface="Calibri"/>
              </a:rPr>
              <a:t>Features X = </a:t>
            </a:r>
            <a:r>
              <a:rPr b="0" i="0" lang="fr" sz="1400" u="none" cap="none" strike="noStrike">
                <a:solidFill>
                  <a:srgbClr val="1A1A2E"/>
                </a:solidFill>
                <a:latin typeface="Calibri"/>
                <a:ea typeface="Calibri"/>
                <a:cs typeface="Calibri"/>
                <a:sym typeface="Calibri"/>
              </a:rPr>
              <a:t>[surface, rooms, distance]    </a:t>
            </a:r>
            <a:r>
              <a:rPr b="1" i="0" lang="fr" sz="1400" u="none" cap="none" strike="noStrike">
                <a:solidFill>
                  <a:srgbClr val="F4A442"/>
                </a:solidFill>
                <a:latin typeface="Calibri"/>
                <a:ea typeface="Calibri"/>
                <a:cs typeface="Calibri"/>
                <a:sym typeface="Calibri"/>
              </a:rPr>
              <a:t>Target y = </a:t>
            </a:r>
            <a:r>
              <a:rPr b="0" i="0" lang="fr" sz="1400" u="none" cap="none" strike="noStrike">
                <a:solidFill>
                  <a:srgbClr val="1A1A2E"/>
                </a:solidFill>
                <a:latin typeface="Calibri"/>
                <a:ea typeface="Calibri"/>
                <a:cs typeface="Calibri"/>
                <a:sym typeface="Calibri"/>
              </a:rPr>
              <a:t>price</a:t>
            </a:r>
            <a:endParaRPr b="0" i="0" sz="1400" u="none" cap="none" strike="noStrike">
              <a:solidFill>
                <a:schemeClr val="dk1"/>
              </a:solidFill>
              <a:latin typeface="Calibri"/>
              <a:ea typeface="Calibri"/>
              <a:cs typeface="Calibri"/>
              <a:sym typeface="Calibri"/>
            </a:endParaRPr>
          </a:p>
        </p:txBody>
      </p:sp>
      <p:sp>
        <p:nvSpPr>
          <p:cNvPr id="698" name="Google Shape;698;p53"/>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699" name="Google Shape;699;p53"/>
          <p:cNvPicPr preferRelativeResize="0"/>
          <p:nvPr/>
        </p:nvPicPr>
        <p:blipFill>
          <a:blip r:embed="rId3">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04" name="Shape 704"/>
        <p:cNvGrpSpPr/>
        <p:nvPr/>
      </p:nvGrpSpPr>
      <p:grpSpPr>
        <a:xfrm>
          <a:off x="0" y="0"/>
          <a:ext cx="0" cy="0"/>
          <a:chOff x="0" y="0"/>
          <a:chExt cx="0" cy="0"/>
        </a:xfrm>
      </p:grpSpPr>
      <p:sp>
        <p:nvSpPr>
          <p:cNvPr id="705" name="Google Shape;705;p54"/>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54"/>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4"/>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Interpreting Coefficients</a:t>
            </a:r>
            <a:endParaRPr b="0" i="0" sz="2400" u="none" cap="none" strike="noStrike">
              <a:solidFill>
                <a:schemeClr val="dk1"/>
              </a:solidFill>
              <a:latin typeface="Calibri"/>
              <a:ea typeface="Calibri"/>
              <a:cs typeface="Calibri"/>
              <a:sym typeface="Calibri"/>
            </a:endParaRPr>
          </a:p>
        </p:txBody>
      </p:sp>
      <p:sp>
        <p:nvSpPr>
          <p:cNvPr id="708" name="Google Shape;708;p54"/>
          <p:cNvSpPr/>
          <p:nvPr/>
        </p:nvSpPr>
        <p:spPr>
          <a:xfrm>
            <a:off x="548640" y="1097280"/>
            <a:ext cx="8046600" cy="10974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54"/>
          <p:cNvSpPr/>
          <p:nvPr/>
        </p:nvSpPr>
        <p:spPr>
          <a:xfrm>
            <a:off x="822960" y="1188720"/>
            <a:ext cx="74982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B46"/>
              </a:buClr>
              <a:buSzPts val="1800"/>
              <a:buFont typeface="Calibri"/>
              <a:buNone/>
            </a:pPr>
            <a:r>
              <a:rPr b="1" i="0" lang="fr" sz="1800" u="none" cap="none" strike="noStrike">
                <a:solidFill>
                  <a:srgbClr val="0F2B46"/>
                </a:solidFill>
                <a:latin typeface="Calibri"/>
                <a:ea typeface="Calibri"/>
                <a:cs typeface="Calibri"/>
                <a:sym typeface="Calibri"/>
              </a:rPr>
              <a:t>price = 3200 </a:t>
            </a:r>
            <a:r>
              <a:rPr b="1" lang="fr" sz="1800">
                <a:solidFill>
                  <a:srgbClr val="0F2B46"/>
                </a:solidFill>
                <a:latin typeface="Calibri"/>
                <a:ea typeface="Calibri"/>
                <a:cs typeface="Calibri"/>
                <a:sym typeface="Calibri"/>
              </a:rPr>
              <a:t>x </a:t>
            </a:r>
            <a:r>
              <a:rPr b="1" i="0" lang="fr" sz="1800" u="none" cap="none" strike="noStrike">
                <a:solidFill>
                  <a:srgbClr val="0F2B46"/>
                </a:solidFill>
                <a:latin typeface="Calibri"/>
                <a:ea typeface="Calibri"/>
                <a:cs typeface="Calibri"/>
                <a:sym typeface="Calibri"/>
              </a:rPr>
              <a:t>surface - 1500 </a:t>
            </a:r>
            <a:r>
              <a:rPr b="1" lang="fr" sz="1800">
                <a:solidFill>
                  <a:srgbClr val="0F2B46"/>
                </a:solidFill>
                <a:latin typeface="Calibri"/>
                <a:ea typeface="Calibri"/>
                <a:cs typeface="Calibri"/>
                <a:sym typeface="Calibri"/>
              </a:rPr>
              <a:t>x</a:t>
            </a:r>
            <a:r>
              <a:rPr b="1" i="0" lang="fr" sz="1800" u="none" cap="none" strike="noStrike">
                <a:solidFill>
                  <a:srgbClr val="0F2B46"/>
                </a:solidFill>
                <a:latin typeface="Calibri"/>
                <a:ea typeface="Calibri"/>
                <a:cs typeface="Calibri"/>
                <a:sym typeface="Calibri"/>
              </a:rPr>
              <a:t> distance + 45000</a:t>
            </a:r>
            <a:endParaRPr b="0" i="0" sz="1800" u="none" cap="none" strike="noStrike">
              <a:solidFill>
                <a:schemeClr val="dk1"/>
              </a:solidFill>
              <a:latin typeface="Calibri"/>
              <a:ea typeface="Calibri"/>
              <a:cs typeface="Calibri"/>
              <a:sym typeface="Calibri"/>
            </a:endParaRPr>
          </a:p>
        </p:txBody>
      </p:sp>
      <p:sp>
        <p:nvSpPr>
          <p:cNvPr id="710" name="Google Shape;710;p54"/>
          <p:cNvSpPr/>
          <p:nvPr/>
        </p:nvSpPr>
        <p:spPr>
          <a:xfrm>
            <a:off x="548640" y="2468880"/>
            <a:ext cx="8046600" cy="5943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4"/>
          <p:cNvSpPr/>
          <p:nvPr/>
        </p:nvSpPr>
        <p:spPr>
          <a:xfrm>
            <a:off x="548640" y="2468880"/>
            <a:ext cx="73200" cy="594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54"/>
          <p:cNvSpPr/>
          <p:nvPr/>
        </p:nvSpPr>
        <p:spPr>
          <a:xfrm>
            <a:off x="822960" y="2468880"/>
            <a:ext cx="20118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θ₁ = 3,200</a:t>
            </a:r>
            <a:endParaRPr b="0" i="0" sz="1500" u="none" cap="none" strike="noStrike">
              <a:solidFill>
                <a:schemeClr val="dk1"/>
              </a:solidFill>
              <a:latin typeface="Calibri"/>
              <a:ea typeface="Calibri"/>
              <a:cs typeface="Calibri"/>
              <a:sym typeface="Calibri"/>
            </a:endParaRPr>
          </a:p>
        </p:txBody>
      </p:sp>
      <p:sp>
        <p:nvSpPr>
          <p:cNvPr id="713" name="Google Shape;713;p54"/>
          <p:cNvSpPr/>
          <p:nvPr/>
        </p:nvSpPr>
        <p:spPr>
          <a:xfrm>
            <a:off x="2926080" y="2468880"/>
            <a:ext cx="5486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Each m² adds €3,200 to the price</a:t>
            </a:r>
            <a:endParaRPr b="0" i="0" sz="1400" u="none" cap="none" strike="noStrike">
              <a:solidFill>
                <a:schemeClr val="dk1"/>
              </a:solidFill>
              <a:latin typeface="Calibri"/>
              <a:ea typeface="Calibri"/>
              <a:cs typeface="Calibri"/>
              <a:sym typeface="Calibri"/>
            </a:endParaRPr>
          </a:p>
        </p:txBody>
      </p:sp>
      <p:sp>
        <p:nvSpPr>
          <p:cNvPr id="714" name="Google Shape;714;p54"/>
          <p:cNvSpPr/>
          <p:nvPr/>
        </p:nvSpPr>
        <p:spPr>
          <a:xfrm>
            <a:off x="548640" y="3200400"/>
            <a:ext cx="8046600" cy="5943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54"/>
          <p:cNvSpPr/>
          <p:nvPr/>
        </p:nvSpPr>
        <p:spPr>
          <a:xfrm>
            <a:off x="548640" y="3200400"/>
            <a:ext cx="73200" cy="594300"/>
          </a:xfrm>
          <a:prstGeom prst="rect">
            <a:avLst/>
          </a:prstGeom>
          <a:solidFill>
            <a:srgbClr val="E74C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54"/>
          <p:cNvSpPr/>
          <p:nvPr/>
        </p:nvSpPr>
        <p:spPr>
          <a:xfrm>
            <a:off x="822960" y="3200400"/>
            <a:ext cx="20118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θ₂ = −1,500</a:t>
            </a:r>
            <a:endParaRPr b="0" i="0" sz="1500" u="none" cap="none" strike="noStrike">
              <a:solidFill>
                <a:schemeClr val="dk1"/>
              </a:solidFill>
              <a:latin typeface="Calibri"/>
              <a:ea typeface="Calibri"/>
              <a:cs typeface="Calibri"/>
              <a:sym typeface="Calibri"/>
            </a:endParaRPr>
          </a:p>
        </p:txBody>
      </p:sp>
      <p:sp>
        <p:nvSpPr>
          <p:cNvPr id="717" name="Google Shape;717;p54"/>
          <p:cNvSpPr/>
          <p:nvPr/>
        </p:nvSpPr>
        <p:spPr>
          <a:xfrm>
            <a:off x="2926080" y="3200400"/>
            <a:ext cx="5486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Each km from center removes €1,500</a:t>
            </a:r>
            <a:endParaRPr b="0" i="0" sz="1400" u="none" cap="none" strike="noStrike">
              <a:solidFill>
                <a:schemeClr val="dk1"/>
              </a:solidFill>
              <a:latin typeface="Calibri"/>
              <a:ea typeface="Calibri"/>
              <a:cs typeface="Calibri"/>
              <a:sym typeface="Calibri"/>
            </a:endParaRPr>
          </a:p>
        </p:txBody>
      </p:sp>
      <p:sp>
        <p:nvSpPr>
          <p:cNvPr id="718" name="Google Shape;718;p54"/>
          <p:cNvSpPr/>
          <p:nvPr/>
        </p:nvSpPr>
        <p:spPr>
          <a:xfrm>
            <a:off x="548640" y="3931920"/>
            <a:ext cx="8046600" cy="5943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4"/>
          <p:cNvSpPr/>
          <p:nvPr/>
        </p:nvSpPr>
        <p:spPr>
          <a:xfrm>
            <a:off x="548640" y="3931920"/>
            <a:ext cx="73200" cy="594300"/>
          </a:xfrm>
          <a:prstGeom prst="rect">
            <a:avLst/>
          </a:prstGeom>
          <a:solidFill>
            <a:srgbClr val="F4A4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54"/>
          <p:cNvSpPr/>
          <p:nvPr/>
        </p:nvSpPr>
        <p:spPr>
          <a:xfrm>
            <a:off x="822960" y="3931920"/>
            <a:ext cx="20118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500"/>
              <a:buFont typeface="Trebuchet MS"/>
              <a:buNone/>
            </a:pPr>
            <a:r>
              <a:rPr b="1" i="0" lang="fr" sz="1500" u="none" cap="none" strike="noStrike">
                <a:solidFill>
                  <a:srgbClr val="0F2B46"/>
                </a:solidFill>
                <a:latin typeface="Trebuchet MS"/>
                <a:ea typeface="Trebuchet MS"/>
                <a:cs typeface="Trebuchet MS"/>
                <a:sym typeface="Trebuchet MS"/>
              </a:rPr>
              <a:t>θ₀ = 45,000</a:t>
            </a:r>
            <a:endParaRPr b="0" i="0" sz="1500" u="none" cap="none" strike="noStrike">
              <a:solidFill>
                <a:schemeClr val="dk1"/>
              </a:solidFill>
              <a:latin typeface="Calibri"/>
              <a:ea typeface="Calibri"/>
              <a:cs typeface="Calibri"/>
              <a:sym typeface="Calibri"/>
            </a:endParaRPr>
          </a:p>
        </p:txBody>
      </p:sp>
      <p:sp>
        <p:nvSpPr>
          <p:cNvPr id="721" name="Google Shape;721;p54"/>
          <p:cNvSpPr/>
          <p:nvPr/>
        </p:nvSpPr>
        <p:spPr>
          <a:xfrm>
            <a:off x="2926080" y="3931920"/>
            <a:ext cx="5486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Base price when all features = 0</a:t>
            </a:r>
            <a:endParaRPr b="0" i="0" sz="1400" u="none" cap="none" strike="noStrike">
              <a:solidFill>
                <a:schemeClr val="dk1"/>
              </a:solidFill>
              <a:latin typeface="Calibri"/>
              <a:ea typeface="Calibri"/>
              <a:cs typeface="Calibri"/>
              <a:sym typeface="Calibri"/>
            </a:endParaRPr>
          </a:p>
        </p:txBody>
      </p:sp>
      <p:sp>
        <p:nvSpPr>
          <p:cNvPr id="722" name="Google Shape;722;p54"/>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723" name="Google Shape;723;p54"/>
          <p:cNvPicPr preferRelativeResize="0"/>
          <p:nvPr/>
        </p:nvPicPr>
        <p:blipFill>
          <a:blip r:embed="rId3">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28" name="Shape 728"/>
        <p:cNvGrpSpPr/>
        <p:nvPr/>
      </p:nvGrpSpPr>
      <p:grpSpPr>
        <a:xfrm>
          <a:off x="0" y="0"/>
          <a:ext cx="0" cy="0"/>
          <a:chOff x="0" y="0"/>
          <a:chExt cx="0" cy="0"/>
        </a:xfrm>
      </p:grpSpPr>
      <p:sp>
        <p:nvSpPr>
          <p:cNvPr id="729" name="Google Shape;729;p5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5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The Normal Equation for MSE</a:t>
            </a:r>
            <a:endParaRPr b="0" i="0" sz="2400" u="none" cap="none" strike="noStrike">
              <a:solidFill>
                <a:schemeClr val="dk1"/>
              </a:solidFill>
              <a:latin typeface="Calibri"/>
              <a:ea typeface="Calibri"/>
              <a:cs typeface="Calibri"/>
              <a:sym typeface="Calibri"/>
            </a:endParaRPr>
          </a:p>
        </p:txBody>
      </p:sp>
      <p:sp>
        <p:nvSpPr>
          <p:cNvPr id="732" name="Google Shape;732;p55"/>
          <p:cNvSpPr/>
          <p:nvPr/>
        </p:nvSpPr>
        <p:spPr>
          <a:xfrm>
            <a:off x="548650" y="1097270"/>
            <a:ext cx="8046600" cy="38037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55"/>
          <p:cNvSpPr/>
          <p:nvPr/>
        </p:nvSpPr>
        <p:spPr>
          <a:xfrm>
            <a:off x="822960" y="1188720"/>
            <a:ext cx="7498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0" i="0" lang="fr" sz="1600" u="none" cap="none" strike="noStrike">
                <a:solidFill>
                  <a:srgbClr val="1A1A2E"/>
                </a:solidFill>
                <a:latin typeface="Calibri"/>
                <a:ea typeface="Calibri"/>
                <a:cs typeface="Calibri"/>
                <a:sym typeface="Calibri"/>
              </a:rPr>
              <a:t>Set gradient to zero: </a:t>
            </a:r>
            <a:endParaRPr b="0" i="0" sz="1600" u="none" cap="none" strike="noStrike">
              <a:solidFill>
                <a:schemeClr val="dk1"/>
              </a:solidFill>
              <a:latin typeface="Calibri"/>
              <a:ea typeface="Calibri"/>
              <a:cs typeface="Calibri"/>
              <a:sym typeface="Calibri"/>
            </a:endParaRPr>
          </a:p>
        </p:txBody>
      </p:sp>
      <p:pic>
        <p:nvPicPr>
          <p:cNvPr id="734" name="Google Shape;734;p55" title="{&quot;red&quot;:26,&quot;green&quot;:26,&quot;blue&quot;:46,&quot;origURL&quot;:&quot;https://www.codecogs.com/eqnedit.php?latex=%5Cnabla%20L(%5Ctheta)%20%3D%200#0&quot;,&quot;size&quot;:16,&quot;width&quot;:236.2204724409449,&quot;height&quot;:33.94488188976378}"/>
          <p:cNvPicPr preferRelativeResize="0"/>
          <p:nvPr/>
        </p:nvPicPr>
        <p:blipFill>
          <a:blip r:embed="rId3">
            <a:alphaModFix/>
          </a:blip>
          <a:stretch>
            <a:fillRect/>
          </a:stretch>
        </p:blipFill>
        <p:spPr>
          <a:xfrm>
            <a:off x="2645900" y="1348775"/>
            <a:ext cx="1016508" cy="228600"/>
          </a:xfrm>
          <a:prstGeom prst="rect">
            <a:avLst/>
          </a:prstGeom>
          <a:noFill/>
          <a:ln>
            <a:noFill/>
          </a:ln>
        </p:spPr>
      </p:pic>
      <p:pic>
        <p:nvPicPr>
          <p:cNvPr id="735" name="Google Shape;735;p55" title="{&quot;red&quot;:0,&quot;green&quot;:0,&quot;blue&quot;:0,&quot;origURL&quot;:&quot;https://www.codecogs.com/eqnedit.php?latex=%5Ctheta%5E*%20%3D%20(X%5ET%20X)%5E%7B-1%7D%20X%5ET%20Y#0&quot;,&quot;size&quot;:14,&quot;width&quot;:236.2204724409449,&quot;height&quot;:31.511811023622045}"/>
          <p:cNvPicPr preferRelativeResize="0"/>
          <p:nvPr/>
        </p:nvPicPr>
        <p:blipFill>
          <a:blip r:embed="rId4">
            <a:alphaModFix/>
          </a:blip>
          <a:stretch>
            <a:fillRect/>
          </a:stretch>
        </p:blipFill>
        <p:spPr>
          <a:xfrm>
            <a:off x="3600875" y="4416250"/>
            <a:ext cx="1700716" cy="226310"/>
          </a:xfrm>
          <a:prstGeom prst="rect">
            <a:avLst/>
          </a:prstGeom>
          <a:noFill/>
          <a:ln>
            <a:noFill/>
          </a:ln>
        </p:spPr>
      </p:pic>
      <p:pic>
        <p:nvPicPr>
          <p:cNvPr id="736" name="Google Shape;736;p55" title="{&quot;red&quot;:0,&quot;green&quot;:0,&quot;blue&quot;:0,&quot;origURL&quot;:&quot;https://www.codecogs.com/eqnedit.php?latex=%5Cmathcal%7BL%7D(%5Ctheta)%20%3D%20%5Cfrac%7B1%7D%7Bn%7D%20%7CY%20-%20X%5Ctheta%7C%5E2#0&quot;,&quot;size&quot;:14,&quot;width&quot;:236.2204724409449,&quot;height&quot;:51.023622047244096}"/>
          <p:cNvPicPr preferRelativeResize="0"/>
          <p:nvPr/>
        </p:nvPicPr>
        <p:blipFill>
          <a:blip r:embed="rId5">
            <a:alphaModFix/>
          </a:blip>
          <a:stretch>
            <a:fillRect/>
          </a:stretch>
        </p:blipFill>
        <p:spPr>
          <a:xfrm>
            <a:off x="3600882" y="1997025"/>
            <a:ext cx="1700718" cy="418638"/>
          </a:xfrm>
          <a:prstGeom prst="rect">
            <a:avLst/>
          </a:prstGeom>
          <a:noFill/>
          <a:ln>
            <a:noFill/>
          </a:ln>
        </p:spPr>
      </p:pic>
      <p:pic>
        <p:nvPicPr>
          <p:cNvPr id="737" name="Google Shape;737;p55" title="{&quot;red&quot;:0,&quot;green&quot;:0,&quot;blue&quot;:0,&quot;origURL&quot;:&quot;https://www.codecogs.com/eqnedit.php?latex=%5Cnabla_%5Ctheta%20%5Cmathcal%7BL%7D(%5Ctheta)%20%3D%20-%5Cfrac%7B2%7D%7Bn%7D%20X%5ET(Y%20-%20X%5Ctheta)%20%3D%200#0&quot;,&quot;size&quot;:14,&quot;width&quot;:236.2204724409449,&quot;height&quot;:51.023622047244096}"/>
          <p:cNvPicPr preferRelativeResize="0"/>
          <p:nvPr/>
        </p:nvPicPr>
        <p:blipFill>
          <a:blip r:embed="rId6">
            <a:alphaModFix/>
          </a:blip>
          <a:stretch>
            <a:fillRect/>
          </a:stretch>
        </p:blipFill>
        <p:spPr>
          <a:xfrm>
            <a:off x="3347925" y="3223318"/>
            <a:ext cx="2337661" cy="356394"/>
          </a:xfrm>
          <a:prstGeom prst="rect">
            <a:avLst/>
          </a:prstGeom>
          <a:noFill/>
          <a:ln>
            <a:noFill/>
          </a:ln>
        </p:spPr>
      </p:pic>
      <p:pic>
        <p:nvPicPr>
          <p:cNvPr id="738" name="Google Shape;738;p55" title="{&quot;red&quot;:0,&quot;green&quot;:0,&quot;blue&quot;:0,&quot;origURL&quot;:&quot;https://www.codecogs.com/eqnedit.php?latex=%5Chat%7By%7D%20%3D%20X%5Ctheta#0&quot;,&quot;size&quot;:14,&quot;width&quot;:236.2204724409449,&quot;height&quot;:31.511811023622048}"/>
          <p:cNvPicPr preferRelativeResize="0"/>
          <p:nvPr/>
        </p:nvPicPr>
        <p:blipFill>
          <a:blip r:embed="rId7">
            <a:alphaModFix/>
          </a:blip>
          <a:stretch>
            <a:fillRect/>
          </a:stretch>
        </p:blipFill>
        <p:spPr>
          <a:xfrm>
            <a:off x="4035807" y="1601804"/>
            <a:ext cx="830871" cy="239163"/>
          </a:xfrm>
          <a:prstGeom prst="rect">
            <a:avLst/>
          </a:prstGeom>
          <a:noFill/>
          <a:ln>
            <a:noFill/>
          </a:ln>
        </p:spPr>
      </p:pic>
      <p:pic>
        <p:nvPicPr>
          <p:cNvPr id="739" name="Google Shape;739;p55" title="{&quot;red&quot;:0,&quot;green&quot;:0,&quot;blue&quot;:0,&quot;origURL&quot;:&quot;https://www.codecogs.com/eqnedit.php?latex=X%5ET%20X%5Ctheta%20%3D%20X%5ET%20Y#0&quot;,&quot;size&quot;:14,&quot;width&quot;:236.2204724409449,&quot;height&quot;:31.511811023622048}"/>
          <p:cNvPicPr preferRelativeResize="0"/>
          <p:nvPr/>
        </p:nvPicPr>
        <p:blipFill>
          <a:blip r:embed="rId8">
            <a:alphaModFix/>
          </a:blip>
          <a:stretch>
            <a:fillRect/>
          </a:stretch>
        </p:blipFill>
        <p:spPr>
          <a:xfrm>
            <a:off x="3616815" y="3881172"/>
            <a:ext cx="1668828" cy="230305"/>
          </a:xfrm>
          <a:prstGeom prst="rect">
            <a:avLst/>
          </a:prstGeom>
          <a:noFill/>
          <a:ln>
            <a:noFill/>
          </a:ln>
        </p:spPr>
      </p:pic>
      <p:pic>
        <p:nvPicPr>
          <p:cNvPr id="740" name="Google Shape;740;p55" title="{&quot;red&quot;:0,&quot;green&quot;:0,&quot;blue&quot;:0,&quot;origURL&quot;:&quot;https://www.codecogs.com/eqnedit.php?latex=%5Cmathcal%7BL%7D(%5Ctheta)%20%3D%20%5Cfrac%7B1%7D%7Bn%7D%20(Y%20-%20X%5Ctheta)%5ET(Y%20-%20X%5Ctheta)#0&quot;,&quot;size&quot;:14,&quot;width&quot;:236.2204724409449,&quot;height&quot;:51.023622047244096}"/>
          <p:cNvPicPr preferRelativeResize="0"/>
          <p:nvPr/>
        </p:nvPicPr>
        <p:blipFill>
          <a:blip r:embed="rId9">
            <a:alphaModFix/>
          </a:blip>
          <a:stretch>
            <a:fillRect/>
          </a:stretch>
        </p:blipFill>
        <p:spPr>
          <a:xfrm>
            <a:off x="3347937" y="2573975"/>
            <a:ext cx="2337671" cy="372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45" name="Shape 745"/>
        <p:cNvGrpSpPr/>
        <p:nvPr/>
      </p:nvGrpSpPr>
      <p:grpSpPr>
        <a:xfrm>
          <a:off x="0" y="0"/>
          <a:ext cx="0" cy="0"/>
          <a:chOff x="0" y="0"/>
          <a:chExt cx="0" cy="0"/>
        </a:xfrm>
      </p:grpSpPr>
      <p:sp>
        <p:nvSpPr>
          <p:cNvPr id="746" name="Google Shape;746;p5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The Normal Equation for MSE</a:t>
            </a:r>
            <a:endParaRPr b="0" i="0" sz="2400" u="none" cap="none" strike="noStrike">
              <a:solidFill>
                <a:schemeClr val="dk1"/>
              </a:solidFill>
              <a:latin typeface="Calibri"/>
              <a:ea typeface="Calibri"/>
              <a:cs typeface="Calibri"/>
              <a:sym typeface="Calibri"/>
            </a:endParaRPr>
          </a:p>
        </p:txBody>
      </p:sp>
      <p:sp>
        <p:nvSpPr>
          <p:cNvPr id="749" name="Google Shape;749;p56"/>
          <p:cNvSpPr/>
          <p:nvPr/>
        </p:nvSpPr>
        <p:spPr>
          <a:xfrm>
            <a:off x="548640" y="1097280"/>
            <a:ext cx="8046600" cy="18288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56"/>
          <p:cNvSpPr/>
          <p:nvPr/>
        </p:nvSpPr>
        <p:spPr>
          <a:xfrm>
            <a:off x="822960" y="1188720"/>
            <a:ext cx="74982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600"/>
              <a:buFont typeface="Calibri"/>
              <a:buNone/>
            </a:pPr>
            <a:r>
              <a:rPr b="0" i="0" lang="fr" sz="1600" u="none" cap="none" strike="noStrike">
                <a:solidFill>
                  <a:srgbClr val="1A1A2E"/>
                </a:solidFill>
                <a:latin typeface="Calibri"/>
                <a:ea typeface="Calibri"/>
                <a:cs typeface="Calibri"/>
                <a:sym typeface="Calibri"/>
              </a:rPr>
              <a:t>Set gradient to zero: </a:t>
            </a:r>
            <a:endParaRPr b="0" i="0" sz="1600" u="none" cap="none" strike="noStrike">
              <a:solidFill>
                <a:schemeClr val="dk1"/>
              </a:solidFill>
              <a:latin typeface="Calibri"/>
              <a:ea typeface="Calibri"/>
              <a:cs typeface="Calibri"/>
              <a:sym typeface="Calibri"/>
            </a:endParaRPr>
          </a:p>
        </p:txBody>
      </p:sp>
      <p:sp>
        <p:nvSpPr>
          <p:cNvPr id="751" name="Google Shape;751;p56"/>
          <p:cNvSpPr/>
          <p:nvPr/>
        </p:nvSpPr>
        <p:spPr>
          <a:xfrm>
            <a:off x="822960" y="2560320"/>
            <a:ext cx="7498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80"/>
              </a:buClr>
              <a:buSzPts val="1300"/>
              <a:buFont typeface="Calibri"/>
              <a:buNone/>
            </a:pPr>
            <a:r>
              <a:rPr b="0" i="0" lang="fr" sz="1300" u="none" cap="none" strike="noStrike">
                <a:solidFill>
                  <a:srgbClr val="3D5A80"/>
                </a:solidFill>
                <a:latin typeface="Calibri"/>
                <a:ea typeface="Calibri"/>
                <a:cs typeface="Calibri"/>
                <a:sym typeface="Calibri"/>
              </a:rPr>
              <a:t>Requires </a:t>
            </a:r>
            <a:r>
              <a:rPr lang="fr" sz="1300">
                <a:solidFill>
                  <a:srgbClr val="3D5A80"/>
                </a:solidFill>
                <a:latin typeface="Calibri"/>
                <a:ea typeface="Calibri"/>
                <a:cs typeface="Calibri"/>
                <a:sym typeface="Calibri"/>
              </a:rPr>
              <a:t>           </a:t>
            </a:r>
            <a:r>
              <a:rPr b="0" i="0" lang="fr" sz="1300" u="none" cap="none" strike="noStrike">
                <a:solidFill>
                  <a:srgbClr val="3D5A80"/>
                </a:solidFill>
                <a:latin typeface="Calibri"/>
                <a:ea typeface="Calibri"/>
                <a:cs typeface="Calibri"/>
                <a:sym typeface="Calibri"/>
              </a:rPr>
              <a:t>to be invertible (fails with collinear features)</a:t>
            </a:r>
            <a:endParaRPr b="0" i="0" sz="1300" u="none" cap="none" strike="noStrike">
              <a:solidFill>
                <a:schemeClr val="dk1"/>
              </a:solidFill>
              <a:latin typeface="Calibri"/>
              <a:ea typeface="Calibri"/>
              <a:cs typeface="Calibri"/>
              <a:sym typeface="Calibri"/>
            </a:endParaRPr>
          </a:p>
        </p:txBody>
      </p:sp>
      <p:sp>
        <p:nvSpPr>
          <p:cNvPr id="752" name="Google Shape;752;p56"/>
          <p:cNvSpPr/>
          <p:nvPr/>
        </p:nvSpPr>
        <p:spPr>
          <a:xfrm>
            <a:off x="548640" y="3200400"/>
            <a:ext cx="3749100" cy="12801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6"/>
          <p:cNvSpPr/>
          <p:nvPr/>
        </p:nvSpPr>
        <p:spPr>
          <a:xfrm>
            <a:off x="731520" y="3246120"/>
            <a:ext cx="338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7AE60"/>
              </a:buClr>
              <a:buSzPts val="1400"/>
              <a:buFont typeface="Trebuchet MS"/>
              <a:buNone/>
            </a:pPr>
            <a:r>
              <a:rPr b="1" i="0" lang="fr" sz="1400" u="none" cap="none" strike="noStrike">
                <a:solidFill>
                  <a:srgbClr val="27AE60"/>
                </a:solidFill>
                <a:latin typeface="Trebuchet MS"/>
                <a:ea typeface="Trebuchet MS"/>
                <a:cs typeface="Trebuchet MS"/>
                <a:sym typeface="Trebuchet MS"/>
              </a:rPr>
              <a:t>Pros</a:t>
            </a:r>
            <a:endParaRPr b="0" i="0" sz="1400" u="none" cap="none" strike="noStrike">
              <a:solidFill>
                <a:schemeClr val="dk1"/>
              </a:solidFill>
              <a:latin typeface="Calibri"/>
              <a:ea typeface="Calibri"/>
              <a:cs typeface="Calibri"/>
              <a:sym typeface="Calibri"/>
            </a:endParaRPr>
          </a:p>
        </p:txBody>
      </p:sp>
      <p:sp>
        <p:nvSpPr>
          <p:cNvPr id="754" name="Google Shape;754;p56"/>
          <p:cNvSpPr/>
          <p:nvPr/>
        </p:nvSpPr>
        <p:spPr>
          <a:xfrm>
            <a:off x="731520" y="3611880"/>
            <a:ext cx="33834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Exact solution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No hyperparameters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Fast for small/medium data</a:t>
            </a:r>
            <a:endParaRPr b="0" i="0" sz="1200" u="none" cap="none" strike="noStrike">
              <a:solidFill>
                <a:schemeClr val="dk1"/>
              </a:solidFill>
              <a:latin typeface="Calibri"/>
              <a:ea typeface="Calibri"/>
              <a:cs typeface="Calibri"/>
              <a:sym typeface="Calibri"/>
            </a:endParaRPr>
          </a:p>
        </p:txBody>
      </p:sp>
      <p:sp>
        <p:nvSpPr>
          <p:cNvPr id="755" name="Google Shape;755;p56"/>
          <p:cNvSpPr/>
          <p:nvPr/>
        </p:nvSpPr>
        <p:spPr>
          <a:xfrm>
            <a:off x="4846320" y="3200400"/>
            <a:ext cx="3749100" cy="12801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56"/>
          <p:cNvSpPr/>
          <p:nvPr/>
        </p:nvSpPr>
        <p:spPr>
          <a:xfrm>
            <a:off x="5029200" y="3246120"/>
            <a:ext cx="338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4C3C"/>
              </a:buClr>
              <a:buSzPts val="1400"/>
              <a:buFont typeface="Trebuchet MS"/>
              <a:buNone/>
            </a:pPr>
            <a:r>
              <a:rPr b="1" i="0" lang="fr" sz="1400" u="none" cap="none" strike="noStrike">
                <a:solidFill>
                  <a:srgbClr val="E74C3C"/>
                </a:solidFill>
                <a:latin typeface="Trebuchet MS"/>
                <a:ea typeface="Trebuchet MS"/>
                <a:cs typeface="Trebuchet MS"/>
                <a:sym typeface="Trebuchet MS"/>
              </a:rPr>
              <a:t>Cons</a:t>
            </a:r>
            <a:endParaRPr b="0" i="0" sz="1400" u="none" cap="none" strike="noStrike">
              <a:solidFill>
                <a:schemeClr val="dk1"/>
              </a:solidFill>
              <a:latin typeface="Calibri"/>
              <a:ea typeface="Calibri"/>
              <a:cs typeface="Calibri"/>
              <a:sym typeface="Calibri"/>
            </a:endParaRPr>
          </a:p>
        </p:txBody>
      </p:sp>
      <p:sp>
        <p:nvSpPr>
          <p:cNvPr id="757" name="Google Shape;757;p56"/>
          <p:cNvSpPr/>
          <p:nvPr/>
        </p:nvSpPr>
        <p:spPr>
          <a:xfrm>
            <a:off x="5029200" y="3611880"/>
            <a:ext cx="33834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O(p^3) complexity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Doesn't scale to large 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Requires invertibility</a:t>
            </a:r>
            <a:endParaRPr b="0" i="0" sz="1200" u="none" cap="none" strike="noStrike">
              <a:solidFill>
                <a:schemeClr val="dk1"/>
              </a:solidFill>
              <a:latin typeface="Calibri"/>
              <a:ea typeface="Calibri"/>
              <a:cs typeface="Calibri"/>
              <a:sym typeface="Calibri"/>
            </a:endParaRPr>
          </a:p>
        </p:txBody>
      </p:sp>
      <p:pic>
        <p:nvPicPr>
          <p:cNvPr id="758" name="Google Shape;758;p56" title="{&quot;red&quot;:26,&quot;green&quot;:26,&quot;blue&quot;:46,&quot;origURL&quot;:&quot;https://www.codecogs.com/eqnedit.php?latex=%5Cnabla%20L(%5Ctheta)%20%3D%200#0&quot;,&quot;size&quot;:16,&quot;width&quot;:236.2204724409449,&quot;height&quot;:33.94488188976378}"/>
          <p:cNvPicPr preferRelativeResize="0"/>
          <p:nvPr/>
        </p:nvPicPr>
        <p:blipFill>
          <a:blip r:embed="rId3">
            <a:alphaModFix/>
          </a:blip>
          <a:stretch>
            <a:fillRect/>
          </a:stretch>
        </p:blipFill>
        <p:spPr>
          <a:xfrm>
            <a:off x="2645900" y="1348775"/>
            <a:ext cx="1016508" cy="228600"/>
          </a:xfrm>
          <a:prstGeom prst="rect">
            <a:avLst/>
          </a:prstGeom>
          <a:noFill/>
          <a:ln>
            <a:noFill/>
          </a:ln>
        </p:spPr>
      </p:pic>
      <p:pic>
        <p:nvPicPr>
          <p:cNvPr id="759" name="Google Shape;759;p56" title="{&quot;red&quot;:15,&quot;green&quot;:43,&quot;blue&quot;:70,&quot;origURL&quot;:&quot;https://www.codecogs.com/eqnedit.php?latex=%5Ctheta%5E*%20%3D%20(X%5ET%20X)%5E%7B-1%7D%20X%5ET%20y#0&quot;,&quot;size&quot;:24,&quot;width&quot;:236.2204724409449,&quot;height&quot;:72.70866141732283}"/>
          <p:cNvPicPr preferRelativeResize="0"/>
          <p:nvPr/>
        </p:nvPicPr>
        <p:blipFill>
          <a:blip r:embed="rId4">
            <a:alphaModFix/>
          </a:blip>
          <a:stretch>
            <a:fillRect/>
          </a:stretch>
        </p:blipFill>
        <p:spPr>
          <a:xfrm>
            <a:off x="3474670" y="2089463"/>
            <a:ext cx="2194560" cy="301639"/>
          </a:xfrm>
          <a:prstGeom prst="rect">
            <a:avLst/>
          </a:prstGeom>
          <a:noFill/>
          <a:ln>
            <a:noFill/>
          </a:ln>
        </p:spPr>
      </p:pic>
      <p:pic>
        <p:nvPicPr>
          <p:cNvPr id="760" name="Google Shape;760;p56" title="{&quot;red&quot;:61,&quot;green&quot;:90,&quot;blue&quot;:128,&quot;origURL&quot;:&quot;https://www.codecogs.com/eqnedit.php?latex=X%5ET%20X#0&quot;,&quot;size&quot;:13,&quot;width&quot;:236.2204724409449,&quot;height&quot;:30.30708661417323}"/>
          <p:cNvPicPr preferRelativeResize="0"/>
          <p:nvPr/>
        </p:nvPicPr>
        <p:blipFill>
          <a:blip r:embed="rId5">
            <a:alphaModFix/>
          </a:blip>
          <a:stretch>
            <a:fillRect/>
          </a:stretch>
        </p:blipFill>
        <p:spPr>
          <a:xfrm>
            <a:off x="3179542" y="2640425"/>
            <a:ext cx="419767" cy="159734"/>
          </a:xfrm>
          <a:prstGeom prst="rect">
            <a:avLst/>
          </a:prstGeom>
          <a:noFill/>
          <a:ln>
            <a:noFill/>
          </a:ln>
        </p:spPr>
      </p:pic>
      <p:sp>
        <p:nvSpPr>
          <p:cNvPr id="761" name="Google Shape;761;p5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762" name="Google Shape;762;p56"/>
          <p:cNvPicPr preferRelativeResize="0"/>
          <p:nvPr/>
        </p:nvPicPr>
        <p:blipFill>
          <a:blip r:embed="rId6">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767" name="Shape 767"/>
        <p:cNvGrpSpPr/>
        <p:nvPr/>
      </p:nvGrpSpPr>
      <p:grpSpPr>
        <a:xfrm>
          <a:off x="0" y="0"/>
          <a:ext cx="0" cy="0"/>
          <a:chOff x="0" y="0"/>
          <a:chExt cx="0" cy="0"/>
        </a:xfrm>
      </p:grpSpPr>
      <p:pic>
        <p:nvPicPr>
          <p:cNvPr id="768" name="Google Shape;768;p57"/>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769" name="Google Shape;769;p57"/>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Logistic Regression</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74" name="Shape 774"/>
        <p:cNvGrpSpPr/>
        <p:nvPr/>
      </p:nvGrpSpPr>
      <p:grpSpPr>
        <a:xfrm>
          <a:off x="0" y="0"/>
          <a:ext cx="0" cy="0"/>
          <a:chOff x="0" y="0"/>
          <a:chExt cx="0" cy="0"/>
        </a:xfrm>
      </p:grpSpPr>
      <p:sp>
        <p:nvSpPr>
          <p:cNvPr id="775" name="Google Shape;775;p58"/>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8"/>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8"/>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From Regression to Classification</a:t>
            </a:r>
            <a:endParaRPr b="0" i="0" sz="2400" u="none" cap="none" strike="noStrike">
              <a:solidFill>
                <a:schemeClr val="dk1"/>
              </a:solidFill>
              <a:latin typeface="Calibri"/>
              <a:ea typeface="Calibri"/>
              <a:cs typeface="Calibri"/>
              <a:sym typeface="Calibri"/>
            </a:endParaRPr>
          </a:p>
        </p:txBody>
      </p:sp>
      <p:sp>
        <p:nvSpPr>
          <p:cNvPr id="778" name="Google Shape;778;p58"/>
          <p:cNvSpPr/>
          <p:nvPr/>
        </p:nvSpPr>
        <p:spPr>
          <a:xfrm>
            <a:off x="548640" y="1097280"/>
            <a:ext cx="4206300" cy="2743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58"/>
          <p:cNvSpPr/>
          <p:nvPr/>
        </p:nvSpPr>
        <p:spPr>
          <a:xfrm>
            <a:off x="731520" y="1188720"/>
            <a:ext cx="3840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600"/>
              <a:buFont typeface="Trebuchet MS"/>
              <a:buNone/>
            </a:pPr>
            <a:r>
              <a:rPr b="1" i="0" lang="fr" sz="1600" u="none" cap="none" strike="noStrike">
                <a:solidFill>
                  <a:srgbClr val="0F2B46"/>
                </a:solidFill>
                <a:latin typeface="Trebuchet MS"/>
                <a:ea typeface="Trebuchet MS"/>
                <a:cs typeface="Trebuchet MS"/>
                <a:sym typeface="Trebuchet MS"/>
              </a:rPr>
              <a:t>Problem</a:t>
            </a:r>
            <a:endParaRPr b="0" i="0" sz="1600" u="none" cap="none" strike="noStrike">
              <a:solidFill>
                <a:schemeClr val="dk1"/>
              </a:solidFill>
              <a:latin typeface="Calibri"/>
              <a:ea typeface="Calibri"/>
              <a:cs typeface="Calibri"/>
              <a:sym typeface="Calibri"/>
            </a:endParaRPr>
          </a:p>
        </p:txBody>
      </p:sp>
      <p:sp>
        <p:nvSpPr>
          <p:cNvPr id="780" name="Google Shape;780;p58"/>
          <p:cNvSpPr/>
          <p:nvPr/>
        </p:nvSpPr>
        <p:spPr>
          <a:xfrm>
            <a:off x="731520" y="1645920"/>
            <a:ext cx="3840600" cy="201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300"/>
              <a:buFont typeface="Calibri"/>
              <a:buNone/>
            </a:pPr>
            <a:r>
              <a:rPr b="0" i="0" lang="fr" sz="1300" u="none" cap="none" strike="noStrike">
                <a:solidFill>
                  <a:srgbClr val="3D5A80"/>
                </a:solidFill>
                <a:latin typeface="Calibri"/>
                <a:ea typeface="Calibri"/>
                <a:cs typeface="Calibri"/>
                <a:sym typeface="Calibri"/>
              </a:rPr>
              <a:t>Can we use linear regression?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300"/>
              <a:buFont typeface="Calibri"/>
              <a:buNone/>
            </a:pPr>
            <a:r>
              <a:rPr b="0" i="0" lang="fr" sz="1300" u="none" cap="none" strike="noStrike">
                <a:solidFill>
                  <a:srgbClr val="3D5A80"/>
                </a:solidFill>
                <a:latin typeface="Calibri"/>
                <a:ea typeface="Calibri"/>
                <a:cs typeface="Calibri"/>
                <a:sym typeface="Calibri"/>
              </a:rPr>
              <a:t>Predictions can go below 0 and above 1</a:t>
            </a:r>
            <a:endParaRPr b="0" i="0" sz="1300" u="none" cap="none" strike="noStrike">
              <a:solidFill>
                <a:schemeClr val="dk1"/>
              </a:solidFill>
              <a:latin typeface="Calibri"/>
              <a:ea typeface="Calibri"/>
              <a:cs typeface="Calibri"/>
              <a:sym typeface="Calibri"/>
            </a:endParaRPr>
          </a:p>
        </p:txBody>
      </p:sp>
      <p:sp>
        <p:nvSpPr>
          <p:cNvPr id="781" name="Google Shape;781;p58"/>
          <p:cNvSpPr/>
          <p:nvPr/>
        </p:nvSpPr>
        <p:spPr>
          <a:xfrm>
            <a:off x="5120640" y="1097280"/>
            <a:ext cx="3474600" cy="2743200"/>
          </a:xfrm>
          <a:prstGeom prst="rect">
            <a:avLst/>
          </a:prstGeom>
          <a:solidFill>
            <a:srgbClr val="E2E8F0"/>
          </a:solidFill>
          <a:ln cap="flat" cmpd="sng" w="12700">
            <a:solidFill>
              <a:srgbClr val="8BA4B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2" name="Google Shape;782;p58"/>
          <p:cNvPicPr preferRelativeResize="0"/>
          <p:nvPr/>
        </p:nvPicPr>
        <p:blipFill rotWithShape="1">
          <a:blip r:embed="rId3">
            <a:alphaModFix/>
          </a:blip>
          <a:srcRect b="0" l="0" r="50355" t="0"/>
          <a:stretch/>
        </p:blipFill>
        <p:spPr>
          <a:xfrm>
            <a:off x="5029201" y="987650"/>
            <a:ext cx="4098551" cy="3429000"/>
          </a:xfrm>
          <a:prstGeom prst="rect">
            <a:avLst/>
          </a:prstGeom>
          <a:noFill/>
          <a:ln>
            <a:noFill/>
          </a:ln>
        </p:spPr>
      </p:pic>
      <p:sp>
        <p:nvSpPr>
          <p:cNvPr id="783" name="Google Shape;783;p58"/>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784" name="Google Shape;784;p58"/>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89" name="Shape 789"/>
        <p:cNvGrpSpPr/>
        <p:nvPr/>
      </p:nvGrpSpPr>
      <p:grpSpPr>
        <a:xfrm>
          <a:off x="0" y="0"/>
          <a:ext cx="0" cy="0"/>
          <a:chOff x="0" y="0"/>
          <a:chExt cx="0" cy="0"/>
        </a:xfrm>
      </p:grpSpPr>
      <p:sp>
        <p:nvSpPr>
          <p:cNvPr id="790" name="Google Shape;790;p59"/>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59"/>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59"/>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The Sigmoid Function</a:t>
            </a:r>
            <a:endParaRPr b="0" i="0" sz="2400" u="none" cap="none" strike="noStrike">
              <a:solidFill>
                <a:schemeClr val="dk1"/>
              </a:solidFill>
              <a:latin typeface="Calibri"/>
              <a:ea typeface="Calibri"/>
              <a:cs typeface="Calibri"/>
              <a:sym typeface="Calibri"/>
            </a:endParaRPr>
          </a:p>
        </p:txBody>
      </p:sp>
      <p:sp>
        <p:nvSpPr>
          <p:cNvPr id="793" name="Google Shape;793;p59"/>
          <p:cNvSpPr/>
          <p:nvPr/>
        </p:nvSpPr>
        <p:spPr>
          <a:xfrm>
            <a:off x="548640" y="1097280"/>
            <a:ext cx="8046600" cy="10974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9"/>
          <p:cNvSpPr/>
          <p:nvPr/>
        </p:nvSpPr>
        <p:spPr>
          <a:xfrm>
            <a:off x="5486400" y="2468880"/>
            <a:ext cx="3108900" cy="21030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9"/>
          <p:cNvSpPr/>
          <p:nvPr/>
        </p:nvSpPr>
        <p:spPr>
          <a:xfrm>
            <a:off x="5669280" y="2651760"/>
            <a:ext cx="2743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Calibri"/>
              <a:buNone/>
            </a:pPr>
            <a:r>
              <a:rPr b="0" i="0" lang="fr" sz="1300" u="none" cap="none" strike="noStrike">
                <a:solidFill>
                  <a:srgbClr val="1A1A2E"/>
                </a:solidFill>
                <a:latin typeface="Calibri"/>
                <a:ea typeface="Calibri"/>
                <a:cs typeface="Calibri"/>
                <a:sym typeface="Calibri"/>
              </a:rPr>
              <a:t>→  Output ∈ (0, 1)</a:t>
            </a:r>
            <a:endParaRPr b="0" i="0" sz="1300" u="none" cap="none" strike="noStrike">
              <a:solidFill>
                <a:schemeClr val="dk1"/>
              </a:solidFill>
              <a:latin typeface="Calibri"/>
              <a:ea typeface="Calibri"/>
              <a:cs typeface="Calibri"/>
              <a:sym typeface="Calibri"/>
            </a:endParaRPr>
          </a:p>
        </p:txBody>
      </p:sp>
      <p:sp>
        <p:nvSpPr>
          <p:cNvPr id="796" name="Google Shape;796;p59"/>
          <p:cNvSpPr/>
          <p:nvPr/>
        </p:nvSpPr>
        <p:spPr>
          <a:xfrm>
            <a:off x="5669280" y="3108960"/>
            <a:ext cx="2743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Calibri"/>
              <a:buNone/>
            </a:pPr>
            <a:r>
              <a:rPr b="0" i="0" lang="fr" sz="1300" u="none" cap="none" strike="noStrike">
                <a:solidFill>
                  <a:srgbClr val="1A1A2E"/>
                </a:solidFill>
                <a:latin typeface="Calibri"/>
                <a:ea typeface="Calibri"/>
                <a:cs typeface="Calibri"/>
                <a:sym typeface="Calibri"/>
              </a:rPr>
              <a:t>→  Maps ℝ → probability</a:t>
            </a:r>
            <a:endParaRPr b="0" i="0" sz="1300" u="none" cap="none" strike="noStrike">
              <a:solidFill>
                <a:schemeClr val="dk1"/>
              </a:solidFill>
              <a:latin typeface="Calibri"/>
              <a:ea typeface="Calibri"/>
              <a:cs typeface="Calibri"/>
              <a:sym typeface="Calibri"/>
            </a:endParaRPr>
          </a:p>
        </p:txBody>
      </p:sp>
      <p:sp>
        <p:nvSpPr>
          <p:cNvPr id="797" name="Google Shape;797;p59"/>
          <p:cNvSpPr/>
          <p:nvPr/>
        </p:nvSpPr>
        <p:spPr>
          <a:xfrm>
            <a:off x="5669280" y="3566160"/>
            <a:ext cx="2743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Calibri"/>
              <a:buNone/>
            </a:pPr>
            <a:r>
              <a:rPr b="0" i="0" lang="fr" sz="1300" u="none" cap="none" strike="noStrike">
                <a:solidFill>
                  <a:srgbClr val="1A1A2E"/>
                </a:solidFill>
                <a:latin typeface="Calibri"/>
                <a:ea typeface="Calibri"/>
                <a:cs typeface="Calibri"/>
                <a:sym typeface="Calibri"/>
              </a:rPr>
              <a:t>→  σ(0) = 0.5</a:t>
            </a:r>
            <a:endParaRPr b="0" i="0" sz="1300" u="none" cap="none" strike="noStrike">
              <a:solidFill>
                <a:schemeClr val="dk1"/>
              </a:solidFill>
              <a:latin typeface="Calibri"/>
              <a:ea typeface="Calibri"/>
              <a:cs typeface="Calibri"/>
              <a:sym typeface="Calibri"/>
            </a:endParaRPr>
          </a:p>
        </p:txBody>
      </p:sp>
      <p:sp>
        <p:nvSpPr>
          <p:cNvPr id="798" name="Google Shape;798;p59"/>
          <p:cNvSpPr/>
          <p:nvPr/>
        </p:nvSpPr>
        <p:spPr>
          <a:xfrm>
            <a:off x="5669280" y="4023360"/>
            <a:ext cx="2743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300"/>
              <a:buFont typeface="Calibri"/>
              <a:buNone/>
            </a:pPr>
            <a:r>
              <a:rPr b="0" i="0" lang="fr" sz="1300" u="none" cap="none" strike="noStrike">
                <a:solidFill>
                  <a:srgbClr val="1A1A2E"/>
                </a:solidFill>
                <a:latin typeface="Calibri"/>
                <a:ea typeface="Calibri"/>
                <a:cs typeface="Calibri"/>
                <a:sym typeface="Calibri"/>
              </a:rPr>
              <a:t>→  Smooth &amp; differentiable</a:t>
            </a:r>
            <a:endParaRPr b="0" i="0" sz="1300" u="none" cap="none" strike="noStrike">
              <a:solidFill>
                <a:schemeClr val="dk1"/>
              </a:solidFill>
              <a:latin typeface="Calibri"/>
              <a:ea typeface="Calibri"/>
              <a:cs typeface="Calibri"/>
              <a:sym typeface="Calibri"/>
            </a:endParaRPr>
          </a:p>
        </p:txBody>
      </p:sp>
      <p:pic>
        <p:nvPicPr>
          <p:cNvPr id="799" name="Google Shape;799;p59"/>
          <p:cNvPicPr preferRelativeResize="0"/>
          <p:nvPr/>
        </p:nvPicPr>
        <p:blipFill>
          <a:blip r:embed="rId3">
            <a:alphaModFix/>
          </a:blip>
          <a:stretch>
            <a:fillRect/>
          </a:stretch>
        </p:blipFill>
        <p:spPr>
          <a:xfrm>
            <a:off x="548650" y="2301305"/>
            <a:ext cx="3314520" cy="2209680"/>
          </a:xfrm>
          <a:prstGeom prst="rect">
            <a:avLst/>
          </a:prstGeom>
          <a:noFill/>
          <a:ln>
            <a:noFill/>
          </a:ln>
        </p:spPr>
      </p:pic>
      <p:pic>
        <p:nvPicPr>
          <p:cNvPr id="800" name="Google Shape;800;p59" title="{&quot;red&quot;:15,&quot;green&quot;:43,&quot;blue&quot;:70,&quot;origURL&quot;:&quot;https://www.codecogs.com/eqnedit.php?latex=%5Csigma(z)%20%3D%20%5Cfrac%7B1%7D%7B1%20%2B%20e%5E%7B-z%7D%7D#0&quot;,&quot;size&quot;:24,&quot;width&quot;:236.2204724409449,&quot;height&quot;:72.70866141732283}"/>
          <p:cNvPicPr preferRelativeResize="0"/>
          <p:nvPr/>
        </p:nvPicPr>
        <p:blipFill>
          <a:blip r:embed="rId4">
            <a:alphaModFix/>
          </a:blip>
          <a:stretch>
            <a:fillRect/>
          </a:stretch>
        </p:blipFill>
        <p:spPr>
          <a:xfrm>
            <a:off x="3455011" y="1383025"/>
            <a:ext cx="2167128" cy="720090"/>
          </a:xfrm>
          <a:prstGeom prst="rect">
            <a:avLst/>
          </a:prstGeom>
          <a:noFill/>
          <a:ln>
            <a:noFill/>
          </a:ln>
        </p:spPr>
      </p:pic>
      <p:sp>
        <p:nvSpPr>
          <p:cNvPr id="801" name="Google Shape;801;p59"/>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02" name="Google Shape;802;p59"/>
          <p:cNvPicPr preferRelativeResize="0"/>
          <p:nvPr/>
        </p:nvPicPr>
        <p:blipFill>
          <a:blip r:embed="rId5">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07" name="Shape 807"/>
        <p:cNvGrpSpPr/>
        <p:nvPr/>
      </p:nvGrpSpPr>
      <p:grpSpPr>
        <a:xfrm>
          <a:off x="0" y="0"/>
          <a:ext cx="0" cy="0"/>
          <a:chOff x="0" y="0"/>
          <a:chExt cx="0" cy="0"/>
        </a:xfrm>
      </p:grpSpPr>
      <p:sp>
        <p:nvSpPr>
          <p:cNvPr id="808" name="Google Shape;808;p60"/>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60"/>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60"/>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Logistic Regression Model</a:t>
            </a:r>
            <a:endParaRPr b="0" i="0" sz="2400" u="none" cap="none" strike="noStrike">
              <a:solidFill>
                <a:schemeClr val="dk1"/>
              </a:solidFill>
              <a:latin typeface="Calibri"/>
              <a:ea typeface="Calibri"/>
              <a:cs typeface="Calibri"/>
              <a:sym typeface="Calibri"/>
            </a:endParaRPr>
          </a:p>
        </p:txBody>
      </p:sp>
      <p:sp>
        <p:nvSpPr>
          <p:cNvPr id="811" name="Google Shape;811;p60"/>
          <p:cNvSpPr/>
          <p:nvPr/>
        </p:nvSpPr>
        <p:spPr>
          <a:xfrm>
            <a:off x="548640" y="1097280"/>
            <a:ext cx="8046600" cy="10059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60"/>
          <p:cNvSpPr/>
          <p:nvPr/>
        </p:nvSpPr>
        <p:spPr>
          <a:xfrm>
            <a:off x="548640" y="1097280"/>
            <a:ext cx="640200" cy="10059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60"/>
          <p:cNvSpPr/>
          <p:nvPr/>
        </p:nvSpPr>
        <p:spPr>
          <a:xfrm>
            <a:off x="548640" y="1097280"/>
            <a:ext cx="6402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Trebuchet MS"/>
              <a:buNone/>
            </a:pPr>
            <a:r>
              <a:rPr b="1" i="0" lang="fr" sz="2200" u="none" cap="none" strike="noStrike">
                <a:solidFill>
                  <a:srgbClr val="FFFFFF"/>
                </a:solidFill>
                <a:latin typeface="Trebuchet MS"/>
                <a:ea typeface="Trebuchet MS"/>
                <a:cs typeface="Trebuchet MS"/>
                <a:sym typeface="Trebuchet MS"/>
              </a:rPr>
              <a:t>1</a:t>
            </a:r>
            <a:endParaRPr b="0" i="0" sz="2200" u="none" cap="none" strike="noStrike">
              <a:solidFill>
                <a:schemeClr val="dk1"/>
              </a:solidFill>
              <a:latin typeface="Calibri"/>
              <a:ea typeface="Calibri"/>
              <a:cs typeface="Calibri"/>
              <a:sym typeface="Calibri"/>
            </a:endParaRPr>
          </a:p>
        </p:txBody>
      </p:sp>
      <p:sp>
        <p:nvSpPr>
          <p:cNvPr id="814" name="Google Shape;814;p60"/>
          <p:cNvSpPr/>
          <p:nvPr/>
        </p:nvSpPr>
        <p:spPr>
          <a:xfrm>
            <a:off x="1371600" y="1188720"/>
            <a:ext cx="7041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600"/>
              <a:buFont typeface="Calibri"/>
              <a:buNone/>
            </a:pPr>
            <a:r>
              <a:rPr b="1" i="0" lang="fr" sz="1600" u="none" cap="none" strike="noStrike">
                <a:solidFill>
                  <a:srgbClr val="0F2B46"/>
                </a:solidFill>
                <a:latin typeface="Calibri"/>
                <a:ea typeface="Calibri"/>
                <a:cs typeface="Calibri"/>
                <a:sym typeface="Calibri"/>
              </a:rPr>
              <a:t>Compute </a:t>
            </a:r>
            <a:endParaRPr b="0" i="0" sz="1600" u="none" cap="none" strike="noStrike">
              <a:solidFill>
                <a:schemeClr val="dk1"/>
              </a:solidFill>
              <a:latin typeface="Calibri"/>
              <a:ea typeface="Calibri"/>
              <a:cs typeface="Calibri"/>
              <a:sym typeface="Calibri"/>
            </a:endParaRPr>
          </a:p>
        </p:txBody>
      </p:sp>
      <p:sp>
        <p:nvSpPr>
          <p:cNvPr id="815" name="Google Shape;815;p60"/>
          <p:cNvSpPr/>
          <p:nvPr/>
        </p:nvSpPr>
        <p:spPr>
          <a:xfrm>
            <a:off x="1371600" y="1645920"/>
            <a:ext cx="7041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Same linear combination as before</a:t>
            </a:r>
            <a:endParaRPr b="0" i="0" sz="1200" u="none" cap="none" strike="noStrike">
              <a:solidFill>
                <a:schemeClr val="dk1"/>
              </a:solidFill>
              <a:latin typeface="Calibri"/>
              <a:ea typeface="Calibri"/>
              <a:cs typeface="Calibri"/>
              <a:sym typeface="Calibri"/>
            </a:endParaRPr>
          </a:p>
        </p:txBody>
      </p:sp>
      <p:sp>
        <p:nvSpPr>
          <p:cNvPr id="816" name="Google Shape;816;p60"/>
          <p:cNvSpPr/>
          <p:nvPr/>
        </p:nvSpPr>
        <p:spPr>
          <a:xfrm>
            <a:off x="548640" y="2286000"/>
            <a:ext cx="8046600" cy="10059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60"/>
          <p:cNvSpPr/>
          <p:nvPr/>
        </p:nvSpPr>
        <p:spPr>
          <a:xfrm>
            <a:off x="548640" y="2286000"/>
            <a:ext cx="640200" cy="10059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60"/>
          <p:cNvSpPr/>
          <p:nvPr/>
        </p:nvSpPr>
        <p:spPr>
          <a:xfrm>
            <a:off x="548640" y="2286000"/>
            <a:ext cx="6402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Trebuchet MS"/>
              <a:buNone/>
            </a:pPr>
            <a:r>
              <a:rPr b="1" i="0" lang="fr" sz="2200" u="none" cap="none" strike="noStrike">
                <a:solidFill>
                  <a:srgbClr val="FFFFFF"/>
                </a:solidFill>
                <a:latin typeface="Trebuchet MS"/>
                <a:ea typeface="Trebuchet MS"/>
                <a:cs typeface="Trebuchet MS"/>
                <a:sym typeface="Trebuchet MS"/>
              </a:rPr>
              <a:t>2</a:t>
            </a:r>
            <a:endParaRPr b="0" i="0" sz="2200" u="none" cap="none" strike="noStrike">
              <a:solidFill>
                <a:schemeClr val="dk1"/>
              </a:solidFill>
              <a:latin typeface="Calibri"/>
              <a:ea typeface="Calibri"/>
              <a:cs typeface="Calibri"/>
              <a:sym typeface="Calibri"/>
            </a:endParaRPr>
          </a:p>
        </p:txBody>
      </p:sp>
      <p:sp>
        <p:nvSpPr>
          <p:cNvPr id="819" name="Google Shape;819;p60"/>
          <p:cNvSpPr/>
          <p:nvPr/>
        </p:nvSpPr>
        <p:spPr>
          <a:xfrm>
            <a:off x="1371600" y="2377440"/>
            <a:ext cx="7041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600"/>
              <a:buFont typeface="Calibri"/>
              <a:buNone/>
            </a:pPr>
            <a:r>
              <a:rPr b="1" i="0" lang="fr" sz="1600" u="none" cap="none" strike="noStrike">
                <a:solidFill>
                  <a:srgbClr val="0F2B46"/>
                </a:solidFill>
                <a:latin typeface="Calibri"/>
                <a:ea typeface="Calibri"/>
                <a:cs typeface="Calibri"/>
                <a:sym typeface="Calibri"/>
              </a:rPr>
              <a:t>Apply sigmoid: </a:t>
            </a:r>
            <a:endParaRPr b="0" i="0" sz="1600" u="none" cap="none" strike="noStrike">
              <a:solidFill>
                <a:schemeClr val="dk1"/>
              </a:solidFill>
              <a:latin typeface="Calibri"/>
              <a:ea typeface="Calibri"/>
              <a:cs typeface="Calibri"/>
              <a:sym typeface="Calibri"/>
            </a:endParaRPr>
          </a:p>
        </p:txBody>
      </p:sp>
      <p:sp>
        <p:nvSpPr>
          <p:cNvPr id="820" name="Google Shape;820;p60"/>
          <p:cNvSpPr/>
          <p:nvPr/>
        </p:nvSpPr>
        <p:spPr>
          <a:xfrm>
            <a:off x="1371600" y="2834640"/>
            <a:ext cx="7041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Output is now a </a:t>
            </a:r>
            <a:r>
              <a:rPr lang="fr" sz="1200">
                <a:solidFill>
                  <a:srgbClr val="3D5A80"/>
                </a:solidFill>
                <a:latin typeface="Calibri"/>
                <a:ea typeface="Calibri"/>
                <a:cs typeface="Calibri"/>
                <a:sym typeface="Calibri"/>
              </a:rPr>
              <a:t>"</a:t>
            </a:r>
            <a:r>
              <a:rPr b="0" i="0" lang="fr" sz="1200" u="none" cap="none" strike="noStrike">
                <a:solidFill>
                  <a:srgbClr val="3D5A80"/>
                </a:solidFill>
                <a:latin typeface="Calibri"/>
                <a:ea typeface="Calibri"/>
                <a:cs typeface="Calibri"/>
                <a:sym typeface="Calibri"/>
              </a:rPr>
              <a:t>probability</a:t>
            </a:r>
            <a:r>
              <a:rPr lang="fr" sz="1200">
                <a:solidFill>
                  <a:srgbClr val="3D5A80"/>
                </a:solidFill>
                <a:latin typeface="Calibri"/>
                <a:ea typeface="Calibri"/>
                <a:cs typeface="Calibri"/>
                <a:sym typeface="Calibri"/>
              </a:rPr>
              <a:t>" (between 0 and 1)</a:t>
            </a:r>
            <a:endParaRPr b="0" i="0" sz="1200" u="none" cap="none" strike="noStrike">
              <a:solidFill>
                <a:schemeClr val="dk1"/>
              </a:solidFill>
              <a:latin typeface="Calibri"/>
              <a:ea typeface="Calibri"/>
              <a:cs typeface="Calibri"/>
              <a:sym typeface="Calibri"/>
            </a:endParaRPr>
          </a:p>
        </p:txBody>
      </p:sp>
      <p:sp>
        <p:nvSpPr>
          <p:cNvPr id="821" name="Google Shape;821;p60"/>
          <p:cNvSpPr/>
          <p:nvPr/>
        </p:nvSpPr>
        <p:spPr>
          <a:xfrm>
            <a:off x="548640" y="3474720"/>
            <a:ext cx="8046600" cy="10059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60"/>
          <p:cNvSpPr/>
          <p:nvPr/>
        </p:nvSpPr>
        <p:spPr>
          <a:xfrm>
            <a:off x="548640" y="3474720"/>
            <a:ext cx="640200" cy="10059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60"/>
          <p:cNvSpPr/>
          <p:nvPr/>
        </p:nvSpPr>
        <p:spPr>
          <a:xfrm>
            <a:off x="548640" y="3474720"/>
            <a:ext cx="6402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Trebuchet MS"/>
              <a:buNone/>
            </a:pPr>
            <a:r>
              <a:rPr b="1" i="0" lang="fr" sz="2200" u="none" cap="none" strike="noStrike">
                <a:solidFill>
                  <a:srgbClr val="FFFFFF"/>
                </a:solidFill>
                <a:latin typeface="Trebuchet MS"/>
                <a:ea typeface="Trebuchet MS"/>
                <a:cs typeface="Trebuchet MS"/>
                <a:sym typeface="Trebuchet MS"/>
              </a:rPr>
              <a:t>3</a:t>
            </a:r>
            <a:endParaRPr b="0" i="0" sz="2200" u="none" cap="none" strike="noStrike">
              <a:solidFill>
                <a:schemeClr val="dk1"/>
              </a:solidFill>
              <a:latin typeface="Calibri"/>
              <a:ea typeface="Calibri"/>
              <a:cs typeface="Calibri"/>
              <a:sym typeface="Calibri"/>
            </a:endParaRPr>
          </a:p>
        </p:txBody>
      </p:sp>
      <p:sp>
        <p:nvSpPr>
          <p:cNvPr id="824" name="Google Shape;824;p60"/>
          <p:cNvSpPr/>
          <p:nvPr/>
        </p:nvSpPr>
        <p:spPr>
          <a:xfrm>
            <a:off x="1371600" y="3566160"/>
            <a:ext cx="7041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1600"/>
              <a:buFont typeface="Calibri"/>
              <a:buNone/>
            </a:pPr>
            <a:r>
              <a:rPr b="1" i="0" lang="fr" sz="1600" u="none" cap="none" strike="noStrike">
                <a:solidFill>
                  <a:srgbClr val="0F2B46"/>
                </a:solidFill>
                <a:latin typeface="Calibri"/>
                <a:ea typeface="Calibri"/>
                <a:cs typeface="Calibri"/>
                <a:sym typeface="Calibri"/>
              </a:rPr>
              <a:t>Decision: predict 1 if P &gt; 0.5, else 0</a:t>
            </a:r>
            <a:endParaRPr b="0" i="0" sz="1600" u="none" cap="none" strike="noStrike">
              <a:solidFill>
                <a:schemeClr val="dk1"/>
              </a:solidFill>
              <a:latin typeface="Calibri"/>
              <a:ea typeface="Calibri"/>
              <a:cs typeface="Calibri"/>
              <a:sym typeface="Calibri"/>
            </a:endParaRPr>
          </a:p>
        </p:txBody>
      </p:sp>
      <p:sp>
        <p:nvSpPr>
          <p:cNvPr id="825" name="Google Shape;825;p60"/>
          <p:cNvSpPr/>
          <p:nvPr/>
        </p:nvSpPr>
        <p:spPr>
          <a:xfrm>
            <a:off x="1371600" y="4023360"/>
            <a:ext cx="7041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Threshold for classification</a:t>
            </a:r>
            <a:endParaRPr b="0" i="0" sz="1200" u="none" cap="none" strike="noStrike">
              <a:solidFill>
                <a:schemeClr val="dk1"/>
              </a:solidFill>
              <a:latin typeface="Calibri"/>
              <a:ea typeface="Calibri"/>
              <a:cs typeface="Calibri"/>
              <a:sym typeface="Calibri"/>
            </a:endParaRPr>
          </a:p>
        </p:txBody>
      </p:sp>
      <p:pic>
        <p:nvPicPr>
          <p:cNvPr id="826" name="Google Shape;826;p60" title="{&quot;red&quot;:15,&quot;green&quot;:43,&quot;blue&quot;:70,&quot;origURL&quot;:&quot;https://www.codecogs.com/eqnedit.php?latex=z%20%3D%20%5Ctheta%5ET%20x#0&quot;,&quot;size&quot;:16,&quot;width&quot;:236.2204724409449,&quot;height&quot;:33.94488188976378}"/>
          <p:cNvPicPr preferRelativeResize="0"/>
          <p:nvPr/>
        </p:nvPicPr>
        <p:blipFill>
          <a:blip r:embed="rId3">
            <a:alphaModFix/>
          </a:blip>
          <a:stretch>
            <a:fillRect/>
          </a:stretch>
        </p:blipFill>
        <p:spPr>
          <a:xfrm>
            <a:off x="2312975" y="1318263"/>
            <a:ext cx="757428" cy="198120"/>
          </a:xfrm>
          <a:prstGeom prst="rect">
            <a:avLst/>
          </a:prstGeom>
          <a:noFill/>
          <a:ln>
            <a:noFill/>
          </a:ln>
        </p:spPr>
      </p:pic>
      <p:pic>
        <p:nvPicPr>
          <p:cNvPr id="827" name="Google Shape;827;p60" title="{&quot;red&quot;:15,&quot;green&quot;:43,&quot;blue&quot;:70,&quot;origURL&quot;:&quot;https://www.codecogs.com/eqnedit.php?latex=P(y%3D1%7Cx)%20%3D%20%5Csigma(%5Ctheta%5ET%20x)#0&quot;,&quot;size&quot;:16,&quot;width&quot;:236.2204724409449,&quot;height&quot;:53.31496062992126}"/>
          <p:cNvPicPr preferRelativeResize="0"/>
          <p:nvPr/>
        </p:nvPicPr>
        <p:blipFill>
          <a:blip r:embed="rId4">
            <a:alphaModFix/>
          </a:blip>
          <a:stretch>
            <a:fillRect/>
          </a:stretch>
        </p:blipFill>
        <p:spPr>
          <a:xfrm>
            <a:off x="2711200" y="2513213"/>
            <a:ext cx="1463040" cy="185659"/>
          </a:xfrm>
          <a:prstGeom prst="rect">
            <a:avLst/>
          </a:prstGeom>
          <a:noFill/>
          <a:ln>
            <a:noFill/>
          </a:ln>
        </p:spPr>
      </p:pic>
      <p:sp>
        <p:nvSpPr>
          <p:cNvPr id="828" name="Google Shape;828;p60"/>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29" name="Google Shape;829;p60"/>
          <p:cNvPicPr preferRelativeResize="0"/>
          <p:nvPr/>
        </p:nvPicPr>
        <p:blipFill>
          <a:blip r:embed="rId5">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34" name="Shape 834"/>
        <p:cNvGrpSpPr/>
        <p:nvPr/>
      </p:nvGrpSpPr>
      <p:grpSpPr>
        <a:xfrm>
          <a:off x="0" y="0"/>
          <a:ext cx="0" cy="0"/>
          <a:chOff x="0" y="0"/>
          <a:chExt cx="0" cy="0"/>
        </a:xfrm>
      </p:grpSpPr>
      <p:sp>
        <p:nvSpPr>
          <p:cNvPr id="835" name="Google Shape;835;p61"/>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61"/>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61"/>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Why Not MSE for Classification?</a:t>
            </a:r>
            <a:endParaRPr b="0" i="0" sz="2400" u="none" cap="none" strike="noStrike">
              <a:solidFill>
                <a:schemeClr val="dk1"/>
              </a:solidFill>
              <a:latin typeface="Calibri"/>
              <a:ea typeface="Calibri"/>
              <a:cs typeface="Calibri"/>
              <a:sym typeface="Calibri"/>
            </a:endParaRPr>
          </a:p>
        </p:txBody>
      </p:sp>
      <p:sp>
        <p:nvSpPr>
          <p:cNvPr id="838" name="Google Shape;838;p61"/>
          <p:cNvSpPr/>
          <p:nvPr/>
        </p:nvSpPr>
        <p:spPr>
          <a:xfrm>
            <a:off x="5970100" y="1108655"/>
            <a:ext cx="3108900" cy="29262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61"/>
          <p:cNvSpPr/>
          <p:nvPr/>
        </p:nvSpPr>
        <p:spPr>
          <a:xfrm>
            <a:off x="6152980" y="1291535"/>
            <a:ext cx="2743200" cy="256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400"/>
              <a:buFont typeface="Calibri"/>
              <a:buNone/>
            </a:pPr>
            <a:r>
              <a:rPr b="0" i="0" lang="fr" sz="1400" u="none" cap="none" strike="noStrike">
                <a:solidFill>
                  <a:srgbClr val="1A1A2E"/>
                </a:solidFill>
                <a:latin typeface="Calibri"/>
                <a:ea typeface="Calibri"/>
                <a:cs typeface="Calibri"/>
                <a:sym typeface="Calibri"/>
              </a:rPr>
              <a:t>MSE + sigmoid</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1400"/>
              <a:buFont typeface="Calibri"/>
              <a:buNone/>
            </a:pPr>
            <a:r>
              <a:rPr b="0" i="0" lang="fr" sz="1400" u="none" cap="none" strike="noStrike">
                <a:solidFill>
                  <a:srgbClr val="1A1A2E"/>
                </a:solidFill>
                <a:latin typeface="Calibri"/>
                <a:ea typeface="Calibri"/>
                <a:cs typeface="Calibri"/>
                <a:sym typeface="Calibri"/>
              </a:rPr>
              <a:t>= non-convex</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1400"/>
              <a:buFont typeface="Calibri"/>
              <a:buNone/>
            </a:pPr>
            <a:r>
              <a:rPr b="0" i="0" lang="fr" sz="1400" u="none" cap="none" strike="noStrike">
                <a:solidFill>
                  <a:srgbClr val="1A1A2E"/>
                </a:solidFill>
                <a:latin typeface="Calibri"/>
                <a:ea typeface="Calibri"/>
                <a:cs typeface="Calibri"/>
                <a:sym typeface="Calibri"/>
              </a:rPr>
              <a:t>Multiple local minima where gradient descent can get stuck.</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1400"/>
              <a:buFont typeface="Calibri"/>
              <a:buNone/>
            </a:pPr>
            <a:r>
              <a:rPr b="0" i="0" lang="fr" sz="1400" u="none" cap="none" strike="noStrike">
                <a:solidFill>
                  <a:srgbClr val="1A1A2E"/>
                </a:solidFill>
                <a:latin typeface="Calibri"/>
                <a:ea typeface="Calibri"/>
                <a:cs typeface="Calibri"/>
                <a:sym typeface="Calibri"/>
              </a:rPr>
              <a:t>We need a different loss function.</a:t>
            </a:r>
            <a:endParaRPr b="0" i="0" sz="1400" u="none" cap="none" strike="noStrike">
              <a:solidFill>
                <a:schemeClr val="dk1"/>
              </a:solidFill>
              <a:latin typeface="Calibri"/>
              <a:ea typeface="Calibri"/>
              <a:cs typeface="Calibri"/>
              <a:sym typeface="Calibri"/>
            </a:endParaRPr>
          </a:p>
        </p:txBody>
      </p:sp>
      <p:pic>
        <p:nvPicPr>
          <p:cNvPr id="840" name="Google Shape;840;p61"/>
          <p:cNvPicPr preferRelativeResize="0"/>
          <p:nvPr/>
        </p:nvPicPr>
        <p:blipFill>
          <a:blip r:embed="rId3">
            <a:alphaModFix/>
          </a:blip>
          <a:stretch>
            <a:fillRect/>
          </a:stretch>
        </p:blipFill>
        <p:spPr>
          <a:xfrm>
            <a:off x="144350" y="1499526"/>
            <a:ext cx="5721324" cy="2243575"/>
          </a:xfrm>
          <a:prstGeom prst="rect">
            <a:avLst/>
          </a:prstGeom>
          <a:noFill/>
          <a:ln>
            <a:noFill/>
          </a:ln>
        </p:spPr>
      </p:pic>
      <p:sp>
        <p:nvSpPr>
          <p:cNvPr id="841" name="Google Shape;841;p61"/>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42" name="Google Shape;842;p61"/>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47" name="Shape 847"/>
        <p:cNvGrpSpPr/>
        <p:nvPr/>
      </p:nvGrpSpPr>
      <p:grpSpPr>
        <a:xfrm>
          <a:off x="0" y="0"/>
          <a:ext cx="0" cy="0"/>
          <a:chOff x="0" y="0"/>
          <a:chExt cx="0" cy="0"/>
        </a:xfrm>
      </p:grpSpPr>
      <p:sp>
        <p:nvSpPr>
          <p:cNvPr id="848" name="Google Shape;848;p62"/>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62"/>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2"/>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Cross-Entropy Loss (Log Loss)</a:t>
            </a:r>
            <a:endParaRPr b="0" i="0" sz="2400" u="none" cap="none" strike="noStrike">
              <a:solidFill>
                <a:schemeClr val="dk1"/>
              </a:solidFill>
              <a:latin typeface="Calibri"/>
              <a:ea typeface="Calibri"/>
              <a:cs typeface="Calibri"/>
              <a:sym typeface="Calibri"/>
            </a:endParaRPr>
          </a:p>
        </p:txBody>
      </p:sp>
      <p:sp>
        <p:nvSpPr>
          <p:cNvPr id="851" name="Google Shape;851;p62"/>
          <p:cNvSpPr/>
          <p:nvPr/>
        </p:nvSpPr>
        <p:spPr>
          <a:xfrm>
            <a:off x="548640" y="1097280"/>
            <a:ext cx="8046600" cy="10974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2"/>
          <p:cNvSpPr/>
          <p:nvPr/>
        </p:nvSpPr>
        <p:spPr>
          <a:xfrm>
            <a:off x="548650" y="2468878"/>
            <a:ext cx="3749100" cy="8688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62"/>
          <p:cNvSpPr/>
          <p:nvPr/>
        </p:nvSpPr>
        <p:spPr>
          <a:xfrm>
            <a:off x="548640" y="2468880"/>
            <a:ext cx="3749100" cy="732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62"/>
          <p:cNvSpPr/>
          <p:nvPr/>
        </p:nvSpPr>
        <p:spPr>
          <a:xfrm>
            <a:off x="731520" y="2651760"/>
            <a:ext cx="338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8A9E"/>
              </a:buClr>
              <a:buSzPts val="1500"/>
              <a:buFont typeface="Trebuchet MS"/>
              <a:buNone/>
            </a:pPr>
            <a:r>
              <a:rPr b="1" i="0" lang="fr" sz="1500" u="none" cap="none" strike="noStrike">
                <a:solidFill>
                  <a:srgbClr val="1B8A9E"/>
                </a:solidFill>
                <a:latin typeface="Trebuchet MS"/>
                <a:ea typeface="Trebuchet MS"/>
                <a:cs typeface="Trebuchet MS"/>
                <a:sym typeface="Trebuchet MS"/>
              </a:rPr>
              <a:t>If y = 1</a:t>
            </a:r>
            <a:endParaRPr b="0" i="0" sz="1500" u="none" cap="none" strike="noStrike">
              <a:solidFill>
                <a:schemeClr val="dk1"/>
              </a:solidFill>
              <a:latin typeface="Calibri"/>
              <a:ea typeface="Calibri"/>
              <a:cs typeface="Calibri"/>
              <a:sym typeface="Calibri"/>
            </a:endParaRPr>
          </a:p>
        </p:txBody>
      </p:sp>
      <p:sp>
        <p:nvSpPr>
          <p:cNvPr id="855" name="Google Shape;855;p62"/>
          <p:cNvSpPr/>
          <p:nvPr/>
        </p:nvSpPr>
        <p:spPr>
          <a:xfrm>
            <a:off x="731525" y="3063246"/>
            <a:ext cx="33834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Penalizes low ŷ</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200"/>
              <a:buFont typeface="Calibri"/>
              <a:buNone/>
            </a:pPr>
            <a:r>
              <a:t/>
            </a:r>
            <a:endParaRPr sz="1200">
              <a:solidFill>
                <a:srgbClr val="3D5A80"/>
              </a:solidFill>
              <a:latin typeface="Calibri"/>
              <a:ea typeface="Calibri"/>
              <a:cs typeface="Calibri"/>
              <a:sym typeface="Calibri"/>
            </a:endParaRPr>
          </a:p>
          <a:p>
            <a:pPr indent="0" lvl="0" marL="0" marR="0" rtl="0" algn="l">
              <a:spcBef>
                <a:spcPts val="0"/>
              </a:spcBef>
              <a:spcAft>
                <a:spcPts val="0"/>
              </a:spcAft>
              <a:buClr>
                <a:srgbClr val="3D5A80"/>
              </a:buClr>
              <a:buSzPts val="1200"/>
              <a:buFont typeface="Calibri"/>
              <a:buNone/>
            </a:pPr>
            <a:r>
              <a:t/>
            </a:r>
            <a:endParaRPr sz="1200">
              <a:solidFill>
                <a:srgbClr val="3D5A80"/>
              </a:solidFill>
              <a:latin typeface="Calibri"/>
              <a:ea typeface="Calibri"/>
              <a:cs typeface="Calibri"/>
              <a:sym typeface="Calibri"/>
            </a:endParaRPr>
          </a:p>
        </p:txBody>
      </p:sp>
      <p:sp>
        <p:nvSpPr>
          <p:cNvPr id="856" name="Google Shape;856;p62"/>
          <p:cNvSpPr/>
          <p:nvPr/>
        </p:nvSpPr>
        <p:spPr>
          <a:xfrm>
            <a:off x="4846325" y="2468875"/>
            <a:ext cx="3749100" cy="8688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62"/>
          <p:cNvSpPr/>
          <p:nvPr/>
        </p:nvSpPr>
        <p:spPr>
          <a:xfrm>
            <a:off x="4846320" y="2468880"/>
            <a:ext cx="3749100" cy="73200"/>
          </a:xfrm>
          <a:prstGeom prst="rect">
            <a:avLst/>
          </a:prstGeom>
          <a:solidFill>
            <a:srgbClr val="F4A4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62"/>
          <p:cNvSpPr/>
          <p:nvPr/>
        </p:nvSpPr>
        <p:spPr>
          <a:xfrm>
            <a:off x="5029200" y="2651760"/>
            <a:ext cx="338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442"/>
              </a:buClr>
              <a:buSzPts val="1500"/>
              <a:buFont typeface="Trebuchet MS"/>
              <a:buNone/>
            </a:pPr>
            <a:r>
              <a:rPr b="1" i="0" lang="fr" sz="1500" u="none" cap="none" strike="noStrike">
                <a:solidFill>
                  <a:srgbClr val="F4A442"/>
                </a:solidFill>
                <a:latin typeface="Trebuchet MS"/>
                <a:ea typeface="Trebuchet MS"/>
                <a:cs typeface="Trebuchet MS"/>
                <a:sym typeface="Trebuchet MS"/>
              </a:rPr>
              <a:t>If y = 0</a:t>
            </a:r>
            <a:endParaRPr b="0" i="0" sz="1500" u="none" cap="none" strike="noStrike">
              <a:solidFill>
                <a:schemeClr val="dk1"/>
              </a:solidFill>
              <a:latin typeface="Calibri"/>
              <a:ea typeface="Calibri"/>
              <a:cs typeface="Calibri"/>
              <a:sym typeface="Calibri"/>
            </a:endParaRPr>
          </a:p>
        </p:txBody>
      </p:sp>
      <p:sp>
        <p:nvSpPr>
          <p:cNvPr id="859" name="Google Shape;859;p62"/>
          <p:cNvSpPr/>
          <p:nvPr/>
        </p:nvSpPr>
        <p:spPr>
          <a:xfrm>
            <a:off x="5029200" y="3063248"/>
            <a:ext cx="3383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0" lang="fr" sz="1200" u="none" cap="none" strike="noStrike">
                <a:solidFill>
                  <a:srgbClr val="3D5A80"/>
                </a:solidFill>
                <a:latin typeface="Calibri"/>
                <a:ea typeface="Calibri"/>
                <a:cs typeface="Calibri"/>
                <a:sym typeface="Calibri"/>
              </a:rPr>
              <a:t>Penalizes high ŷ</a:t>
            </a:r>
            <a:endParaRPr b="0" i="0" sz="1200" u="none" cap="none" strike="noStrike">
              <a:solidFill>
                <a:schemeClr val="dk1"/>
              </a:solidFill>
              <a:latin typeface="Calibri"/>
              <a:ea typeface="Calibri"/>
              <a:cs typeface="Calibri"/>
              <a:sym typeface="Calibri"/>
            </a:endParaRPr>
          </a:p>
        </p:txBody>
      </p:sp>
      <p:pic>
        <p:nvPicPr>
          <p:cNvPr id="860" name="Google Shape;860;p62" title="{&quot;red&quot;:0,&quot;green&quot;:0,&quot;blue&quot;:0,&quot;origURL&quot;:&quot;https://www.codecogs.com/eqnedit.php?latex=%5Cell_%7BBCE%7D(y%2C%20%5Chat%7By%7D)%20%3D%20-%5By%20%5Clog(%5Chat%7By%7D)%20%2B%20(1%20-%20y)%20%5Clog(1%20-%20%5Chat%7By%7D)%5D#0&quot;,&quot;size&quot;:11,&quot;width&quot;:236.2204724409449,&quot;height&quot;:43.20472440944882}"/>
          <p:cNvPicPr preferRelativeResize="0"/>
          <p:nvPr/>
        </p:nvPicPr>
        <p:blipFill>
          <a:blip r:embed="rId3">
            <a:alphaModFix/>
          </a:blip>
          <a:stretch>
            <a:fillRect/>
          </a:stretch>
        </p:blipFill>
        <p:spPr>
          <a:xfrm>
            <a:off x="1274664" y="1440125"/>
            <a:ext cx="6139760" cy="320100"/>
          </a:xfrm>
          <a:prstGeom prst="rect">
            <a:avLst/>
          </a:prstGeom>
          <a:noFill/>
          <a:ln>
            <a:noFill/>
          </a:ln>
        </p:spPr>
      </p:pic>
      <p:pic>
        <p:nvPicPr>
          <p:cNvPr id="861" name="Google Shape;861;p62"/>
          <p:cNvPicPr preferRelativeResize="0"/>
          <p:nvPr/>
        </p:nvPicPr>
        <p:blipFill>
          <a:blip r:embed="rId4">
            <a:alphaModFix/>
          </a:blip>
          <a:stretch>
            <a:fillRect/>
          </a:stretch>
        </p:blipFill>
        <p:spPr>
          <a:xfrm>
            <a:off x="3670763" y="3383350"/>
            <a:ext cx="1802479" cy="1751650"/>
          </a:xfrm>
          <a:prstGeom prst="rect">
            <a:avLst/>
          </a:prstGeom>
          <a:noFill/>
          <a:ln>
            <a:noFill/>
          </a:ln>
        </p:spPr>
      </p:pic>
      <p:sp>
        <p:nvSpPr>
          <p:cNvPr id="862" name="Google Shape;862;p62"/>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63" name="Google Shape;863;p62"/>
          <p:cNvPicPr preferRelativeResize="0"/>
          <p:nvPr/>
        </p:nvPicPr>
        <p:blipFill>
          <a:blip r:embed="rId5">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68" name="Shape 868"/>
        <p:cNvGrpSpPr/>
        <p:nvPr/>
      </p:nvGrpSpPr>
      <p:grpSpPr>
        <a:xfrm>
          <a:off x="0" y="0"/>
          <a:ext cx="0" cy="0"/>
          <a:chOff x="0" y="0"/>
          <a:chExt cx="0" cy="0"/>
        </a:xfrm>
      </p:grpSpPr>
      <p:sp>
        <p:nvSpPr>
          <p:cNvPr id="869" name="Google Shape;869;p63"/>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63"/>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63"/>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Trained model</a:t>
            </a:r>
            <a:endParaRPr b="0" i="0" sz="2400" u="none" cap="none" strike="noStrike">
              <a:solidFill>
                <a:schemeClr val="dk1"/>
              </a:solidFill>
              <a:latin typeface="Calibri"/>
              <a:ea typeface="Calibri"/>
              <a:cs typeface="Calibri"/>
              <a:sym typeface="Calibri"/>
            </a:endParaRPr>
          </a:p>
        </p:txBody>
      </p:sp>
      <p:pic>
        <p:nvPicPr>
          <p:cNvPr id="872" name="Google Shape;872;p63"/>
          <p:cNvPicPr preferRelativeResize="0"/>
          <p:nvPr/>
        </p:nvPicPr>
        <p:blipFill rotWithShape="1">
          <a:blip r:embed="rId3">
            <a:alphaModFix/>
          </a:blip>
          <a:srcRect b="0" l="53005" r="0" t="0"/>
          <a:stretch/>
        </p:blipFill>
        <p:spPr>
          <a:xfrm>
            <a:off x="2423325" y="1074475"/>
            <a:ext cx="4297252" cy="3429000"/>
          </a:xfrm>
          <a:prstGeom prst="rect">
            <a:avLst/>
          </a:prstGeom>
          <a:noFill/>
          <a:ln>
            <a:noFill/>
          </a:ln>
        </p:spPr>
      </p:pic>
      <p:sp>
        <p:nvSpPr>
          <p:cNvPr id="873" name="Google Shape;873;p63"/>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74" name="Google Shape;874;p63"/>
          <p:cNvPicPr preferRelativeResize="0"/>
          <p:nvPr/>
        </p:nvPicPr>
        <p:blipFill>
          <a:blip r:embed="rId4">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79" name="Shape 879"/>
        <p:cNvGrpSpPr/>
        <p:nvPr/>
      </p:nvGrpSpPr>
      <p:grpSpPr>
        <a:xfrm>
          <a:off x="0" y="0"/>
          <a:ext cx="0" cy="0"/>
          <a:chOff x="0" y="0"/>
          <a:chExt cx="0" cy="0"/>
        </a:xfrm>
      </p:grpSpPr>
      <p:sp>
        <p:nvSpPr>
          <p:cNvPr id="880" name="Google Shape;880;p64"/>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64"/>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64"/>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i="0" lang="fr" sz="2400" u="none" cap="none" strike="noStrike">
                <a:solidFill>
                  <a:srgbClr val="0F2B46"/>
                </a:solidFill>
                <a:latin typeface="Trebuchet MS"/>
                <a:ea typeface="Trebuchet MS"/>
                <a:cs typeface="Trebuchet MS"/>
                <a:sym typeface="Trebuchet MS"/>
              </a:rPr>
              <a:t>Logistic Regression in scikit-learn</a:t>
            </a:r>
            <a:endParaRPr b="0" i="0" sz="2400" u="none" cap="none" strike="noStrike">
              <a:solidFill>
                <a:schemeClr val="dk1"/>
              </a:solidFill>
              <a:latin typeface="Calibri"/>
              <a:ea typeface="Calibri"/>
              <a:cs typeface="Calibri"/>
              <a:sym typeface="Calibri"/>
            </a:endParaRPr>
          </a:p>
        </p:txBody>
      </p:sp>
      <p:sp>
        <p:nvSpPr>
          <p:cNvPr id="883" name="Google Shape;883;p64"/>
          <p:cNvSpPr/>
          <p:nvPr/>
        </p:nvSpPr>
        <p:spPr>
          <a:xfrm>
            <a:off x="548640" y="1097280"/>
            <a:ext cx="8046600" cy="2011800"/>
          </a:xfrm>
          <a:prstGeom prst="rect">
            <a:avLst/>
          </a:prstGeom>
          <a:solidFill>
            <a:srgbClr val="1E293B"/>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64"/>
          <p:cNvSpPr/>
          <p:nvPr/>
        </p:nvSpPr>
        <p:spPr>
          <a:xfrm>
            <a:off x="685800" y="1188720"/>
            <a:ext cx="77724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from sklearn.linear_model import LogisticRegression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model = LogisticRegression()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model.fit(X_train, y_train)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y_pred = model.predict(X_test)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2E8F0"/>
              </a:buClr>
              <a:buSzPts val="1100"/>
              <a:buFont typeface="Consolas"/>
              <a:buNone/>
            </a:pPr>
            <a:r>
              <a:rPr b="0" i="0" lang="fr" sz="1100" u="none" cap="none" strike="noStrike">
                <a:solidFill>
                  <a:srgbClr val="E2E8F0"/>
                </a:solidFill>
                <a:latin typeface="Consolas"/>
                <a:ea typeface="Consolas"/>
                <a:cs typeface="Consolas"/>
                <a:sym typeface="Consolas"/>
              </a:rPr>
              <a:t>y_proba = model.predict_proba(X_test)[:, 1]</a:t>
            </a:r>
            <a:endParaRPr b="0" i="0" sz="1100" u="none" cap="none" strike="noStrike">
              <a:solidFill>
                <a:schemeClr val="dk1"/>
              </a:solidFill>
              <a:latin typeface="Calibri"/>
              <a:ea typeface="Calibri"/>
              <a:cs typeface="Calibri"/>
              <a:sym typeface="Calibri"/>
            </a:endParaRPr>
          </a:p>
        </p:txBody>
      </p:sp>
      <p:sp>
        <p:nvSpPr>
          <p:cNvPr id="885" name="Google Shape;885;p64"/>
          <p:cNvSpPr/>
          <p:nvPr/>
        </p:nvSpPr>
        <p:spPr>
          <a:xfrm>
            <a:off x="548640" y="3383280"/>
            <a:ext cx="8046600" cy="1097400"/>
          </a:xfrm>
          <a:prstGeom prst="rect">
            <a:avLst/>
          </a:prstGeom>
          <a:solidFill>
            <a:srgbClr val="FFFFFF"/>
          </a:solidFill>
          <a:ln>
            <a:noFill/>
          </a:ln>
          <a:effectLst>
            <a:outerShdw blurRad="762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64"/>
          <p:cNvSpPr/>
          <p:nvPr/>
        </p:nvSpPr>
        <p:spPr>
          <a:xfrm>
            <a:off x="822960" y="3474720"/>
            <a:ext cx="7498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predict_proba() returns actual probabilities, not just class labels.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D5A80"/>
              </a:buClr>
              <a:buSzPts val="1400"/>
              <a:buFont typeface="Calibri"/>
              <a:buNone/>
            </a:pPr>
            <a:r>
              <a:rPr b="0" i="0" lang="fr" sz="1400" u="none" cap="none" strike="noStrike">
                <a:solidFill>
                  <a:srgbClr val="3D5A80"/>
                </a:solidFill>
                <a:latin typeface="Calibri"/>
                <a:ea typeface="Calibri"/>
                <a:cs typeface="Calibri"/>
                <a:sym typeface="Calibri"/>
              </a:rPr>
              <a:t>Same API as LinearRegression — different model, different learning method, same interface.</a:t>
            </a:r>
            <a:endParaRPr b="0" i="0" sz="1400" u="none" cap="none" strike="noStrike">
              <a:solidFill>
                <a:schemeClr val="dk1"/>
              </a:solidFill>
              <a:latin typeface="Calibri"/>
              <a:ea typeface="Calibri"/>
              <a:cs typeface="Calibri"/>
              <a:sym typeface="Calibri"/>
            </a:endParaRPr>
          </a:p>
        </p:txBody>
      </p:sp>
      <p:sp>
        <p:nvSpPr>
          <p:cNvPr id="887" name="Google Shape;887;p64"/>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88" name="Google Shape;888;p64"/>
          <p:cNvPicPr preferRelativeResize="0"/>
          <p:nvPr/>
        </p:nvPicPr>
        <p:blipFill>
          <a:blip r:embed="rId3">
            <a:alphaModFix/>
          </a:blip>
          <a:stretch>
            <a:fillRect/>
          </a:stretch>
        </p:blipFill>
        <p:spPr>
          <a:xfrm>
            <a:off x="8382675" y="4745600"/>
            <a:ext cx="761325" cy="3979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893" name="Shape 893"/>
        <p:cNvGrpSpPr/>
        <p:nvPr/>
      </p:nvGrpSpPr>
      <p:grpSpPr>
        <a:xfrm>
          <a:off x="0" y="0"/>
          <a:ext cx="0" cy="0"/>
          <a:chOff x="0" y="0"/>
          <a:chExt cx="0" cy="0"/>
        </a:xfrm>
      </p:grpSpPr>
      <p:sp>
        <p:nvSpPr>
          <p:cNvPr id="894" name="Google Shape;894;p6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6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QUIZ</a:t>
            </a:r>
            <a:endParaRPr b="1" sz="2400">
              <a:solidFill>
                <a:srgbClr val="0F2B46"/>
              </a:solidFill>
              <a:latin typeface="Trebuchet MS"/>
              <a:ea typeface="Trebuchet MS"/>
              <a:cs typeface="Trebuchet MS"/>
              <a:sym typeface="Trebuchet MS"/>
            </a:endParaRPr>
          </a:p>
        </p:txBody>
      </p:sp>
      <p:sp>
        <p:nvSpPr>
          <p:cNvPr id="897" name="Google Shape;897;p65"/>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898" name="Google Shape;898;p65"/>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899" name="Google Shape;899;p65"/>
          <p:cNvPicPr preferRelativeResize="0"/>
          <p:nvPr/>
        </p:nvPicPr>
        <p:blipFill>
          <a:blip r:embed="rId4">
            <a:alphaModFix/>
          </a:blip>
          <a:stretch>
            <a:fillRect/>
          </a:stretch>
        </p:blipFill>
        <p:spPr>
          <a:xfrm>
            <a:off x="7975940" y="0"/>
            <a:ext cx="1168060" cy="868800"/>
          </a:xfrm>
          <a:prstGeom prst="rect">
            <a:avLst/>
          </a:prstGeom>
          <a:noFill/>
          <a:ln>
            <a:noFill/>
          </a:ln>
        </p:spPr>
      </p:pic>
      <p:sp>
        <p:nvSpPr>
          <p:cNvPr id="900" name="Google Shape;900;p65"/>
          <p:cNvSpPr txBox="1"/>
          <p:nvPr/>
        </p:nvSpPr>
        <p:spPr>
          <a:xfrm>
            <a:off x="685800" y="2522850"/>
            <a:ext cx="78522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Why can't we use linear regression directly for classification?</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What is the role of the sigmoid function in logistic regression?</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Why do we use cross-entropy loss instead of MSE for logistic regression?</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A logistic regression model outputs P(y=1|x) = 0.73. What class do we predict with a threshold of 0.5? What about with a threshold of 0.8?</a:t>
            </a:r>
            <a:endParaRPr sz="1600">
              <a:solidFill>
                <a:schemeClr val="dk1"/>
              </a:solidFill>
              <a:latin typeface="Calibri"/>
              <a:ea typeface="Calibri"/>
              <a:cs typeface="Calibri"/>
              <a:sym typeface="Calibri"/>
            </a:endParaRPr>
          </a:p>
          <a:p>
            <a:pPr indent="-330200" lvl="0" marL="457200" rtl="0" algn="l">
              <a:lnSpc>
                <a:spcPct val="115000"/>
              </a:lnSpc>
              <a:spcBef>
                <a:spcPts val="0"/>
              </a:spcBef>
              <a:spcAft>
                <a:spcPts val="0"/>
              </a:spcAft>
              <a:buClr>
                <a:schemeClr val="dk1"/>
              </a:buClr>
              <a:buSzPts val="1600"/>
              <a:buFont typeface="Calibri"/>
              <a:buAutoNum type="arabicPeriod"/>
            </a:pPr>
            <a:r>
              <a:rPr lang="fr" sz="1600">
                <a:solidFill>
                  <a:schemeClr val="dk1"/>
                </a:solidFill>
                <a:latin typeface="Calibri"/>
                <a:ea typeface="Calibri"/>
                <a:cs typeface="Calibri"/>
                <a:sym typeface="Calibri"/>
              </a:rPr>
              <a:t>How many parameters does a linear regression model have with 5 input features?</a:t>
            </a:r>
            <a:endParaRPr sz="16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05" name="Shape 905"/>
        <p:cNvGrpSpPr/>
        <p:nvPr/>
      </p:nvGrpSpPr>
      <p:grpSpPr>
        <a:xfrm>
          <a:off x="0" y="0"/>
          <a:ext cx="0" cy="0"/>
          <a:chOff x="0" y="0"/>
          <a:chExt cx="0" cy="0"/>
        </a:xfrm>
      </p:grpSpPr>
      <p:sp>
        <p:nvSpPr>
          <p:cNvPr id="906" name="Google Shape;906;p6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6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ML : Exemple d'entraînement Regression</a:t>
            </a:r>
            <a:endParaRPr b="1" sz="2400">
              <a:solidFill>
                <a:srgbClr val="0F2B46"/>
              </a:solidFill>
              <a:latin typeface="Trebuchet MS"/>
              <a:ea typeface="Trebuchet MS"/>
              <a:cs typeface="Trebuchet MS"/>
              <a:sym typeface="Trebuchet MS"/>
            </a:endParaRPr>
          </a:p>
        </p:txBody>
      </p:sp>
      <p:sp>
        <p:nvSpPr>
          <p:cNvPr id="909" name="Google Shape;909;p6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910" name="Google Shape;910;p66"/>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911" name="Google Shape;911;p66"/>
          <p:cNvPicPr preferRelativeResize="0"/>
          <p:nvPr/>
        </p:nvPicPr>
        <p:blipFill>
          <a:blip r:embed="rId4">
            <a:alphaModFix/>
          </a:blip>
          <a:stretch>
            <a:fillRect/>
          </a:stretch>
        </p:blipFill>
        <p:spPr>
          <a:xfrm>
            <a:off x="4296100" y="868801"/>
            <a:ext cx="4415949" cy="2634876"/>
          </a:xfrm>
          <a:prstGeom prst="rect">
            <a:avLst/>
          </a:prstGeom>
          <a:noFill/>
          <a:ln>
            <a:noFill/>
          </a:ln>
        </p:spPr>
      </p:pic>
      <p:pic>
        <p:nvPicPr>
          <p:cNvPr id="912" name="Google Shape;912;p66"/>
          <p:cNvPicPr preferRelativeResize="0"/>
          <p:nvPr/>
        </p:nvPicPr>
        <p:blipFill>
          <a:blip r:embed="rId5">
            <a:alphaModFix/>
          </a:blip>
          <a:stretch>
            <a:fillRect/>
          </a:stretch>
        </p:blipFill>
        <p:spPr>
          <a:xfrm>
            <a:off x="431850" y="868800"/>
            <a:ext cx="3789450" cy="2634873"/>
          </a:xfrm>
          <a:prstGeom prst="rect">
            <a:avLst/>
          </a:prstGeom>
          <a:noFill/>
          <a:ln>
            <a:noFill/>
          </a:ln>
        </p:spPr>
      </p:pic>
      <p:sp>
        <p:nvSpPr>
          <p:cNvPr id="913" name="Google Shape;913;p66"/>
          <p:cNvSpPr txBox="1"/>
          <p:nvPr/>
        </p:nvSpPr>
        <p:spPr>
          <a:xfrm>
            <a:off x="-134650" y="3899125"/>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30770"/>
              </a:lnSpc>
              <a:spcBef>
                <a:spcPts val="0"/>
              </a:spcBef>
              <a:spcAft>
                <a:spcPts val="0"/>
              </a:spcAft>
              <a:buNone/>
            </a:pPr>
            <a:r>
              <a:t/>
            </a:r>
            <a:endParaRPr sz="1000">
              <a:solidFill>
                <a:schemeClr val="dk1"/>
              </a:solidFill>
              <a:highlight>
                <a:srgbClr val="FFFFFF"/>
              </a:highlight>
              <a:latin typeface="Montserrat"/>
              <a:ea typeface="Montserrat"/>
              <a:cs typeface="Montserrat"/>
              <a:sym typeface="Montserrat"/>
            </a:endParaRPr>
          </a:p>
        </p:txBody>
      </p:sp>
      <p:sp>
        <p:nvSpPr>
          <p:cNvPr id="914" name="Google Shape;914;p66"/>
          <p:cNvSpPr txBox="1"/>
          <p:nvPr/>
        </p:nvSpPr>
        <p:spPr>
          <a:xfrm>
            <a:off x="596013" y="3604188"/>
            <a:ext cx="18573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solidFill>
                  <a:schemeClr val="dk1"/>
                </a:solidFill>
                <a:latin typeface="Montserrat"/>
                <a:ea typeface="Montserrat"/>
                <a:cs typeface="Montserrat"/>
                <a:sym typeface="Montserrat"/>
              </a:rPr>
              <a:t>Modèle initial</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a=-0.01, b=34.70</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rPr b="1" lang="fr" sz="1100">
                <a:solidFill>
                  <a:schemeClr val="dk1"/>
                </a:solidFill>
                <a:latin typeface="Montserrat"/>
                <a:ea typeface="Montserrat"/>
                <a:cs typeface="Montserrat"/>
                <a:sym typeface="Montserrat"/>
              </a:rPr>
              <a:t>Modèle entraîné</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a=0.019, b=-23.47</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b="1" sz="1100">
              <a:solidFill>
                <a:schemeClr val="dk1"/>
              </a:solidFill>
              <a:latin typeface="Montserrat"/>
              <a:ea typeface="Montserrat"/>
              <a:cs typeface="Montserrat"/>
              <a:sym typeface="Montserrat"/>
            </a:endParaRPr>
          </a:p>
        </p:txBody>
      </p:sp>
      <p:sp>
        <p:nvSpPr>
          <p:cNvPr id="915" name="Google Shape;915;p66"/>
          <p:cNvSpPr txBox="1"/>
          <p:nvPr/>
        </p:nvSpPr>
        <p:spPr>
          <a:xfrm>
            <a:off x="2341930" y="3663500"/>
            <a:ext cx="2607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dk1"/>
              </a:solidFill>
              <a:latin typeface="Montserrat"/>
              <a:ea typeface="Montserrat"/>
              <a:cs typeface="Montserrat"/>
              <a:sym typeface="Montserrat"/>
            </a:endParaRPr>
          </a:p>
        </p:txBody>
      </p:sp>
      <p:sp>
        <p:nvSpPr>
          <p:cNvPr id="916" name="Google Shape;916;p66"/>
          <p:cNvSpPr txBox="1"/>
          <p:nvPr/>
        </p:nvSpPr>
        <p:spPr>
          <a:xfrm>
            <a:off x="2804822" y="3604200"/>
            <a:ext cx="40893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solidFill>
                  <a:schemeClr val="dk1"/>
                </a:solidFill>
                <a:latin typeface="Montserrat"/>
                <a:ea typeface="Montserrat"/>
                <a:cs typeface="Montserrat"/>
                <a:sym typeface="Montserrat"/>
              </a:rPr>
              <a:t>Prédiction pour 2030</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-0.01 * 2030 + 34.70 = 14.4</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b="1" lang="fr" sz="1100">
                <a:solidFill>
                  <a:schemeClr val="dk1"/>
                </a:solidFill>
                <a:latin typeface="Montserrat"/>
                <a:ea typeface="Montserrat"/>
                <a:cs typeface="Montserrat"/>
                <a:sym typeface="Montserrat"/>
              </a:rPr>
              <a:t>Prédiction pour 2030</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0.019 * 2030 - 23.47 = 15.1</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b="1" sz="1100">
              <a:solidFill>
                <a:schemeClr val="dk1"/>
              </a:solidFill>
              <a:latin typeface="Montserrat"/>
              <a:ea typeface="Montserrat"/>
              <a:cs typeface="Montserrat"/>
              <a:sym typeface="Montserrat"/>
            </a:endParaRPr>
          </a:p>
        </p:txBody>
      </p:sp>
      <p:pic>
        <p:nvPicPr>
          <p:cNvPr id="917" name="Google Shape;917;p66" title="Gradient_descent_maximum_likelihood.gif"/>
          <p:cNvPicPr preferRelativeResize="0"/>
          <p:nvPr/>
        </p:nvPicPr>
        <p:blipFill>
          <a:blip r:embed="rId6">
            <a:alphaModFix/>
          </a:blip>
          <a:stretch>
            <a:fillRect/>
          </a:stretch>
        </p:blipFill>
        <p:spPr>
          <a:xfrm>
            <a:off x="5429213" y="3594168"/>
            <a:ext cx="2719125" cy="1409182"/>
          </a:xfrm>
          <a:prstGeom prst="rect">
            <a:avLst/>
          </a:prstGeom>
          <a:noFill/>
          <a:ln>
            <a:noFill/>
          </a:ln>
        </p:spPr>
      </p:pic>
      <p:sp>
        <p:nvSpPr>
          <p:cNvPr id="918" name="Google Shape;918;p66"/>
          <p:cNvSpPr txBox="1"/>
          <p:nvPr/>
        </p:nvSpPr>
        <p:spPr>
          <a:xfrm>
            <a:off x="5288788" y="487912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00">
                <a:latin typeface="Calibri"/>
                <a:ea typeface="Calibri"/>
                <a:cs typeface="Calibri"/>
                <a:sym typeface="Calibri"/>
              </a:rPr>
              <a:t>trajectoire de la descente de gradient dans l'espace des paramètres</a:t>
            </a:r>
            <a:endParaRPr sz="800">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23" name="Shape 923"/>
        <p:cNvGrpSpPr/>
        <p:nvPr/>
      </p:nvGrpSpPr>
      <p:grpSpPr>
        <a:xfrm>
          <a:off x="0" y="0"/>
          <a:ext cx="0" cy="0"/>
          <a:chOff x="0" y="0"/>
          <a:chExt cx="0" cy="0"/>
        </a:xfrm>
      </p:grpSpPr>
      <p:sp>
        <p:nvSpPr>
          <p:cNvPr id="924" name="Google Shape;924;p67"/>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67"/>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7"/>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ML : Exemple d'entraînement Classification</a:t>
            </a:r>
            <a:endParaRPr b="1" sz="2400">
              <a:solidFill>
                <a:srgbClr val="0F2B46"/>
              </a:solidFill>
              <a:latin typeface="Trebuchet MS"/>
              <a:ea typeface="Trebuchet MS"/>
              <a:cs typeface="Trebuchet MS"/>
              <a:sym typeface="Trebuchet MS"/>
            </a:endParaRPr>
          </a:p>
        </p:txBody>
      </p:sp>
      <p:sp>
        <p:nvSpPr>
          <p:cNvPr id="927" name="Google Shape;927;p67"/>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928" name="Google Shape;928;p67"/>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929" name="Google Shape;929;p67"/>
          <p:cNvPicPr preferRelativeResize="0"/>
          <p:nvPr/>
        </p:nvPicPr>
        <p:blipFill>
          <a:blip r:embed="rId4">
            <a:alphaModFix/>
          </a:blip>
          <a:stretch>
            <a:fillRect/>
          </a:stretch>
        </p:blipFill>
        <p:spPr>
          <a:xfrm>
            <a:off x="4296100" y="868801"/>
            <a:ext cx="4415949" cy="2634876"/>
          </a:xfrm>
          <a:prstGeom prst="rect">
            <a:avLst/>
          </a:prstGeom>
          <a:noFill/>
          <a:ln>
            <a:noFill/>
          </a:ln>
        </p:spPr>
      </p:pic>
      <p:sp>
        <p:nvSpPr>
          <p:cNvPr id="930" name="Google Shape;930;p67"/>
          <p:cNvSpPr txBox="1"/>
          <p:nvPr/>
        </p:nvSpPr>
        <p:spPr>
          <a:xfrm>
            <a:off x="132076" y="3896675"/>
            <a:ext cx="3000000" cy="338700"/>
          </a:xfrm>
          <a:prstGeom prst="rect">
            <a:avLst/>
          </a:prstGeom>
          <a:noFill/>
          <a:ln>
            <a:noFill/>
          </a:ln>
        </p:spPr>
        <p:txBody>
          <a:bodyPr anchorCtr="0" anchor="t" bIns="91425" lIns="91425" spcFirstLastPara="1" rIns="91425" wrap="square" tIns="91425">
            <a:spAutoFit/>
          </a:bodyPr>
          <a:lstStyle/>
          <a:p>
            <a:pPr indent="0" lvl="0" marL="0" rtl="0" algn="l">
              <a:lnSpc>
                <a:spcPct val="130770"/>
              </a:lnSpc>
              <a:spcBef>
                <a:spcPts val="0"/>
              </a:spcBef>
              <a:spcAft>
                <a:spcPts val="0"/>
              </a:spcAft>
              <a:buNone/>
            </a:pPr>
            <a:r>
              <a:t/>
            </a:r>
            <a:endParaRPr sz="1000">
              <a:solidFill>
                <a:schemeClr val="dk1"/>
              </a:solidFill>
              <a:highlight>
                <a:srgbClr val="FFFFFF"/>
              </a:highlight>
              <a:latin typeface="Montserrat"/>
              <a:ea typeface="Montserrat"/>
              <a:cs typeface="Montserrat"/>
              <a:sym typeface="Montserrat"/>
            </a:endParaRPr>
          </a:p>
        </p:txBody>
      </p:sp>
      <p:sp>
        <p:nvSpPr>
          <p:cNvPr id="931" name="Google Shape;931;p67"/>
          <p:cNvSpPr txBox="1"/>
          <p:nvPr/>
        </p:nvSpPr>
        <p:spPr>
          <a:xfrm>
            <a:off x="862739" y="3601738"/>
            <a:ext cx="1857300" cy="136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solidFill>
                  <a:schemeClr val="dk1"/>
                </a:solidFill>
                <a:latin typeface="Montserrat"/>
                <a:ea typeface="Montserrat"/>
                <a:cs typeface="Montserrat"/>
                <a:sym typeface="Montserrat"/>
              </a:rPr>
              <a:t>Modèle initial</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a=0.19, b=-1.17</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rPr b="1" lang="fr" sz="1100">
                <a:solidFill>
                  <a:schemeClr val="dk1"/>
                </a:solidFill>
                <a:latin typeface="Montserrat"/>
                <a:ea typeface="Montserrat"/>
                <a:cs typeface="Montserrat"/>
                <a:sym typeface="Montserrat"/>
              </a:rPr>
              <a:t>Modèle entraîné</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a=-1.01, b=1.6</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b="1" sz="1100">
              <a:solidFill>
                <a:schemeClr val="dk1"/>
              </a:solidFill>
              <a:latin typeface="Montserrat"/>
              <a:ea typeface="Montserrat"/>
              <a:cs typeface="Montserrat"/>
              <a:sym typeface="Montserrat"/>
            </a:endParaRPr>
          </a:p>
        </p:txBody>
      </p:sp>
      <p:sp>
        <p:nvSpPr>
          <p:cNvPr id="932" name="Google Shape;932;p67"/>
          <p:cNvSpPr txBox="1"/>
          <p:nvPr/>
        </p:nvSpPr>
        <p:spPr>
          <a:xfrm>
            <a:off x="2608657" y="3661050"/>
            <a:ext cx="26076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chemeClr val="dk1"/>
              </a:solidFill>
              <a:latin typeface="Montserrat"/>
              <a:ea typeface="Montserrat"/>
              <a:cs typeface="Montserrat"/>
              <a:sym typeface="Montserrat"/>
            </a:endParaRPr>
          </a:p>
        </p:txBody>
      </p:sp>
      <p:sp>
        <p:nvSpPr>
          <p:cNvPr id="933" name="Google Shape;933;p67"/>
          <p:cNvSpPr txBox="1"/>
          <p:nvPr/>
        </p:nvSpPr>
        <p:spPr>
          <a:xfrm>
            <a:off x="3071549" y="3601750"/>
            <a:ext cx="40893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solidFill>
                  <a:schemeClr val="dk1"/>
                </a:solidFill>
                <a:latin typeface="Montserrat"/>
                <a:ea typeface="Montserrat"/>
                <a:cs typeface="Montserrat"/>
                <a:sym typeface="Montserrat"/>
              </a:rPr>
              <a:t>Prédiction pour (1.4,1.2)</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bleu</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b="1" lang="fr" sz="1100">
                <a:solidFill>
                  <a:schemeClr val="dk1"/>
                </a:solidFill>
                <a:latin typeface="Montserrat"/>
                <a:ea typeface="Montserrat"/>
                <a:cs typeface="Montserrat"/>
                <a:sym typeface="Montserrat"/>
              </a:rPr>
              <a:t>Prédiction pour (1.4,1.2)</a:t>
            </a:r>
            <a:endParaRPr b="1"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fr" sz="1100">
                <a:solidFill>
                  <a:schemeClr val="dk1"/>
                </a:solidFill>
                <a:highlight>
                  <a:schemeClr val="lt1"/>
                </a:highlight>
                <a:latin typeface="Montserrat"/>
                <a:ea typeface="Montserrat"/>
                <a:cs typeface="Montserrat"/>
                <a:sym typeface="Montserrat"/>
              </a:rPr>
              <a:t>rouge</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highlight>
                <a:schemeClr val="lt1"/>
              </a:highlight>
              <a:latin typeface="Montserrat"/>
              <a:ea typeface="Montserrat"/>
              <a:cs typeface="Montserrat"/>
              <a:sym typeface="Montserrat"/>
            </a:endParaRPr>
          </a:p>
          <a:p>
            <a:pPr indent="0" lvl="0" marL="0" rtl="0" algn="l">
              <a:spcBef>
                <a:spcPts val="0"/>
              </a:spcBef>
              <a:spcAft>
                <a:spcPts val="0"/>
              </a:spcAft>
              <a:buNone/>
            </a:pPr>
            <a:r>
              <a:t/>
            </a:r>
            <a:endParaRPr b="1" sz="1100">
              <a:solidFill>
                <a:schemeClr val="dk1"/>
              </a:solidFill>
              <a:latin typeface="Montserrat"/>
              <a:ea typeface="Montserrat"/>
              <a:cs typeface="Montserrat"/>
              <a:sym typeface="Montserrat"/>
            </a:endParaRPr>
          </a:p>
        </p:txBody>
      </p:sp>
      <p:sp>
        <p:nvSpPr>
          <p:cNvPr id="934" name="Google Shape;934;p67"/>
          <p:cNvSpPr/>
          <p:nvPr/>
        </p:nvSpPr>
        <p:spPr>
          <a:xfrm>
            <a:off x="4761975" y="946525"/>
            <a:ext cx="315600" cy="27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sp>
        <p:nvSpPr>
          <p:cNvPr id="935" name="Google Shape;935;p67"/>
          <p:cNvSpPr/>
          <p:nvPr/>
        </p:nvSpPr>
        <p:spPr>
          <a:xfrm>
            <a:off x="5121600" y="2128575"/>
            <a:ext cx="315600" cy="27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sp>
        <p:nvSpPr>
          <p:cNvPr id="936" name="Google Shape;936;p67"/>
          <p:cNvSpPr/>
          <p:nvPr/>
        </p:nvSpPr>
        <p:spPr>
          <a:xfrm>
            <a:off x="5851850" y="2515788"/>
            <a:ext cx="315600" cy="27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sp>
        <p:nvSpPr>
          <p:cNvPr id="937" name="Google Shape;937;p67"/>
          <p:cNvSpPr/>
          <p:nvPr/>
        </p:nvSpPr>
        <p:spPr>
          <a:xfrm>
            <a:off x="8396450" y="2515788"/>
            <a:ext cx="315600" cy="27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sp>
        <p:nvSpPr>
          <p:cNvPr id="938" name="Google Shape;938;p67"/>
          <p:cNvSpPr/>
          <p:nvPr/>
        </p:nvSpPr>
        <p:spPr>
          <a:xfrm>
            <a:off x="4296100" y="1618950"/>
            <a:ext cx="165000" cy="272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pic>
        <p:nvPicPr>
          <p:cNvPr id="939" name="Google Shape;939;p67" title="class.gif"/>
          <p:cNvPicPr preferRelativeResize="0"/>
          <p:nvPr/>
        </p:nvPicPr>
        <p:blipFill>
          <a:blip r:embed="rId5">
            <a:alphaModFix/>
          </a:blip>
          <a:stretch>
            <a:fillRect/>
          </a:stretch>
        </p:blipFill>
        <p:spPr>
          <a:xfrm>
            <a:off x="152400" y="1021200"/>
            <a:ext cx="3885059" cy="2428162"/>
          </a:xfrm>
          <a:prstGeom prst="rect">
            <a:avLst/>
          </a:prstGeom>
          <a:noFill/>
          <a:ln>
            <a:noFill/>
          </a:ln>
        </p:spPr>
      </p:pic>
      <p:sp>
        <p:nvSpPr>
          <p:cNvPr id="940" name="Google Shape;940;p67"/>
          <p:cNvSpPr/>
          <p:nvPr/>
        </p:nvSpPr>
        <p:spPr>
          <a:xfrm>
            <a:off x="6123425" y="876137"/>
            <a:ext cx="1535100" cy="15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sz="900">
                <a:solidFill>
                  <a:schemeClr val="dk1"/>
                </a:solidFill>
                <a:highlight>
                  <a:schemeClr val="lt1"/>
                </a:highlight>
                <a:latin typeface="Calibri"/>
                <a:ea typeface="Calibri"/>
                <a:cs typeface="Calibri"/>
                <a:sym typeface="Calibri"/>
              </a:rPr>
              <a:t>Binary cross entropy</a:t>
            </a:r>
            <a:endParaRPr sz="800">
              <a:solidFill>
                <a:schemeClr val="dk1"/>
              </a:solidFill>
              <a:highlight>
                <a:schemeClr val="lt1"/>
              </a:highlight>
              <a:latin typeface="Calibri"/>
              <a:ea typeface="Calibri"/>
              <a:cs typeface="Calibri"/>
              <a:sym typeface="Calibri"/>
            </a:endParaRPr>
          </a:p>
        </p:txBody>
      </p:sp>
      <p:pic>
        <p:nvPicPr>
          <p:cNvPr id="941" name="Google Shape;941;p67" title="Gradient_descent_maximum_likelihood.gif"/>
          <p:cNvPicPr preferRelativeResize="0"/>
          <p:nvPr/>
        </p:nvPicPr>
        <p:blipFill>
          <a:blip r:embed="rId6">
            <a:alphaModFix/>
          </a:blip>
          <a:stretch>
            <a:fillRect/>
          </a:stretch>
        </p:blipFill>
        <p:spPr>
          <a:xfrm>
            <a:off x="5429213" y="3564818"/>
            <a:ext cx="2719125" cy="1409182"/>
          </a:xfrm>
          <a:prstGeom prst="rect">
            <a:avLst/>
          </a:prstGeom>
          <a:noFill/>
          <a:ln>
            <a:noFill/>
          </a:ln>
        </p:spPr>
      </p:pic>
      <p:sp>
        <p:nvSpPr>
          <p:cNvPr id="942" name="Google Shape;942;p67"/>
          <p:cNvSpPr txBox="1"/>
          <p:nvPr/>
        </p:nvSpPr>
        <p:spPr>
          <a:xfrm>
            <a:off x="5288788" y="487912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00">
                <a:latin typeface="Calibri"/>
                <a:ea typeface="Calibri"/>
                <a:cs typeface="Calibri"/>
                <a:sym typeface="Calibri"/>
              </a:rPr>
              <a:t>trajectoire de la descente de gradient dans l'espace des paramètres</a:t>
            </a:r>
            <a:endParaRPr sz="800">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947" name="Shape 947"/>
        <p:cNvGrpSpPr/>
        <p:nvPr/>
      </p:nvGrpSpPr>
      <p:grpSpPr>
        <a:xfrm>
          <a:off x="0" y="0"/>
          <a:ext cx="0" cy="0"/>
          <a:chOff x="0" y="0"/>
          <a:chExt cx="0" cy="0"/>
        </a:xfrm>
      </p:grpSpPr>
      <p:pic>
        <p:nvPicPr>
          <p:cNvPr id="948" name="Google Shape;948;p68"/>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949" name="Google Shape;949;p68"/>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Visualization</a:t>
            </a:r>
            <a:r>
              <a:rPr b="1" lang="fr" sz="3600">
                <a:solidFill>
                  <a:srgbClr val="FFFFFF"/>
                </a:solidFill>
                <a:latin typeface="Montserrat"/>
                <a:ea typeface="Montserrat"/>
                <a:cs typeface="Montserrat"/>
                <a:sym typeface="Montserrat"/>
              </a:rPr>
              <a:t> and prepare the data</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954" name="Shape 954"/>
        <p:cNvGrpSpPr/>
        <p:nvPr/>
      </p:nvGrpSpPr>
      <p:grpSpPr>
        <a:xfrm>
          <a:off x="0" y="0"/>
          <a:ext cx="0" cy="0"/>
          <a:chOff x="0" y="0"/>
          <a:chExt cx="0" cy="0"/>
        </a:xfrm>
      </p:grpSpPr>
      <p:pic>
        <p:nvPicPr>
          <p:cNvPr id="955" name="Google Shape;955;p69"/>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956" name="Google Shape;956;p69"/>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Missing Values</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61" name="Shape 961"/>
        <p:cNvGrpSpPr/>
        <p:nvPr/>
      </p:nvGrpSpPr>
      <p:grpSpPr>
        <a:xfrm>
          <a:off x="0" y="0"/>
          <a:ext cx="0" cy="0"/>
          <a:chOff x="0" y="0"/>
          <a:chExt cx="0" cy="0"/>
        </a:xfrm>
      </p:grpSpPr>
      <p:sp>
        <p:nvSpPr>
          <p:cNvPr id="962" name="Google Shape;962;p70"/>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0"/>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0"/>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Missing data</a:t>
            </a:r>
            <a:endParaRPr b="0" i="0" sz="2400" u="none" cap="none" strike="noStrike">
              <a:solidFill>
                <a:schemeClr val="dk1"/>
              </a:solidFill>
              <a:latin typeface="Calibri"/>
              <a:ea typeface="Calibri"/>
              <a:cs typeface="Calibri"/>
              <a:sym typeface="Calibri"/>
            </a:endParaRPr>
          </a:p>
        </p:txBody>
      </p:sp>
      <p:sp>
        <p:nvSpPr>
          <p:cNvPr id="965" name="Google Shape;965;p70"/>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966" name="Google Shape;966;p70"/>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967" name="Google Shape;967;p70"/>
          <p:cNvSpPr txBox="1"/>
          <p:nvPr/>
        </p:nvSpPr>
        <p:spPr>
          <a:xfrm>
            <a:off x="548650" y="1320963"/>
            <a:ext cx="3000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latin typeface="Calibri"/>
                <a:ea typeface="Calibri"/>
                <a:cs typeface="Calibri"/>
                <a:sym typeface="Calibri"/>
              </a:rPr>
              <a:t>Data not collected</a:t>
            </a:r>
            <a:r>
              <a:rPr lang="fr">
                <a:latin typeface="Calibri"/>
                <a:ea typeface="Calibri"/>
                <a:cs typeface="Calibri"/>
                <a:sym typeface="Calibri"/>
              </a:rPr>
              <a:t>: Information might not be collected, either due to oversight or because it was not available.</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b="1" lang="fr">
                <a:latin typeface="Calibri"/>
                <a:ea typeface="Calibri"/>
                <a:cs typeface="Calibri"/>
                <a:sym typeface="Calibri"/>
              </a:rPr>
              <a:t>Data corruption</a:t>
            </a:r>
            <a:r>
              <a:rPr lang="fr">
                <a:latin typeface="Calibri"/>
                <a:ea typeface="Calibri"/>
                <a:cs typeface="Calibri"/>
                <a:sym typeface="Calibri"/>
              </a:rPr>
              <a:t>: During data transfer or storage, data might get corrupted leading to missing entries.</a:t>
            </a:r>
            <a:endParaRPr>
              <a:latin typeface="Calibri"/>
              <a:ea typeface="Calibri"/>
              <a:cs typeface="Calibri"/>
              <a:sym typeface="Calibri"/>
            </a:endParaRPr>
          </a:p>
        </p:txBody>
      </p:sp>
      <p:pic>
        <p:nvPicPr>
          <p:cNvPr id="968" name="Google Shape;968;p70"/>
          <p:cNvPicPr preferRelativeResize="0"/>
          <p:nvPr/>
        </p:nvPicPr>
        <p:blipFill>
          <a:blip r:embed="rId4">
            <a:alphaModFix/>
          </a:blip>
          <a:stretch>
            <a:fillRect/>
          </a:stretch>
        </p:blipFill>
        <p:spPr>
          <a:xfrm>
            <a:off x="3752425" y="1194188"/>
            <a:ext cx="4514850" cy="216217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73" name="Shape 973"/>
        <p:cNvGrpSpPr/>
        <p:nvPr/>
      </p:nvGrpSpPr>
      <p:grpSpPr>
        <a:xfrm>
          <a:off x="0" y="0"/>
          <a:ext cx="0" cy="0"/>
          <a:chOff x="0" y="0"/>
          <a:chExt cx="0" cy="0"/>
        </a:xfrm>
      </p:grpSpPr>
      <p:sp>
        <p:nvSpPr>
          <p:cNvPr id="974" name="Google Shape;974;p71"/>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71"/>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1"/>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Missing data - Visualization</a:t>
            </a:r>
            <a:endParaRPr b="0" i="0" sz="2400" u="none" cap="none" strike="noStrike">
              <a:solidFill>
                <a:schemeClr val="dk1"/>
              </a:solidFill>
              <a:latin typeface="Calibri"/>
              <a:ea typeface="Calibri"/>
              <a:cs typeface="Calibri"/>
              <a:sym typeface="Calibri"/>
            </a:endParaRPr>
          </a:p>
        </p:txBody>
      </p:sp>
      <p:sp>
        <p:nvSpPr>
          <p:cNvPr id="977" name="Google Shape;977;p71"/>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978" name="Google Shape;978;p71"/>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979" name="Google Shape;979;p71"/>
          <p:cNvPicPr preferRelativeResize="0"/>
          <p:nvPr/>
        </p:nvPicPr>
        <p:blipFill>
          <a:blip r:embed="rId4">
            <a:alphaModFix/>
          </a:blip>
          <a:stretch>
            <a:fillRect/>
          </a:stretch>
        </p:blipFill>
        <p:spPr>
          <a:xfrm>
            <a:off x="132077" y="1251763"/>
            <a:ext cx="5430125" cy="2715050"/>
          </a:xfrm>
          <a:prstGeom prst="rect">
            <a:avLst/>
          </a:prstGeom>
          <a:noFill/>
          <a:ln>
            <a:noFill/>
          </a:ln>
        </p:spPr>
      </p:pic>
      <p:sp>
        <p:nvSpPr>
          <p:cNvPr id="980" name="Google Shape;980;p71"/>
          <p:cNvSpPr/>
          <p:nvPr/>
        </p:nvSpPr>
        <p:spPr>
          <a:xfrm>
            <a:off x="5613549" y="1899428"/>
            <a:ext cx="3496200" cy="1678200"/>
          </a:xfrm>
          <a:prstGeom prst="rect">
            <a:avLst/>
          </a:prstGeom>
          <a:solidFill>
            <a:srgbClr val="1E2233"/>
          </a:solidFill>
          <a:ln>
            <a:noFill/>
          </a:ln>
        </p:spPr>
        <p:txBody>
          <a:bodyPr anchorCtr="0" anchor="ctr" bIns="34950" lIns="34950" spcFirstLastPara="1" rIns="34950" wrap="square" tIns="34950">
            <a:noAutofit/>
          </a:bodyPr>
          <a:lstStyle/>
          <a:p>
            <a:pPr indent="0" lvl="0" marL="0" rtl="0" algn="l">
              <a:spcBef>
                <a:spcPts val="0"/>
              </a:spcBef>
              <a:spcAft>
                <a:spcPts val="0"/>
              </a:spcAft>
              <a:buNone/>
            </a:pPr>
            <a:r>
              <a:t/>
            </a:r>
            <a:endParaRPr/>
          </a:p>
        </p:txBody>
      </p:sp>
      <p:sp>
        <p:nvSpPr>
          <p:cNvPr id="981" name="Google Shape;981;p71"/>
          <p:cNvSpPr/>
          <p:nvPr/>
        </p:nvSpPr>
        <p:spPr>
          <a:xfrm>
            <a:off x="5665990" y="1934390"/>
            <a:ext cx="3391200" cy="160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21"/>
              <a:buFont typeface="Consolas"/>
              <a:buNone/>
            </a:pPr>
            <a:r>
              <a:rPr lang="fr" sz="1321">
                <a:solidFill>
                  <a:srgbClr val="FFFFFF"/>
                </a:solidFill>
                <a:latin typeface="Consolas"/>
                <a:ea typeface="Consolas"/>
                <a:cs typeface="Consolas"/>
                <a:sym typeface="Consolas"/>
              </a:rPr>
              <a:t>import seaborn as sns</a:t>
            </a:r>
            <a:endParaRPr sz="13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421"/>
              <a:buFont typeface="Consolas"/>
              <a:buNone/>
            </a:pPr>
            <a:r>
              <a:rPr lang="fr" sz="1321">
                <a:solidFill>
                  <a:srgbClr val="FFFFFF"/>
                </a:solidFill>
                <a:latin typeface="Consolas"/>
                <a:ea typeface="Consolas"/>
                <a:cs typeface="Consolas"/>
                <a:sym typeface="Consolas"/>
              </a:rPr>
              <a:t>sns.heatmap(df.isnull(), cbar=False)</a:t>
            </a:r>
            <a:endParaRPr sz="13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421"/>
              <a:buFont typeface="Consolas"/>
              <a:buNone/>
            </a:pPr>
            <a:r>
              <a:t/>
            </a:r>
            <a:endParaRPr sz="1321">
              <a:solidFill>
                <a:srgbClr val="FFFFFF"/>
              </a:solidFill>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86" name="Shape 986"/>
        <p:cNvGrpSpPr/>
        <p:nvPr/>
      </p:nvGrpSpPr>
      <p:grpSpPr>
        <a:xfrm>
          <a:off x="0" y="0"/>
          <a:ext cx="0" cy="0"/>
          <a:chOff x="0" y="0"/>
          <a:chExt cx="0" cy="0"/>
        </a:xfrm>
      </p:grpSpPr>
      <p:sp>
        <p:nvSpPr>
          <p:cNvPr id="987" name="Google Shape;987;p72"/>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2"/>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72"/>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Missing data - Strategy 1: Drop</a:t>
            </a:r>
            <a:endParaRPr b="0" i="0" sz="2400" u="none" cap="none" strike="noStrike">
              <a:solidFill>
                <a:schemeClr val="dk1"/>
              </a:solidFill>
              <a:latin typeface="Calibri"/>
              <a:ea typeface="Calibri"/>
              <a:cs typeface="Calibri"/>
              <a:sym typeface="Calibri"/>
            </a:endParaRPr>
          </a:p>
        </p:txBody>
      </p:sp>
      <p:sp>
        <p:nvSpPr>
          <p:cNvPr id="990" name="Google Shape;990;p72"/>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991" name="Google Shape;991;p72"/>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992" name="Google Shape;992;p72"/>
          <p:cNvSpPr/>
          <p:nvPr/>
        </p:nvSpPr>
        <p:spPr>
          <a:xfrm>
            <a:off x="640080" y="2743200"/>
            <a:ext cx="3749100" cy="1097400"/>
          </a:xfrm>
          <a:prstGeom prst="rect">
            <a:avLst/>
          </a:prstGeom>
          <a:solidFill>
            <a:srgbClr val="FFFFFF"/>
          </a:solidFill>
          <a:ln>
            <a:noFill/>
          </a:ln>
          <a:effectLst>
            <a:outerShdw blurRad="50800" rotWithShape="0" algn="bl" dir="8100000" dist="127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2"/>
          <p:cNvSpPr/>
          <p:nvPr/>
        </p:nvSpPr>
        <p:spPr>
          <a:xfrm>
            <a:off x="640080" y="2743200"/>
            <a:ext cx="54900" cy="10974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2"/>
          <p:cNvSpPr/>
          <p:nvPr/>
        </p:nvSpPr>
        <p:spPr>
          <a:xfrm>
            <a:off x="868680" y="2788920"/>
            <a:ext cx="338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300"/>
              <a:buFont typeface="Trebuchet MS"/>
              <a:buNone/>
            </a:pPr>
            <a:r>
              <a:rPr b="1" i="0" lang="fr" sz="1300" u="none" cap="none" strike="noStrike">
                <a:solidFill>
                  <a:srgbClr val="059669"/>
                </a:solidFill>
                <a:latin typeface="Trebuchet MS"/>
                <a:ea typeface="Trebuchet MS"/>
                <a:cs typeface="Trebuchet MS"/>
                <a:sym typeface="Trebuchet MS"/>
              </a:rPr>
              <a:t>When to use</a:t>
            </a:r>
            <a:endParaRPr b="0" i="0" sz="1300" u="none" cap="none" strike="noStrike">
              <a:solidFill>
                <a:srgbClr val="000000"/>
              </a:solidFill>
              <a:latin typeface="Calibri"/>
              <a:ea typeface="Calibri"/>
              <a:cs typeface="Calibri"/>
              <a:sym typeface="Calibri"/>
            </a:endParaRPr>
          </a:p>
        </p:txBody>
      </p:sp>
      <p:sp>
        <p:nvSpPr>
          <p:cNvPr id="995" name="Google Shape;995;p72"/>
          <p:cNvSpPr/>
          <p:nvPr/>
        </p:nvSpPr>
        <p:spPr>
          <a:xfrm>
            <a:off x="868680" y="3108960"/>
            <a:ext cx="3383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Calibri"/>
              <a:buNone/>
            </a:pPr>
            <a:r>
              <a:rPr b="0" i="0" lang="fr" sz="1200" u="none" cap="none" strike="noStrike">
                <a:solidFill>
                  <a:srgbClr val="334155"/>
                </a:solidFill>
                <a:latin typeface="Calibri"/>
                <a:ea typeface="Calibri"/>
                <a:cs typeface="Calibri"/>
                <a:sym typeface="Calibri"/>
              </a:rPr>
              <a:t>Few missing values (&lt;5%)</a:t>
            </a:r>
            <a:endParaRPr b="0" i="0" sz="12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334155"/>
              </a:buClr>
              <a:buSzPts val="1200"/>
              <a:buFont typeface="Calibri"/>
              <a:buNone/>
            </a:pPr>
            <a:r>
              <a:rPr b="0" i="0" lang="fr" sz="1200" u="none" cap="none" strike="noStrike">
                <a:solidFill>
                  <a:srgbClr val="334155"/>
                </a:solidFill>
                <a:latin typeface="Calibri"/>
                <a:ea typeface="Calibri"/>
                <a:cs typeface="Calibri"/>
                <a:sym typeface="Calibri"/>
              </a:rPr>
              <a:t>Missing completely at random</a:t>
            </a:r>
            <a:endParaRPr b="0" i="0" sz="1200" u="none" cap="none" strike="noStrike">
              <a:solidFill>
                <a:srgbClr val="000000"/>
              </a:solidFill>
              <a:latin typeface="Calibri"/>
              <a:ea typeface="Calibri"/>
              <a:cs typeface="Calibri"/>
              <a:sym typeface="Calibri"/>
            </a:endParaRPr>
          </a:p>
        </p:txBody>
      </p:sp>
      <p:sp>
        <p:nvSpPr>
          <p:cNvPr id="996" name="Google Shape;996;p72"/>
          <p:cNvSpPr/>
          <p:nvPr/>
        </p:nvSpPr>
        <p:spPr>
          <a:xfrm>
            <a:off x="4754880" y="2743200"/>
            <a:ext cx="3749100" cy="1097400"/>
          </a:xfrm>
          <a:prstGeom prst="rect">
            <a:avLst/>
          </a:prstGeom>
          <a:solidFill>
            <a:srgbClr val="FFFFFF"/>
          </a:solidFill>
          <a:ln>
            <a:noFill/>
          </a:ln>
          <a:effectLst>
            <a:outerShdw blurRad="50800" rotWithShape="0" algn="bl" dir="8100000" dist="127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2"/>
          <p:cNvSpPr/>
          <p:nvPr/>
        </p:nvSpPr>
        <p:spPr>
          <a:xfrm>
            <a:off x="4754880" y="2743200"/>
            <a:ext cx="54900" cy="10974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2"/>
          <p:cNvSpPr/>
          <p:nvPr/>
        </p:nvSpPr>
        <p:spPr>
          <a:xfrm>
            <a:off x="4983480" y="2788920"/>
            <a:ext cx="338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300"/>
              <a:buFont typeface="Trebuchet MS"/>
              <a:buNone/>
            </a:pPr>
            <a:r>
              <a:rPr b="1" i="0" lang="fr" sz="1300" u="none" cap="none" strike="noStrike">
                <a:solidFill>
                  <a:srgbClr val="DC2626"/>
                </a:solidFill>
                <a:latin typeface="Trebuchet MS"/>
                <a:ea typeface="Trebuchet MS"/>
                <a:cs typeface="Trebuchet MS"/>
                <a:sym typeface="Trebuchet MS"/>
              </a:rPr>
              <a:t>Risk</a:t>
            </a:r>
            <a:endParaRPr b="0" i="0" sz="1300" u="none" cap="none" strike="noStrike">
              <a:solidFill>
                <a:srgbClr val="000000"/>
              </a:solidFill>
              <a:latin typeface="Calibri"/>
              <a:ea typeface="Calibri"/>
              <a:cs typeface="Calibri"/>
              <a:sym typeface="Calibri"/>
            </a:endParaRPr>
          </a:p>
        </p:txBody>
      </p:sp>
      <p:sp>
        <p:nvSpPr>
          <p:cNvPr id="999" name="Google Shape;999;p72"/>
          <p:cNvSpPr/>
          <p:nvPr/>
        </p:nvSpPr>
        <p:spPr>
          <a:xfrm>
            <a:off x="4983480" y="3108960"/>
            <a:ext cx="3383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Calibri"/>
              <a:buNone/>
            </a:pPr>
            <a:r>
              <a:rPr b="0" i="0" lang="fr" sz="1200" u="none" cap="none" strike="noStrike">
                <a:solidFill>
                  <a:srgbClr val="334155"/>
                </a:solidFill>
                <a:latin typeface="Calibri"/>
                <a:ea typeface="Calibri"/>
                <a:cs typeface="Calibri"/>
                <a:sym typeface="Calibri"/>
              </a:rPr>
              <a:t>Lose data</a:t>
            </a:r>
            <a:endParaRPr b="0" i="0" sz="12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334155"/>
              </a:buClr>
              <a:buSzPts val="1200"/>
              <a:buFont typeface="Calibri"/>
              <a:buNone/>
            </a:pPr>
            <a:r>
              <a:rPr b="0" i="0" lang="fr" sz="1200" u="none" cap="none" strike="noStrike">
                <a:solidFill>
                  <a:srgbClr val="334155"/>
                </a:solidFill>
                <a:latin typeface="Calibri"/>
                <a:ea typeface="Calibri"/>
                <a:cs typeface="Calibri"/>
                <a:sym typeface="Calibri"/>
              </a:rPr>
              <a:t>Bias if missing is not random</a:t>
            </a:r>
            <a:endParaRPr b="0" i="0" sz="1200" u="none" cap="none" strike="noStrike">
              <a:solidFill>
                <a:srgbClr val="000000"/>
              </a:solidFill>
              <a:latin typeface="Calibri"/>
              <a:ea typeface="Calibri"/>
              <a:cs typeface="Calibri"/>
              <a:sym typeface="Calibri"/>
            </a:endParaRPr>
          </a:p>
        </p:txBody>
      </p:sp>
      <p:sp>
        <p:nvSpPr>
          <p:cNvPr id="1000" name="Google Shape;1000;p72"/>
          <p:cNvSpPr/>
          <p:nvPr/>
        </p:nvSpPr>
        <p:spPr>
          <a:xfrm>
            <a:off x="1809700" y="966900"/>
            <a:ext cx="5524500" cy="1678200"/>
          </a:xfrm>
          <a:prstGeom prst="rect">
            <a:avLst/>
          </a:prstGeom>
          <a:solidFill>
            <a:srgbClr val="1E2233"/>
          </a:solidFill>
          <a:ln>
            <a:noFill/>
          </a:ln>
        </p:spPr>
        <p:txBody>
          <a:bodyPr anchorCtr="0" anchor="ctr" bIns="34950" lIns="34950" spcFirstLastPara="1" rIns="34950" wrap="square" tIns="34950">
            <a:noAutofit/>
          </a:bodyPr>
          <a:lstStyle/>
          <a:p>
            <a:pPr indent="0" lvl="0" marL="0" rtl="0" algn="l">
              <a:spcBef>
                <a:spcPts val="0"/>
              </a:spcBef>
              <a:spcAft>
                <a:spcPts val="0"/>
              </a:spcAft>
              <a:buNone/>
            </a:pPr>
            <a:r>
              <a:t/>
            </a:r>
            <a:endParaRPr/>
          </a:p>
        </p:txBody>
      </p:sp>
      <p:sp>
        <p:nvSpPr>
          <p:cNvPr id="1001" name="Google Shape;1001;p72"/>
          <p:cNvSpPr/>
          <p:nvPr/>
        </p:nvSpPr>
        <p:spPr>
          <a:xfrm>
            <a:off x="1892566" y="1001861"/>
            <a:ext cx="5358900" cy="160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21"/>
              <a:buFont typeface="Consolas"/>
              <a:buNone/>
            </a:pPr>
            <a:r>
              <a:rPr lang="fr" sz="1321">
                <a:solidFill>
                  <a:srgbClr val="FFFFFF"/>
                </a:solidFill>
                <a:latin typeface="Consolas"/>
                <a:ea typeface="Consolas"/>
                <a:cs typeface="Consolas"/>
                <a:sym typeface="Consolas"/>
              </a:rPr>
              <a:t>df.dropna()                    # drop rows with any NaN</a:t>
            </a:r>
            <a:endParaRPr sz="13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421"/>
              <a:buFont typeface="Consolas"/>
              <a:buNone/>
            </a:pPr>
            <a:r>
              <a:rPr lang="fr" sz="1321">
                <a:solidFill>
                  <a:srgbClr val="FFFFFF"/>
                </a:solidFill>
                <a:latin typeface="Consolas"/>
                <a:ea typeface="Consolas"/>
                <a:cs typeface="Consolas"/>
                <a:sym typeface="Consolas"/>
              </a:rPr>
              <a:t>df.dropna(subset=['age'])      # only where 'age' is NaN</a:t>
            </a:r>
            <a:endParaRPr sz="13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421"/>
              <a:buFont typeface="Consolas"/>
              <a:buNone/>
            </a:pPr>
            <a:r>
              <a:rPr lang="fr" sz="1321">
                <a:solidFill>
                  <a:srgbClr val="FFFFFF"/>
                </a:solidFill>
                <a:latin typeface="Consolas"/>
                <a:ea typeface="Consolas"/>
                <a:cs typeface="Consolas"/>
                <a:sym typeface="Consolas"/>
              </a:rPr>
              <a:t>df.dropna(thresh=3)            # keep rows with ≥3 non-NaN</a:t>
            </a:r>
            <a:endParaRPr sz="13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421"/>
              <a:buFont typeface="Consolas"/>
              <a:buNone/>
            </a:pPr>
            <a:r>
              <a:t/>
            </a:r>
            <a:endParaRPr sz="1321">
              <a:solidFill>
                <a:srgbClr val="FFFFFF"/>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06" name="Shape 1006"/>
        <p:cNvGrpSpPr/>
        <p:nvPr/>
      </p:nvGrpSpPr>
      <p:grpSpPr>
        <a:xfrm>
          <a:off x="0" y="0"/>
          <a:ext cx="0" cy="0"/>
          <a:chOff x="0" y="0"/>
          <a:chExt cx="0" cy="0"/>
        </a:xfrm>
      </p:grpSpPr>
      <p:sp>
        <p:nvSpPr>
          <p:cNvPr id="1007" name="Google Shape;1007;p73"/>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3"/>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3"/>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Missing data - Strategy 2: Imputation</a:t>
            </a:r>
            <a:endParaRPr b="0" i="0" sz="2400" u="none" cap="none" strike="noStrike">
              <a:solidFill>
                <a:schemeClr val="dk1"/>
              </a:solidFill>
              <a:latin typeface="Calibri"/>
              <a:ea typeface="Calibri"/>
              <a:cs typeface="Calibri"/>
              <a:sym typeface="Calibri"/>
            </a:endParaRPr>
          </a:p>
        </p:txBody>
      </p:sp>
      <p:sp>
        <p:nvSpPr>
          <p:cNvPr id="1010" name="Google Shape;1010;p73"/>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011" name="Google Shape;1011;p73"/>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012" name="Google Shape;1012;p73"/>
          <p:cNvSpPr txBox="1"/>
          <p:nvPr/>
        </p:nvSpPr>
        <p:spPr>
          <a:xfrm>
            <a:off x="299175" y="987638"/>
            <a:ext cx="3000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latin typeface="Calibri"/>
                <a:ea typeface="Calibri"/>
                <a:cs typeface="Calibri"/>
                <a:sym typeface="Calibri"/>
              </a:rPr>
              <a:t>Mean/Median/Mode Imputation</a:t>
            </a:r>
            <a:br>
              <a:rPr b="1" lang="fr">
                <a:latin typeface="Calibri"/>
                <a:ea typeface="Calibri"/>
                <a:cs typeface="Calibri"/>
                <a:sym typeface="Calibri"/>
              </a:rPr>
            </a:br>
            <a:r>
              <a:rPr lang="fr">
                <a:latin typeface="Calibri"/>
                <a:ea typeface="Calibri"/>
                <a:cs typeface="Calibri"/>
                <a:sym typeface="Calibri"/>
              </a:rPr>
              <a:t>Missing values can often be imputed using central tendency measures such as the mean, median, or mode. This is one of the simplest methods and is particularly effective when the data does not exhibit high variance.</a:t>
            </a:r>
            <a:endParaRPr>
              <a:latin typeface="Calibri"/>
              <a:ea typeface="Calibri"/>
              <a:cs typeface="Calibri"/>
              <a:sym typeface="Calibri"/>
            </a:endParaRPr>
          </a:p>
        </p:txBody>
      </p:sp>
      <p:pic>
        <p:nvPicPr>
          <p:cNvPr id="1013" name="Google Shape;1013;p73"/>
          <p:cNvPicPr preferRelativeResize="0"/>
          <p:nvPr/>
        </p:nvPicPr>
        <p:blipFill>
          <a:blip r:embed="rId4">
            <a:alphaModFix/>
          </a:blip>
          <a:stretch>
            <a:fillRect/>
          </a:stretch>
        </p:blipFill>
        <p:spPr>
          <a:xfrm>
            <a:off x="4163300" y="911125"/>
            <a:ext cx="4894961" cy="3571999"/>
          </a:xfrm>
          <a:prstGeom prst="rect">
            <a:avLst/>
          </a:prstGeom>
          <a:noFill/>
          <a:ln>
            <a:noFill/>
          </a:ln>
        </p:spPr>
      </p:pic>
      <p:sp>
        <p:nvSpPr>
          <p:cNvPr id="1014" name="Google Shape;1014;p73"/>
          <p:cNvSpPr/>
          <p:nvPr/>
        </p:nvSpPr>
        <p:spPr>
          <a:xfrm>
            <a:off x="166150" y="2891775"/>
            <a:ext cx="3852300" cy="17712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015" name="Google Shape;1015;p73"/>
          <p:cNvSpPr/>
          <p:nvPr/>
        </p:nvSpPr>
        <p:spPr>
          <a:xfrm>
            <a:off x="223936" y="2928671"/>
            <a:ext cx="3737100" cy="169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from sklearn.impute import SimpleImputer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imputer = SimpleImputer(strategy='mean')</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also: 'median', 'most_frequent'</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df[['age']] = imputer.fit_transform(df[['age']])</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20" name="Shape 1020"/>
        <p:cNvGrpSpPr/>
        <p:nvPr/>
      </p:nvGrpSpPr>
      <p:grpSpPr>
        <a:xfrm>
          <a:off x="0" y="0"/>
          <a:ext cx="0" cy="0"/>
          <a:chOff x="0" y="0"/>
          <a:chExt cx="0" cy="0"/>
        </a:xfrm>
      </p:grpSpPr>
      <p:sp>
        <p:nvSpPr>
          <p:cNvPr id="1021" name="Google Shape;1021;p74"/>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4"/>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4"/>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Missing data - Strategy 2: Forward Fill</a:t>
            </a:r>
            <a:endParaRPr b="0" i="0" sz="2400" u="none" cap="none" strike="noStrike">
              <a:solidFill>
                <a:schemeClr val="dk1"/>
              </a:solidFill>
              <a:latin typeface="Calibri"/>
              <a:ea typeface="Calibri"/>
              <a:cs typeface="Calibri"/>
              <a:sym typeface="Calibri"/>
            </a:endParaRPr>
          </a:p>
        </p:txBody>
      </p:sp>
      <p:sp>
        <p:nvSpPr>
          <p:cNvPr id="1024" name="Google Shape;1024;p74"/>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025" name="Google Shape;1025;p74"/>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026" name="Google Shape;1026;p74"/>
          <p:cNvSpPr txBox="1"/>
          <p:nvPr/>
        </p:nvSpPr>
        <p:spPr>
          <a:xfrm>
            <a:off x="299175" y="987638"/>
            <a:ext cx="30000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Calibri"/>
                <a:ea typeface="Calibri"/>
                <a:cs typeface="Calibri"/>
                <a:sym typeface="Calibri"/>
              </a:rPr>
              <a:t>For time series data, you might consider using methods like forward fill where you propagate the last observed data point to the next missing value.</a:t>
            </a:r>
            <a:endParaRPr>
              <a:latin typeface="Calibri"/>
              <a:ea typeface="Calibri"/>
              <a:cs typeface="Calibri"/>
              <a:sym typeface="Calibri"/>
            </a:endParaRPr>
          </a:p>
        </p:txBody>
      </p:sp>
      <p:sp>
        <p:nvSpPr>
          <p:cNvPr id="1027" name="Google Shape;1027;p74"/>
          <p:cNvSpPr/>
          <p:nvPr/>
        </p:nvSpPr>
        <p:spPr>
          <a:xfrm>
            <a:off x="166150" y="2891775"/>
            <a:ext cx="3852300" cy="17712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028" name="Google Shape;1028;p74"/>
          <p:cNvSpPr/>
          <p:nvPr/>
        </p:nvSpPr>
        <p:spPr>
          <a:xfrm>
            <a:off x="223936" y="2928671"/>
            <a:ext cx="3737100" cy="169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Forward fill (time series)</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df['temp'] = df['temp'].ffill()</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p:txBody>
      </p:sp>
      <p:pic>
        <p:nvPicPr>
          <p:cNvPr id="1029" name="Google Shape;1029;p74"/>
          <p:cNvPicPr preferRelativeResize="0"/>
          <p:nvPr/>
        </p:nvPicPr>
        <p:blipFill>
          <a:blip r:embed="rId4">
            <a:alphaModFix/>
          </a:blip>
          <a:stretch>
            <a:fillRect/>
          </a:stretch>
        </p:blipFill>
        <p:spPr>
          <a:xfrm>
            <a:off x="4156175" y="1454125"/>
            <a:ext cx="4820751" cy="230771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34" name="Shape 1034"/>
        <p:cNvGrpSpPr/>
        <p:nvPr/>
      </p:nvGrpSpPr>
      <p:grpSpPr>
        <a:xfrm>
          <a:off x="0" y="0"/>
          <a:ext cx="0" cy="0"/>
          <a:chOff x="0" y="0"/>
          <a:chExt cx="0" cy="0"/>
        </a:xfrm>
      </p:grpSpPr>
      <p:sp>
        <p:nvSpPr>
          <p:cNvPr id="1035" name="Google Shape;1035;p7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Missing data - Strategy 4: Predict</a:t>
            </a:r>
            <a:endParaRPr b="1" sz="2400">
              <a:solidFill>
                <a:srgbClr val="0F2B46"/>
              </a:solidFill>
              <a:latin typeface="Trebuchet MS"/>
              <a:ea typeface="Trebuchet MS"/>
              <a:cs typeface="Trebuchet MS"/>
              <a:sym typeface="Trebuchet MS"/>
            </a:endParaRPr>
          </a:p>
        </p:txBody>
      </p:sp>
      <p:sp>
        <p:nvSpPr>
          <p:cNvPr id="1038" name="Google Shape;1038;p75"/>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039" name="Google Shape;1039;p75"/>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040" name="Google Shape;1040;p75"/>
          <p:cNvSpPr txBox="1"/>
          <p:nvPr/>
        </p:nvSpPr>
        <p:spPr>
          <a:xfrm>
            <a:off x="548650" y="1320963"/>
            <a:ext cx="30000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latin typeface="Calibri"/>
                <a:ea typeface="Calibri"/>
                <a:cs typeface="Calibri"/>
                <a:sym typeface="Calibri"/>
              </a:rPr>
              <a:t>K-Nearest Neighbors</a:t>
            </a:r>
            <a:br>
              <a:rPr b="1" lang="fr">
                <a:latin typeface="Calibri"/>
                <a:ea typeface="Calibri"/>
                <a:cs typeface="Calibri"/>
                <a:sym typeface="Calibri"/>
              </a:rPr>
            </a:br>
            <a:r>
              <a:rPr lang="fr">
                <a:latin typeface="Calibri"/>
                <a:ea typeface="Calibri"/>
                <a:cs typeface="Calibri"/>
                <a:sym typeface="Calibri"/>
              </a:rPr>
              <a:t>K-Nearest Neighbors can be used to impute missing values based on the similarities between features. It is more sophisticated than mean/median imputation and can provide more accurate results for complex datasets.</a:t>
            </a:r>
            <a:endParaRPr>
              <a:latin typeface="Calibri"/>
              <a:ea typeface="Calibri"/>
              <a:cs typeface="Calibri"/>
              <a:sym typeface="Calibri"/>
            </a:endParaRPr>
          </a:p>
        </p:txBody>
      </p:sp>
      <p:pic>
        <p:nvPicPr>
          <p:cNvPr id="1041" name="Google Shape;1041;p75"/>
          <p:cNvPicPr preferRelativeResize="0"/>
          <p:nvPr/>
        </p:nvPicPr>
        <p:blipFill>
          <a:blip r:embed="rId4">
            <a:alphaModFix/>
          </a:blip>
          <a:stretch>
            <a:fillRect/>
          </a:stretch>
        </p:blipFill>
        <p:spPr>
          <a:xfrm>
            <a:off x="3708375" y="1366050"/>
            <a:ext cx="5290549" cy="1891460"/>
          </a:xfrm>
          <a:prstGeom prst="rect">
            <a:avLst/>
          </a:prstGeom>
          <a:noFill/>
          <a:ln>
            <a:noFill/>
          </a:ln>
        </p:spPr>
      </p:pic>
      <p:sp>
        <p:nvSpPr>
          <p:cNvPr id="1042" name="Google Shape;1042;p75"/>
          <p:cNvSpPr/>
          <p:nvPr/>
        </p:nvSpPr>
        <p:spPr>
          <a:xfrm>
            <a:off x="364275" y="3125475"/>
            <a:ext cx="3852300" cy="17712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043" name="Google Shape;1043;p75"/>
          <p:cNvSpPr/>
          <p:nvPr/>
        </p:nvSpPr>
        <p:spPr>
          <a:xfrm>
            <a:off x="422061" y="3162371"/>
            <a:ext cx="3737100" cy="169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Forward fill (time series)</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df['temp'] = df['temp'].ffill()</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Interpolation (linear estimate between known)</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df['temp'] = df['temp'].interpolate(method='linear')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KNN Imputer (use similar rows)</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from sklearn.impute import KNNImputer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imputer = KNNImputer(n_neighbors=5)</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df_imputed = imputer.fit_transform(df)</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48" name="Shape 1048"/>
        <p:cNvGrpSpPr/>
        <p:nvPr/>
      </p:nvGrpSpPr>
      <p:grpSpPr>
        <a:xfrm>
          <a:off x="0" y="0"/>
          <a:ext cx="0" cy="0"/>
          <a:chOff x="0" y="0"/>
          <a:chExt cx="0" cy="0"/>
        </a:xfrm>
      </p:grpSpPr>
      <p:sp>
        <p:nvSpPr>
          <p:cNvPr id="1049" name="Google Shape;1049;p7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Missing data - Strategy 5: domain knowledge</a:t>
            </a:r>
            <a:endParaRPr b="1" sz="2400">
              <a:solidFill>
                <a:srgbClr val="0F2B46"/>
              </a:solidFill>
              <a:latin typeface="Trebuchet MS"/>
              <a:ea typeface="Trebuchet MS"/>
              <a:cs typeface="Trebuchet MS"/>
              <a:sym typeface="Trebuchet MS"/>
            </a:endParaRPr>
          </a:p>
        </p:txBody>
      </p:sp>
      <p:sp>
        <p:nvSpPr>
          <p:cNvPr id="1052" name="Google Shape;1052;p7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053" name="Google Shape;1053;p76"/>
          <p:cNvPicPr preferRelativeResize="0"/>
          <p:nvPr/>
        </p:nvPicPr>
        <p:blipFill>
          <a:blip r:embed="rId3">
            <a:alphaModFix/>
          </a:blip>
          <a:stretch>
            <a:fillRect/>
          </a:stretch>
        </p:blipFill>
        <p:spPr>
          <a:xfrm>
            <a:off x="8382675" y="4745600"/>
            <a:ext cx="761325" cy="397900"/>
          </a:xfrm>
          <a:prstGeom prst="rect">
            <a:avLst/>
          </a:prstGeom>
          <a:noFill/>
          <a:ln>
            <a:noFill/>
          </a:ln>
        </p:spPr>
      </p:pic>
      <p:graphicFrame>
        <p:nvGraphicFramePr>
          <p:cNvPr id="1054" name="Google Shape;1054;p76"/>
          <p:cNvGraphicFramePr/>
          <p:nvPr/>
        </p:nvGraphicFramePr>
        <p:xfrm>
          <a:off x="299150" y="1518813"/>
          <a:ext cx="3000000" cy="3000000"/>
        </p:xfrm>
        <a:graphic>
          <a:graphicData uri="http://schemas.openxmlformats.org/drawingml/2006/table">
            <a:tbl>
              <a:tblPr>
                <a:noFill/>
                <a:tableStyleId>{96C519A4-8B63-471A-9573-9005C2BE45B1}</a:tableStyleId>
              </a:tblPr>
              <a:tblGrid>
                <a:gridCol w="954475"/>
                <a:gridCol w="3178000"/>
                <a:gridCol w="5011525"/>
              </a:tblGrid>
              <a:tr h="190500">
                <a:tc>
                  <a:txBody>
                    <a:bodyPr/>
                    <a:lstStyle/>
                    <a:p>
                      <a:pPr indent="0" lvl="0" marL="0" rtl="0" algn="ctr">
                        <a:lnSpc>
                          <a:spcPct val="115000"/>
                        </a:lnSpc>
                        <a:spcBef>
                          <a:spcPts val="0"/>
                        </a:spcBef>
                        <a:spcAft>
                          <a:spcPts val="0"/>
                        </a:spcAft>
                        <a:buNone/>
                      </a:pPr>
                      <a:r>
                        <a:rPr b="1" lang="fr" sz="1100">
                          <a:latin typeface="Calibri"/>
                          <a:ea typeface="Calibri"/>
                          <a:cs typeface="Calibri"/>
                          <a:sym typeface="Calibri"/>
                        </a:rPr>
                        <a:t>Domain</a:t>
                      </a:r>
                      <a:endParaRPr b="1" sz="1100">
                        <a:latin typeface="Calibri"/>
                        <a:ea typeface="Calibri"/>
                        <a:cs typeface="Calibri"/>
                        <a:sym typeface="Calibri"/>
                      </a:endParaRPr>
                    </a:p>
                  </a:txBody>
                  <a:tcPr marT="91425" marB="91425" marR="91425" marL="91425"/>
                </a:tc>
                <a:tc>
                  <a:txBody>
                    <a:bodyPr/>
                    <a:lstStyle/>
                    <a:p>
                      <a:pPr indent="0" lvl="0" marL="0" rtl="0" algn="ctr">
                        <a:lnSpc>
                          <a:spcPct val="115000"/>
                        </a:lnSpc>
                        <a:spcBef>
                          <a:spcPts val="0"/>
                        </a:spcBef>
                        <a:spcAft>
                          <a:spcPts val="0"/>
                        </a:spcAft>
                        <a:buNone/>
                      </a:pPr>
                      <a:r>
                        <a:rPr b="1" lang="fr" sz="1100">
                          <a:latin typeface="Calibri"/>
                          <a:ea typeface="Calibri"/>
                          <a:cs typeface="Calibri"/>
                          <a:sym typeface="Calibri"/>
                        </a:rPr>
                        <a:t>Missing ≠ Random — It Means Something</a:t>
                      </a:r>
                      <a:endParaRPr b="1" sz="1100">
                        <a:latin typeface="Calibri"/>
                        <a:ea typeface="Calibri"/>
                        <a:cs typeface="Calibri"/>
                        <a:sym typeface="Calibri"/>
                      </a:endParaRPr>
                    </a:p>
                  </a:txBody>
                  <a:tcPr marT="91425" marB="91425" marR="91425" marL="91425"/>
                </a:tc>
                <a:tc>
                  <a:txBody>
                    <a:bodyPr/>
                    <a:lstStyle/>
                    <a:p>
                      <a:pPr indent="0" lvl="0" marL="0" rtl="0" algn="ctr">
                        <a:lnSpc>
                          <a:spcPct val="115000"/>
                        </a:lnSpc>
                        <a:spcBef>
                          <a:spcPts val="0"/>
                        </a:spcBef>
                        <a:spcAft>
                          <a:spcPts val="0"/>
                        </a:spcAft>
                        <a:buNone/>
                      </a:pPr>
                      <a:r>
                        <a:rPr b="1" lang="fr" sz="1100">
                          <a:latin typeface="Calibri"/>
                          <a:ea typeface="Calibri"/>
                          <a:cs typeface="Calibri"/>
                          <a:sym typeface="Calibri"/>
                        </a:rPr>
                        <a:t>Fix</a:t>
                      </a:r>
                      <a:endParaRPr b="1" sz="1100">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b="1" lang="fr" sz="1100">
                          <a:latin typeface="Calibri"/>
                          <a:ea typeface="Calibri"/>
                          <a:cs typeface="Calibri"/>
                          <a:sym typeface="Calibri"/>
                        </a:rPr>
                        <a:t>Medicine</a:t>
                      </a:r>
                      <a:endParaRPr b="1"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Lab not ordered → patient was fine</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Impute normal, not mean-of-sick</a:t>
                      </a:r>
                      <a:endParaRPr>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b="1" lang="fr" sz="1100">
                          <a:latin typeface="Calibri"/>
                          <a:ea typeface="Calibri"/>
                          <a:cs typeface="Calibri"/>
                          <a:sym typeface="Calibri"/>
                        </a:rPr>
                        <a:t>Finance</a:t>
                      </a:r>
                      <a:endParaRPr b="1"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No price → market closed</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Forward-fill, never mean</a:t>
                      </a:r>
                      <a:endParaRPr>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b="1" lang="fr" sz="1100">
                          <a:latin typeface="Calibri"/>
                          <a:ea typeface="Calibri"/>
                          <a:cs typeface="Calibri"/>
                          <a:sym typeface="Calibri"/>
                        </a:rPr>
                        <a:t>Sensors</a:t>
                      </a:r>
                      <a:endParaRPr b="1"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Gap → sensor died, not random</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neighbor sensor</a:t>
                      </a:r>
                      <a:endParaRPr>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b="1" lang="fr" sz="1100">
                          <a:latin typeface="Calibri"/>
                          <a:ea typeface="Calibri"/>
                          <a:cs typeface="Calibri"/>
                          <a:sym typeface="Calibri"/>
                        </a:rPr>
                        <a:t>Credit</a:t>
                      </a:r>
                      <a:endParaRPr b="1"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No mortgage history → never had one</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Encode missingness as feature</a:t>
                      </a:r>
                      <a:endParaRPr>
                        <a:latin typeface="Calibri"/>
                        <a:ea typeface="Calibri"/>
                        <a:cs typeface="Calibri"/>
                        <a:sym typeface="Calibri"/>
                      </a:endParaRPr>
                    </a:p>
                  </a:txBody>
                  <a:tcPr marT="91425" marB="91425" marR="91425" marL="91425"/>
                </a:tc>
              </a:tr>
              <a:tr h="190500">
                <a:tc>
                  <a:txBody>
                    <a:bodyPr/>
                    <a:lstStyle/>
                    <a:p>
                      <a:pPr indent="0" lvl="0" marL="0" rtl="0" algn="l">
                        <a:spcBef>
                          <a:spcPts val="0"/>
                        </a:spcBef>
                        <a:spcAft>
                          <a:spcPts val="0"/>
                        </a:spcAft>
                        <a:buNone/>
                      </a:pPr>
                      <a:r>
                        <a:rPr b="1" lang="fr" sz="1100">
                          <a:latin typeface="Calibri"/>
                          <a:ea typeface="Calibri"/>
                          <a:cs typeface="Calibri"/>
                          <a:sym typeface="Calibri"/>
                        </a:rPr>
                        <a:t>E-commerce</a:t>
                      </a:r>
                      <a:endParaRPr b="1" sz="11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No rating → didn't care enough</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fr">
                          <a:latin typeface="Calibri"/>
                          <a:ea typeface="Calibri"/>
                          <a:cs typeface="Calibri"/>
                          <a:sym typeface="Calibri"/>
                        </a:rPr>
                        <a:t>Implicit feedback, not ignore</a:t>
                      </a:r>
                      <a:endParaRPr>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1059" name="Shape 1059"/>
        <p:cNvGrpSpPr/>
        <p:nvPr/>
      </p:nvGrpSpPr>
      <p:grpSpPr>
        <a:xfrm>
          <a:off x="0" y="0"/>
          <a:ext cx="0" cy="0"/>
          <a:chOff x="0" y="0"/>
          <a:chExt cx="0" cy="0"/>
        </a:xfrm>
      </p:grpSpPr>
      <p:pic>
        <p:nvPicPr>
          <p:cNvPr id="1060" name="Google Shape;1060;p77"/>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061" name="Google Shape;1061;p77"/>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Outliers</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66" name="Shape 1066"/>
        <p:cNvGrpSpPr/>
        <p:nvPr/>
      </p:nvGrpSpPr>
      <p:grpSpPr>
        <a:xfrm>
          <a:off x="0" y="0"/>
          <a:ext cx="0" cy="0"/>
          <a:chOff x="0" y="0"/>
          <a:chExt cx="0" cy="0"/>
        </a:xfrm>
      </p:grpSpPr>
      <p:sp>
        <p:nvSpPr>
          <p:cNvPr id="1067" name="Google Shape;1067;p78"/>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8"/>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8"/>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Outliers : error or signal?</a:t>
            </a:r>
            <a:endParaRPr b="1" sz="2400">
              <a:solidFill>
                <a:srgbClr val="0F2B46"/>
              </a:solidFill>
              <a:latin typeface="Trebuchet MS"/>
              <a:ea typeface="Trebuchet MS"/>
              <a:cs typeface="Trebuchet MS"/>
              <a:sym typeface="Trebuchet MS"/>
            </a:endParaRPr>
          </a:p>
        </p:txBody>
      </p:sp>
      <p:sp>
        <p:nvSpPr>
          <p:cNvPr id="1070" name="Google Shape;1070;p78"/>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071" name="Google Shape;1071;p78"/>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1072" name="Google Shape;1072;p78"/>
          <p:cNvPicPr preferRelativeResize="0"/>
          <p:nvPr/>
        </p:nvPicPr>
        <p:blipFill>
          <a:blip r:embed="rId4">
            <a:alphaModFix/>
          </a:blip>
          <a:stretch>
            <a:fillRect/>
          </a:stretch>
        </p:blipFill>
        <p:spPr>
          <a:xfrm>
            <a:off x="3240475" y="1005506"/>
            <a:ext cx="2663050" cy="1997280"/>
          </a:xfrm>
          <a:prstGeom prst="rect">
            <a:avLst/>
          </a:prstGeom>
          <a:noFill/>
          <a:ln>
            <a:noFill/>
          </a:ln>
        </p:spPr>
      </p:pic>
      <p:sp>
        <p:nvSpPr>
          <p:cNvPr id="1073" name="Google Shape;1073;p78"/>
          <p:cNvSpPr/>
          <p:nvPr/>
        </p:nvSpPr>
        <p:spPr>
          <a:xfrm>
            <a:off x="763105" y="3139593"/>
            <a:ext cx="3749100" cy="1645800"/>
          </a:xfrm>
          <a:prstGeom prst="rect">
            <a:avLst/>
          </a:prstGeom>
          <a:solidFill>
            <a:srgbClr val="FFFFFF"/>
          </a:solidFill>
          <a:ln>
            <a:noFill/>
          </a:ln>
          <a:effectLst>
            <a:outerShdw blurRad="50800" rotWithShape="0" algn="bl" dir="8100000" dist="127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8"/>
          <p:cNvSpPr/>
          <p:nvPr/>
        </p:nvSpPr>
        <p:spPr>
          <a:xfrm>
            <a:off x="763105" y="3139593"/>
            <a:ext cx="54900" cy="1645800"/>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5" name="Google Shape;1075;p78"/>
          <p:cNvPicPr preferRelativeResize="0"/>
          <p:nvPr/>
        </p:nvPicPr>
        <p:blipFill rotWithShape="1">
          <a:blip r:embed="rId5">
            <a:alphaModFix/>
          </a:blip>
          <a:srcRect b="0" l="0" r="0" t="0"/>
          <a:stretch/>
        </p:blipFill>
        <p:spPr>
          <a:xfrm>
            <a:off x="991705" y="3276753"/>
            <a:ext cx="365760" cy="365760"/>
          </a:xfrm>
          <a:prstGeom prst="rect">
            <a:avLst/>
          </a:prstGeom>
          <a:noFill/>
          <a:ln>
            <a:noFill/>
          </a:ln>
        </p:spPr>
      </p:pic>
      <p:sp>
        <p:nvSpPr>
          <p:cNvPr id="1076" name="Google Shape;1076;p78"/>
          <p:cNvSpPr/>
          <p:nvPr/>
        </p:nvSpPr>
        <p:spPr>
          <a:xfrm>
            <a:off x="1494625" y="3276753"/>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600"/>
              <a:buFont typeface="Trebuchet MS"/>
              <a:buNone/>
            </a:pPr>
            <a:r>
              <a:rPr b="1" i="0" lang="fr" sz="1600" u="none" cap="none" strike="noStrike">
                <a:solidFill>
                  <a:srgbClr val="DC2626"/>
                </a:solidFill>
                <a:latin typeface="Trebuchet MS"/>
                <a:ea typeface="Trebuchet MS"/>
                <a:cs typeface="Trebuchet MS"/>
                <a:sym typeface="Trebuchet MS"/>
              </a:rPr>
              <a:t>Errors</a:t>
            </a:r>
            <a:endParaRPr b="0" i="0" sz="1600" u="none" cap="none" strike="noStrike">
              <a:solidFill>
                <a:srgbClr val="000000"/>
              </a:solidFill>
              <a:latin typeface="Calibri"/>
              <a:ea typeface="Calibri"/>
              <a:cs typeface="Calibri"/>
              <a:sym typeface="Calibri"/>
            </a:endParaRPr>
          </a:p>
        </p:txBody>
      </p:sp>
      <p:sp>
        <p:nvSpPr>
          <p:cNvPr id="1077" name="Google Shape;1077;p78"/>
          <p:cNvSpPr/>
          <p:nvPr/>
        </p:nvSpPr>
        <p:spPr>
          <a:xfrm>
            <a:off x="991705" y="3688232"/>
            <a:ext cx="3200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0" i="0" lang="fr" sz="1300" u="none" cap="none" strike="noStrike">
                <a:solidFill>
                  <a:srgbClr val="334155"/>
                </a:solidFill>
                <a:latin typeface="Calibri"/>
                <a:ea typeface="Calibri"/>
                <a:cs typeface="Calibri"/>
                <a:sym typeface="Calibri"/>
              </a:rPr>
              <a:t>Sensor malfunction</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334155"/>
              </a:buClr>
              <a:buSzPts val="1300"/>
              <a:buFont typeface="Calibri"/>
              <a:buNone/>
            </a:pPr>
            <a:r>
              <a:rPr b="0" i="0" lang="fr" sz="1300" u="none" cap="none" strike="noStrike">
                <a:solidFill>
                  <a:srgbClr val="334155"/>
                </a:solidFill>
                <a:latin typeface="Calibri"/>
                <a:ea typeface="Calibri"/>
                <a:cs typeface="Calibri"/>
                <a:sym typeface="Calibri"/>
              </a:rPr>
              <a:t>Data entry mistake</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334155"/>
              </a:buClr>
              <a:buSzPts val="1300"/>
              <a:buFont typeface="Calibri"/>
              <a:buNone/>
            </a:pPr>
            <a:r>
              <a:rPr b="0" i="0" lang="fr" sz="1300" u="none" cap="none" strike="noStrike">
                <a:solidFill>
                  <a:srgbClr val="334155"/>
                </a:solidFill>
                <a:latin typeface="Calibri"/>
                <a:ea typeface="Calibri"/>
                <a:cs typeface="Calibri"/>
                <a:sym typeface="Calibri"/>
              </a:rPr>
              <a:t>ETL bug</a:t>
            </a:r>
            <a:endParaRPr b="0" i="0" sz="1300" u="none" cap="none" strike="noStrike">
              <a:solidFill>
                <a:srgbClr val="000000"/>
              </a:solidFill>
              <a:latin typeface="Calibri"/>
              <a:ea typeface="Calibri"/>
              <a:cs typeface="Calibri"/>
              <a:sym typeface="Calibri"/>
            </a:endParaRPr>
          </a:p>
        </p:txBody>
      </p:sp>
      <p:sp>
        <p:nvSpPr>
          <p:cNvPr id="1078" name="Google Shape;1078;p78"/>
          <p:cNvSpPr/>
          <p:nvPr/>
        </p:nvSpPr>
        <p:spPr>
          <a:xfrm>
            <a:off x="4877905" y="3139593"/>
            <a:ext cx="3749100" cy="1645800"/>
          </a:xfrm>
          <a:prstGeom prst="rect">
            <a:avLst/>
          </a:prstGeom>
          <a:solidFill>
            <a:srgbClr val="FFFFFF"/>
          </a:solidFill>
          <a:ln>
            <a:noFill/>
          </a:ln>
          <a:effectLst>
            <a:outerShdw blurRad="50800" rotWithShape="0" algn="bl" dir="8100000" dist="127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8"/>
          <p:cNvSpPr/>
          <p:nvPr/>
        </p:nvSpPr>
        <p:spPr>
          <a:xfrm>
            <a:off x="4877905" y="3139593"/>
            <a:ext cx="54900" cy="16458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0" name="Google Shape;1080;p78"/>
          <p:cNvPicPr preferRelativeResize="0"/>
          <p:nvPr/>
        </p:nvPicPr>
        <p:blipFill rotWithShape="1">
          <a:blip r:embed="rId6">
            <a:alphaModFix/>
          </a:blip>
          <a:srcRect b="0" l="0" r="0" t="0"/>
          <a:stretch/>
        </p:blipFill>
        <p:spPr>
          <a:xfrm>
            <a:off x="5106505" y="3276753"/>
            <a:ext cx="365760" cy="365760"/>
          </a:xfrm>
          <a:prstGeom prst="rect">
            <a:avLst/>
          </a:prstGeom>
          <a:noFill/>
          <a:ln>
            <a:noFill/>
          </a:ln>
        </p:spPr>
      </p:pic>
      <p:sp>
        <p:nvSpPr>
          <p:cNvPr id="1081" name="Google Shape;1081;p78"/>
          <p:cNvSpPr/>
          <p:nvPr/>
        </p:nvSpPr>
        <p:spPr>
          <a:xfrm>
            <a:off x="5609425" y="3276753"/>
            <a:ext cx="274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600"/>
              <a:buFont typeface="Trebuchet MS"/>
              <a:buNone/>
            </a:pPr>
            <a:r>
              <a:rPr b="1" i="0" lang="fr" sz="1600" u="none" cap="none" strike="noStrike">
                <a:solidFill>
                  <a:srgbClr val="059669"/>
                </a:solidFill>
                <a:latin typeface="Trebuchet MS"/>
                <a:ea typeface="Trebuchet MS"/>
                <a:cs typeface="Trebuchet MS"/>
                <a:sym typeface="Trebuchet MS"/>
              </a:rPr>
              <a:t>Real Signal</a:t>
            </a:r>
            <a:endParaRPr b="0" i="0" sz="1600" u="none" cap="none" strike="noStrike">
              <a:solidFill>
                <a:srgbClr val="000000"/>
              </a:solidFill>
              <a:latin typeface="Calibri"/>
              <a:ea typeface="Calibri"/>
              <a:cs typeface="Calibri"/>
              <a:sym typeface="Calibri"/>
            </a:endParaRPr>
          </a:p>
        </p:txBody>
      </p:sp>
      <p:sp>
        <p:nvSpPr>
          <p:cNvPr id="1082" name="Google Shape;1082;p78"/>
          <p:cNvSpPr/>
          <p:nvPr/>
        </p:nvSpPr>
        <p:spPr>
          <a:xfrm>
            <a:off x="5106505" y="3688232"/>
            <a:ext cx="3200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300"/>
              <a:buFont typeface="Calibri"/>
              <a:buNone/>
            </a:pPr>
            <a:r>
              <a:rPr b="0" i="0" lang="fr" sz="1300" u="none" cap="none" strike="noStrike">
                <a:solidFill>
                  <a:srgbClr val="334155"/>
                </a:solidFill>
                <a:latin typeface="Calibri"/>
                <a:ea typeface="Calibri"/>
                <a:cs typeface="Calibri"/>
                <a:sym typeface="Calibri"/>
              </a:rPr>
              <a:t>Legitimate extreme values</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334155"/>
              </a:buClr>
              <a:buSzPts val="1300"/>
              <a:buFont typeface="Calibri"/>
              <a:buNone/>
            </a:pPr>
            <a:r>
              <a:rPr b="0" i="0" lang="fr" sz="1300" u="none" cap="none" strike="noStrike">
                <a:solidFill>
                  <a:srgbClr val="334155"/>
                </a:solidFill>
                <a:latin typeface="Calibri"/>
                <a:ea typeface="Calibri"/>
                <a:cs typeface="Calibri"/>
                <a:sym typeface="Calibri"/>
              </a:rPr>
              <a:t>Rare but real events</a:t>
            </a:r>
            <a:endParaRPr b="0" i="0" sz="13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334155"/>
              </a:buClr>
              <a:buSzPts val="1300"/>
              <a:buFont typeface="Calibri"/>
              <a:buNone/>
            </a:pPr>
            <a:r>
              <a:rPr b="0" i="0" lang="fr" sz="1300" u="none" cap="none" strike="noStrike">
                <a:solidFill>
                  <a:srgbClr val="334155"/>
                </a:solidFill>
                <a:latin typeface="Calibri"/>
                <a:ea typeface="Calibri"/>
                <a:cs typeface="Calibri"/>
                <a:sym typeface="Calibri"/>
              </a:rPr>
              <a:t>Important for the model</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087" name="Shape 1087"/>
        <p:cNvGrpSpPr/>
        <p:nvPr/>
      </p:nvGrpSpPr>
      <p:grpSpPr>
        <a:xfrm>
          <a:off x="0" y="0"/>
          <a:ext cx="0" cy="0"/>
          <a:chOff x="0" y="0"/>
          <a:chExt cx="0" cy="0"/>
        </a:xfrm>
      </p:grpSpPr>
      <p:sp>
        <p:nvSpPr>
          <p:cNvPr id="1088" name="Google Shape;1088;p79"/>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9"/>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9"/>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Outliers Detection: IQR Method</a:t>
            </a:r>
            <a:endParaRPr b="1" sz="2400">
              <a:solidFill>
                <a:srgbClr val="0F2B46"/>
              </a:solidFill>
              <a:latin typeface="Trebuchet MS"/>
              <a:ea typeface="Trebuchet MS"/>
              <a:cs typeface="Trebuchet MS"/>
              <a:sym typeface="Trebuchet MS"/>
            </a:endParaRPr>
          </a:p>
        </p:txBody>
      </p:sp>
      <p:sp>
        <p:nvSpPr>
          <p:cNvPr id="1091" name="Google Shape;1091;p79"/>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092" name="Google Shape;1092;p79"/>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093" name="Google Shape;1093;p79"/>
          <p:cNvSpPr/>
          <p:nvPr/>
        </p:nvSpPr>
        <p:spPr>
          <a:xfrm>
            <a:off x="4785425" y="1100350"/>
            <a:ext cx="3852300" cy="17712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094" name="Google Shape;1094;p79"/>
          <p:cNvSpPr/>
          <p:nvPr/>
        </p:nvSpPr>
        <p:spPr>
          <a:xfrm>
            <a:off x="4843211" y="1137246"/>
            <a:ext cx="3737100" cy="169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Q1 = df['col'].quantile(0.25)</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Q3 = df['col'].quantile(0.75)</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IQR = Q3 - Q1</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lower = Q1 - 1.5 * IQR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upper = Q3 + 1.5 * IQR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outliers = df[(df['col'] &lt; lower)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 (df['col'] &gt; upper)]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p:txBody>
      </p:sp>
      <p:pic>
        <p:nvPicPr>
          <p:cNvPr id="1095" name="Google Shape;1095;p79"/>
          <p:cNvPicPr preferRelativeResize="0"/>
          <p:nvPr/>
        </p:nvPicPr>
        <p:blipFill>
          <a:blip r:embed="rId4">
            <a:alphaModFix/>
          </a:blip>
          <a:stretch>
            <a:fillRect/>
          </a:stretch>
        </p:blipFill>
        <p:spPr>
          <a:xfrm>
            <a:off x="845450" y="985335"/>
            <a:ext cx="3498925" cy="3814875"/>
          </a:xfrm>
          <a:prstGeom prst="rect">
            <a:avLst/>
          </a:prstGeom>
          <a:noFill/>
          <a:ln>
            <a:noFill/>
          </a:ln>
        </p:spPr>
      </p:pic>
      <p:sp>
        <p:nvSpPr>
          <p:cNvPr id="1096" name="Google Shape;1096;p79"/>
          <p:cNvSpPr txBox="1"/>
          <p:nvPr/>
        </p:nvSpPr>
        <p:spPr>
          <a:xfrm>
            <a:off x="4637250" y="3206300"/>
            <a:ext cx="44025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Calibri"/>
                <a:ea typeface="Calibri"/>
                <a:cs typeface="Calibri"/>
                <a:sym typeface="Calibri"/>
              </a:rPr>
              <a:t>IQR</a:t>
            </a:r>
            <a:r>
              <a:rPr lang="fr" sz="1100">
                <a:latin typeface="Calibri"/>
                <a:ea typeface="Calibri"/>
                <a:cs typeface="Calibri"/>
                <a:sym typeface="Calibri"/>
              </a:rPr>
              <a:t> (Interquartile Range) : captures the spread of the middle 50% of your data.</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b="1" lang="fr" sz="1100">
                <a:latin typeface="Calibri"/>
                <a:ea typeface="Calibri"/>
                <a:cs typeface="Calibri"/>
                <a:sym typeface="Calibri"/>
              </a:rPr>
              <a:t>Interpretation</a:t>
            </a:r>
            <a:r>
              <a:rPr lang="fr" sz="1100">
                <a:latin typeface="Calibri"/>
                <a:ea typeface="Calibri"/>
                <a:cs typeface="Calibri"/>
                <a:sym typeface="Calibri"/>
              </a:rPr>
              <a:t>:</a:t>
            </a:r>
            <a:endParaRPr sz="1100">
              <a:latin typeface="Calibri"/>
              <a:ea typeface="Calibri"/>
              <a:cs typeface="Calibri"/>
              <a:sym typeface="Calibri"/>
            </a:endParaRPr>
          </a:p>
          <a:p>
            <a:pPr indent="0" lvl="0" marL="0" rtl="0" algn="l">
              <a:spcBef>
                <a:spcPts val="0"/>
              </a:spcBef>
              <a:spcAft>
                <a:spcPts val="0"/>
              </a:spcAft>
              <a:buNone/>
            </a:pPr>
            <a:r>
              <a:t/>
            </a:r>
            <a:endParaRPr sz="1100">
              <a:latin typeface="Calibri"/>
              <a:ea typeface="Calibri"/>
              <a:cs typeface="Calibri"/>
              <a:sym typeface="Calibri"/>
            </a:endParaRPr>
          </a:p>
          <a:p>
            <a:pPr indent="0" lvl="0" marL="0" rtl="0" algn="l">
              <a:spcBef>
                <a:spcPts val="0"/>
              </a:spcBef>
              <a:spcAft>
                <a:spcPts val="0"/>
              </a:spcAft>
              <a:buNone/>
            </a:pPr>
            <a:r>
              <a:rPr lang="fr" sz="1100">
                <a:latin typeface="Calibri"/>
                <a:ea typeface="Calibri"/>
                <a:cs typeface="Calibri"/>
                <a:sym typeface="Calibri"/>
              </a:rPr>
              <a:t>Large IQR → high variance/spread in the central bulk of the data. Values are dispersed widely.</a:t>
            </a:r>
            <a:endParaRPr sz="1100">
              <a:latin typeface="Calibri"/>
              <a:ea typeface="Calibri"/>
              <a:cs typeface="Calibri"/>
              <a:sym typeface="Calibri"/>
            </a:endParaRPr>
          </a:p>
          <a:p>
            <a:pPr indent="0" lvl="0" marL="0" rtl="0" algn="l">
              <a:spcBef>
                <a:spcPts val="0"/>
              </a:spcBef>
              <a:spcAft>
                <a:spcPts val="0"/>
              </a:spcAft>
              <a:buNone/>
            </a:pPr>
            <a:r>
              <a:rPr lang="fr" sz="1100">
                <a:latin typeface="Calibri"/>
                <a:ea typeface="Calibri"/>
                <a:cs typeface="Calibri"/>
                <a:sym typeface="Calibri"/>
              </a:rPr>
              <a:t>Small IQR → low variance. Data points are tightly clustered around the median.</a:t>
            </a:r>
            <a:endParaRPr sz="1100">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101" name="Shape 1101"/>
        <p:cNvGrpSpPr/>
        <p:nvPr/>
      </p:nvGrpSpPr>
      <p:grpSpPr>
        <a:xfrm>
          <a:off x="0" y="0"/>
          <a:ext cx="0" cy="0"/>
          <a:chOff x="0" y="0"/>
          <a:chExt cx="0" cy="0"/>
        </a:xfrm>
      </p:grpSpPr>
      <p:sp>
        <p:nvSpPr>
          <p:cNvPr id="1102" name="Google Shape;1102;p80"/>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80"/>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80"/>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Outliers Detection: Z-Score</a:t>
            </a:r>
            <a:endParaRPr b="1" sz="2400">
              <a:solidFill>
                <a:srgbClr val="0F2B46"/>
              </a:solidFill>
              <a:latin typeface="Trebuchet MS"/>
              <a:ea typeface="Trebuchet MS"/>
              <a:cs typeface="Trebuchet MS"/>
              <a:sym typeface="Trebuchet MS"/>
            </a:endParaRPr>
          </a:p>
        </p:txBody>
      </p:sp>
      <p:sp>
        <p:nvSpPr>
          <p:cNvPr id="1105" name="Google Shape;1105;p80"/>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106" name="Google Shape;1106;p80"/>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107" name="Google Shape;1107;p80"/>
          <p:cNvSpPr/>
          <p:nvPr/>
        </p:nvSpPr>
        <p:spPr>
          <a:xfrm>
            <a:off x="4785425" y="1100350"/>
            <a:ext cx="3852300" cy="17712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108" name="Google Shape;1108;p80"/>
          <p:cNvSpPr/>
          <p:nvPr/>
        </p:nvSpPr>
        <p:spPr>
          <a:xfrm>
            <a:off x="4843211" y="1137246"/>
            <a:ext cx="3737100" cy="169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from scipy import stats</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z_scores = np.abs(stats.zscore(df['col']))</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outliers = df[z_scores &gt; 3]</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p:txBody>
      </p:sp>
      <p:sp>
        <p:nvSpPr>
          <p:cNvPr id="1109" name="Google Shape;1109;p80"/>
          <p:cNvSpPr txBox="1"/>
          <p:nvPr/>
        </p:nvSpPr>
        <p:spPr>
          <a:xfrm>
            <a:off x="4637250" y="3206300"/>
            <a:ext cx="4402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100">
                <a:latin typeface="Calibri"/>
                <a:ea typeface="Calibri"/>
                <a:cs typeface="Calibri"/>
                <a:sym typeface="Calibri"/>
              </a:rPr>
              <a:t>Z-score: </a:t>
            </a:r>
            <a:r>
              <a:rPr lang="fr" sz="1100">
                <a:latin typeface="Calibri"/>
                <a:ea typeface="Calibri"/>
                <a:cs typeface="Calibri"/>
                <a:sym typeface="Calibri"/>
              </a:rPr>
              <a:t>Assumes normal distribution</a:t>
            </a:r>
            <a:endParaRPr sz="1100">
              <a:latin typeface="Calibri"/>
              <a:ea typeface="Calibri"/>
              <a:cs typeface="Calibri"/>
              <a:sym typeface="Calibri"/>
            </a:endParaRPr>
          </a:p>
        </p:txBody>
      </p:sp>
      <p:pic>
        <p:nvPicPr>
          <p:cNvPr id="1110" name="Google Shape;1110;p80"/>
          <p:cNvPicPr preferRelativeResize="0"/>
          <p:nvPr/>
        </p:nvPicPr>
        <p:blipFill>
          <a:blip r:embed="rId4">
            <a:alphaModFix/>
          </a:blip>
          <a:stretch>
            <a:fillRect/>
          </a:stretch>
        </p:blipFill>
        <p:spPr>
          <a:xfrm>
            <a:off x="166363" y="1272550"/>
            <a:ext cx="4480625" cy="193374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115" name="Shape 1115"/>
        <p:cNvGrpSpPr/>
        <p:nvPr/>
      </p:nvGrpSpPr>
      <p:grpSpPr>
        <a:xfrm>
          <a:off x="0" y="0"/>
          <a:ext cx="0" cy="0"/>
          <a:chOff x="0" y="0"/>
          <a:chExt cx="0" cy="0"/>
        </a:xfrm>
      </p:grpSpPr>
      <p:sp>
        <p:nvSpPr>
          <p:cNvPr id="1116" name="Google Shape;1116;p81"/>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81"/>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81"/>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Outliers Strategy</a:t>
            </a:r>
            <a:endParaRPr b="1" sz="2400">
              <a:solidFill>
                <a:srgbClr val="0F2B46"/>
              </a:solidFill>
              <a:latin typeface="Trebuchet MS"/>
              <a:ea typeface="Trebuchet MS"/>
              <a:cs typeface="Trebuchet MS"/>
              <a:sym typeface="Trebuchet MS"/>
            </a:endParaRPr>
          </a:p>
        </p:txBody>
      </p:sp>
      <p:sp>
        <p:nvSpPr>
          <p:cNvPr id="1119" name="Google Shape;1119;p81"/>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120" name="Google Shape;1120;p81"/>
          <p:cNvPicPr preferRelativeResize="0"/>
          <p:nvPr/>
        </p:nvPicPr>
        <p:blipFill>
          <a:blip r:embed="rId3">
            <a:alphaModFix/>
          </a:blip>
          <a:stretch>
            <a:fillRect/>
          </a:stretch>
        </p:blipFill>
        <p:spPr>
          <a:xfrm>
            <a:off x="8382675" y="4745600"/>
            <a:ext cx="761325" cy="397900"/>
          </a:xfrm>
          <a:prstGeom prst="rect">
            <a:avLst/>
          </a:prstGeom>
          <a:noFill/>
          <a:ln>
            <a:noFill/>
          </a:ln>
        </p:spPr>
      </p:pic>
      <p:graphicFrame>
        <p:nvGraphicFramePr>
          <p:cNvPr id="1121" name="Google Shape;1121;p81"/>
          <p:cNvGraphicFramePr/>
          <p:nvPr/>
        </p:nvGraphicFramePr>
        <p:xfrm>
          <a:off x="640080" y="3017520"/>
          <a:ext cx="3000000" cy="3000000"/>
        </p:xfrm>
        <a:graphic>
          <a:graphicData uri="http://schemas.openxmlformats.org/drawingml/2006/table">
            <a:tbl>
              <a:tblPr>
                <a:noFill/>
                <a:tableStyleId>{96C519A4-8B63-471A-9573-9005C2BE45B1}</a:tableStyleId>
              </a:tblPr>
              <a:tblGrid>
                <a:gridCol w="1645925"/>
                <a:gridCol w="3017525"/>
                <a:gridCol w="3200400"/>
              </a:tblGrid>
              <a:tr h="152400">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latin typeface="Calibri"/>
                          <a:ea typeface="Calibri"/>
                          <a:cs typeface="Calibri"/>
                          <a:sym typeface="Calibri"/>
                        </a:rPr>
                        <a:t>Strategy</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2B46"/>
                    </a:solidFill>
                  </a:tcPr>
                </a:tc>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latin typeface="Calibri"/>
                          <a:ea typeface="Calibri"/>
                          <a:cs typeface="Calibri"/>
                          <a:sym typeface="Calibri"/>
                        </a:rPr>
                        <a:t>Code</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2B46"/>
                    </a:solidFill>
                  </a:tcPr>
                </a:tc>
                <a:tc>
                  <a:txBody>
                    <a:bodyPr/>
                    <a:lstStyle/>
                    <a:p>
                      <a:pPr indent="0" lvl="0" marL="0" marR="0" rtl="0" algn="l">
                        <a:spcBef>
                          <a:spcPts val="0"/>
                        </a:spcBef>
                        <a:spcAft>
                          <a:spcPts val="0"/>
                        </a:spcAft>
                        <a:buClr>
                          <a:srgbClr val="FFFFFF"/>
                        </a:buClr>
                        <a:buSzPts val="1200"/>
                        <a:buFont typeface="Calibri"/>
                        <a:buNone/>
                      </a:pPr>
                      <a:r>
                        <a:rPr b="1" lang="fr" sz="1200" u="none" cap="none" strike="noStrike">
                          <a:solidFill>
                            <a:srgbClr val="FFFFFF"/>
                          </a:solidFill>
                          <a:latin typeface="Calibri"/>
                          <a:ea typeface="Calibri"/>
                          <a:cs typeface="Calibri"/>
                          <a:sym typeface="Calibri"/>
                        </a:rPr>
                        <a:t>When</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F2B46"/>
                    </a:solidFill>
                  </a:tcPr>
                </a:tc>
              </a:tr>
              <a:tr h="152400">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Remove</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df = df[~mask]</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Clear errors, few outliers</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152400">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Clip</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df['col'].clip(lo, hi)</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Limit extremes</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152400">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Transform</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np.log1p(df['col'])</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Reduce skewness</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r h="152400">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Keep</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Do nothing</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334155"/>
                        </a:buClr>
                        <a:buSzPts val="1200"/>
                        <a:buFont typeface="Calibri"/>
                        <a:buNone/>
                      </a:pPr>
                      <a:r>
                        <a:rPr lang="fr" sz="1200" u="none" cap="none" strike="noStrike">
                          <a:solidFill>
                            <a:srgbClr val="334155"/>
                          </a:solidFill>
                          <a:latin typeface="Calibri"/>
                          <a:ea typeface="Calibri"/>
                          <a:cs typeface="Calibri"/>
                          <a:sym typeface="Calibri"/>
                        </a:rPr>
                        <a:t>Legitimate extremes</a:t>
                      </a:r>
                      <a:endParaRPr sz="12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tcPr>
                </a:tc>
              </a:tr>
            </a:tbl>
          </a:graphicData>
        </a:graphic>
      </p:graphicFrame>
      <p:pic>
        <p:nvPicPr>
          <p:cNvPr id="1122" name="Google Shape;1122;p81"/>
          <p:cNvPicPr preferRelativeResize="0"/>
          <p:nvPr/>
        </p:nvPicPr>
        <p:blipFill>
          <a:blip r:embed="rId4">
            <a:alphaModFix/>
          </a:blip>
          <a:stretch>
            <a:fillRect/>
          </a:stretch>
        </p:blipFill>
        <p:spPr>
          <a:xfrm>
            <a:off x="2617750" y="1021200"/>
            <a:ext cx="3278080" cy="184392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2A8BB"/>
        </a:solidFill>
      </p:bgPr>
    </p:bg>
    <p:spTree>
      <p:nvGrpSpPr>
        <p:cNvPr id="1127" name="Shape 1127"/>
        <p:cNvGrpSpPr/>
        <p:nvPr/>
      </p:nvGrpSpPr>
      <p:grpSpPr>
        <a:xfrm>
          <a:off x="0" y="0"/>
          <a:ext cx="0" cy="0"/>
          <a:chOff x="0" y="0"/>
          <a:chExt cx="0" cy="0"/>
        </a:xfrm>
      </p:grpSpPr>
      <p:pic>
        <p:nvPicPr>
          <p:cNvPr id="1128" name="Google Shape;1128;p82"/>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129" name="Google Shape;1129;p82"/>
          <p:cNvSpPr/>
          <p:nvPr/>
        </p:nvSpPr>
        <p:spPr>
          <a:xfrm>
            <a:off x="2673746" y="1931559"/>
            <a:ext cx="3796500" cy="941700"/>
          </a:xfrm>
          <a:prstGeom prst="rect">
            <a:avLst/>
          </a:prstGeom>
          <a:noFill/>
          <a:ln>
            <a:noFill/>
          </a:ln>
        </p:spPr>
        <p:txBody>
          <a:bodyPr anchorCtr="0" anchor="ctr" bIns="0" lIns="0" spcFirstLastPara="1" rIns="0" wrap="square" tIns="0">
            <a:noAutofit/>
          </a:bodyPr>
          <a:lstStyle/>
          <a:p>
            <a:pPr indent="0" lvl="0" marL="0" marR="0" rtl="0" algn="ctr">
              <a:lnSpc>
                <a:spcPct val="105019"/>
              </a:lnSpc>
              <a:spcBef>
                <a:spcPts val="0"/>
              </a:spcBef>
              <a:spcAft>
                <a:spcPts val="0"/>
              </a:spcAft>
              <a:buClr>
                <a:srgbClr val="FFFFFF"/>
              </a:buClr>
              <a:buSzPts val="3600"/>
              <a:buFont typeface="Montserrat"/>
              <a:buNone/>
            </a:pPr>
            <a:r>
              <a:rPr b="1" lang="fr" sz="3600">
                <a:solidFill>
                  <a:srgbClr val="FFFFFF"/>
                </a:solidFill>
                <a:latin typeface="Montserrat"/>
                <a:ea typeface="Montserrat"/>
                <a:cs typeface="Montserrat"/>
                <a:sym typeface="Montserrat"/>
              </a:rPr>
              <a:t>Categorical</a:t>
            </a:r>
            <a:endParaRPr b="1"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134" name="Shape 1134"/>
        <p:cNvGrpSpPr/>
        <p:nvPr/>
      </p:nvGrpSpPr>
      <p:grpSpPr>
        <a:xfrm>
          <a:off x="0" y="0"/>
          <a:ext cx="0" cy="0"/>
          <a:chOff x="0" y="0"/>
          <a:chExt cx="0" cy="0"/>
        </a:xfrm>
      </p:grpSpPr>
      <p:sp>
        <p:nvSpPr>
          <p:cNvPr id="1135" name="Google Shape;1135;p83"/>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83"/>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83"/>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Categorical type</a:t>
            </a:r>
            <a:endParaRPr b="1" sz="2400">
              <a:solidFill>
                <a:srgbClr val="0F2B46"/>
              </a:solidFill>
              <a:latin typeface="Trebuchet MS"/>
              <a:ea typeface="Trebuchet MS"/>
              <a:cs typeface="Trebuchet MS"/>
              <a:sym typeface="Trebuchet MS"/>
            </a:endParaRPr>
          </a:p>
        </p:txBody>
      </p:sp>
      <p:sp>
        <p:nvSpPr>
          <p:cNvPr id="1138" name="Google Shape;1138;p83"/>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139" name="Google Shape;1139;p83"/>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1140" name="Google Shape;1140;p83"/>
          <p:cNvPicPr preferRelativeResize="0"/>
          <p:nvPr/>
        </p:nvPicPr>
        <p:blipFill>
          <a:blip r:embed="rId4">
            <a:alphaModFix/>
          </a:blip>
          <a:stretch>
            <a:fillRect/>
          </a:stretch>
        </p:blipFill>
        <p:spPr>
          <a:xfrm>
            <a:off x="2394475" y="952525"/>
            <a:ext cx="4355047" cy="1965992"/>
          </a:xfrm>
          <a:prstGeom prst="rect">
            <a:avLst/>
          </a:prstGeom>
          <a:noFill/>
          <a:ln>
            <a:noFill/>
          </a:ln>
        </p:spPr>
      </p:pic>
      <p:sp>
        <p:nvSpPr>
          <p:cNvPr id="1141" name="Google Shape;1141;p83"/>
          <p:cNvSpPr txBox="1"/>
          <p:nvPr/>
        </p:nvSpPr>
        <p:spPr>
          <a:xfrm>
            <a:off x="2068800" y="3404550"/>
            <a:ext cx="5006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a:latin typeface="Calibri"/>
                <a:ea typeface="Calibri"/>
                <a:cs typeface="Calibri"/>
                <a:sym typeface="Calibri"/>
              </a:rPr>
              <a:t>Nominal</a:t>
            </a:r>
            <a:r>
              <a:rPr lang="fr">
                <a:latin typeface="Calibri"/>
                <a:ea typeface="Calibri"/>
                <a:cs typeface="Calibri"/>
                <a:sym typeface="Calibri"/>
              </a:rPr>
              <a:t> : Categories without inherent order</a:t>
            </a:r>
            <a:endParaRPr>
              <a:latin typeface="Calibri"/>
              <a:ea typeface="Calibri"/>
              <a:cs typeface="Calibri"/>
              <a:sym typeface="Calibri"/>
            </a:endParaRPr>
          </a:p>
          <a:p>
            <a:pPr indent="0" lvl="0" marL="0" rtl="0" algn="l">
              <a:spcBef>
                <a:spcPts val="0"/>
              </a:spcBef>
              <a:spcAft>
                <a:spcPts val="0"/>
              </a:spcAft>
              <a:buNone/>
            </a:pPr>
            <a:r>
              <a:rPr b="1" lang="fr">
                <a:latin typeface="Calibri"/>
                <a:ea typeface="Calibri"/>
                <a:cs typeface="Calibri"/>
                <a:sym typeface="Calibri"/>
              </a:rPr>
              <a:t>Ordinal</a:t>
            </a:r>
            <a:r>
              <a:rPr lang="fr">
                <a:latin typeface="Calibri"/>
                <a:ea typeface="Calibri"/>
                <a:cs typeface="Calibri"/>
                <a:sym typeface="Calibri"/>
              </a:rPr>
              <a:t> : Categories with a logical order</a:t>
            </a:r>
            <a:endParaRPr>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146" name="Shape 1146"/>
        <p:cNvGrpSpPr/>
        <p:nvPr/>
      </p:nvGrpSpPr>
      <p:grpSpPr>
        <a:xfrm>
          <a:off x="0" y="0"/>
          <a:ext cx="0" cy="0"/>
          <a:chOff x="0" y="0"/>
          <a:chExt cx="0" cy="0"/>
        </a:xfrm>
      </p:grpSpPr>
      <p:sp>
        <p:nvSpPr>
          <p:cNvPr id="1147" name="Google Shape;1147;p84"/>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84"/>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84"/>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Visualize Categorical Values</a:t>
            </a:r>
            <a:endParaRPr b="1" sz="2400">
              <a:solidFill>
                <a:srgbClr val="0F2B46"/>
              </a:solidFill>
              <a:latin typeface="Trebuchet MS"/>
              <a:ea typeface="Trebuchet MS"/>
              <a:cs typeface="Trebuchet MS"/>
              <a:sym typeface="Trebuchet MS"/>
            </a:endParaRPr>
          </a:p>
        </p:txBody>
      </p:sp>
      <p:sp>
        <p:nvSpPr>
          <p:cNvPr id="1150" name="Google Shape;1150;p84"/>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151" name="Google Shape;1151;p84"/>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1152" name="Google Shape;1152;p84"/>
          <p:cNvPicPr preferRelativeResize="0"/>
          <p:nvPr/>
        </p:nvPicPr>
        <p:blipFill>
          <a:blip r:embed="rId4">
            <a:alphaModFix/>
          </a:blip>
          <a:stretch>
            <a:fillRect/>
          </a:stretch>
        </p:blipFill>
        <p:spPr>
          <a:xfrm>
            <a:off x="4354300" y="1035200"/>
            <a:ext cx="4549200" cy="2865709"/>
          </a:xfrm>
          <a:prstGeom prst="rect">
            <a:avLst/>
          </a:prstGeom>
          <a:noFill/>
          <a:ln>
            <a:noFill/>
          </a:ln>
        </p:spPr>
      </p:pic>
      <p:sp>
        <p:nvSpPr>
          <p:cNvPr id="1153" name="Google Shape;1153;p84"/>
          <p:cNvSpPr/>
          <p:nvPr/>
        </p:nvSpPr>
        <p:spPr>
          <a:xfrm>
            <a:off x="346325" y="1393850"/>
            <a:ext cx="3852300" cy="17712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154" name="Google Shape;1154;p84"/>
          <p:cNvSpPr/>
          <p:nvPr/>
        </p:nvSpPr>
        <p:spPr>
          <a:xfrm>
            <a:off x="404111" y="1430746"/>
            <a:ext cx="3737100" cy="169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Count plot for 'color'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plt.figure(figsize=(10, 6))</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sns.countplot(x='color', data=df, palette='viridis')</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plt.title('Count Plot of Colors')</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plt.xlabel('Color')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plt.ylabel('Count')</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plt.show()</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 Bar plot for average rating by color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plt.figure(figsize=(10, 6))</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sns.barplot(x='color', y='rating', data=df, ci=None, palette='viridis')</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plt.title('Average Rating by Color')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plt.xlabel('Color')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plt.ylabel('Average Rating')</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plt.show()</a:t>
            </a:r>
            <a:endParaRPr sz="921">
              <a:solidFill>
                <a:srgbClr val="FFFFFF"/>
              </a:solidFill>
              <a:latin typeface="Consolas"/>
              <a:ea typeface="Consolas"/>
              <a:cs typeface="Consolas"/>
              <a:sym typeface="Consola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159" name="Shape 1159"/>
        <p:cNvGrpSpPr/>
        <p:nvPr/>
      </p:nvGrpSpPr>
      <p:grpSpPr>
        <a:xfrm>
          <a:off x="0" y="0"/>
          <a:ext cx="0" cy="0"/>
          <a:chOff x="0" y="0"/>
          <a:chExt cx="0" cy="0"/>
        </a:xfrm>
      </p:grpSpPr>
      <p:sp>
        <p:nvSpPr>
          <p:cNvPr id="1160" name="Google Shape;1160;p85"/>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85"/>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85"/>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Manage Categorical Values : Label Encoding</a:t>
            </a:r>
            <a:endParaRPr b="1" sz="2400">
              <a:solidFill>
                <a:srgbClr val="0F2B46"/>
              </a:solidFill>
              <a:latin typeface="Trebuchet MS"/>
              <a:ea typeface="Trebuchet MS"/>
              <a:cs typeface="Trebuchet MS"/>
              <a:sym typeface="Trebuchet MS"/>
            </a:endParaRPr>
          </a:p>
        </p:txBody>
      </p:sp>
      <p:sp>
        <p:nvSpPr>
          <p:cNvPr id="1163" name="Google Shape;1163;p85"/>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164" name="Google Shape;1164;p85"/>
          <p:cNvPicPr preferRelativeResize="0"/>
          <p:nvPr/>
        </p:nvPicPr>
        <p:blipFill>
          <a:blip r:embed="rId3">
            <a:alphaModFix/>
          </a:blip>
          <a:stretch>
            <a:fillRect/>
          </a:stretch>
        </p:blipFill>
        <p:spPr>
          <a:xfrm>
            <a:off x="8382675" y="4745600"/>
            <a:ext cx="761325" cy="397900"/>
          </a:xfrm>
          <a:prstGeom prst="rect">
            <a:avLst/>
          </a:prstGeom>
          <a:noFill/>
          <a:ln>
            <a:noFill/>
          </a:ln>
        </p:spPr>
      </p:pic>
      <p:sp>
        <p:nvSpPr>
          <p:cNvPr id="1165" name="Google Shape;1165;p85"/>
          <p:cNvSpPr/>
          <p:nvPr/>
        </p:nvSpPr>
        <p:spPr>
          <a:xfrm>
            <a:off x="102725" y="987638"/>
            <a:ext cx="3852300" cy="17712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166" name="Google Shape;1166;p85"/>
          <p:cNvSpPr/>
          <p:nvPr/>
        </p:nvSpPr>
        <p:spPr>
          <a:xfrm>
            <a:off x="160511" y="1024534"/>
            <a:ext cx="3737100" cy="169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le = LabelEncoder()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df['color_encoded'] = le.fit_transform(df['color'])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df['size_encoded'] = le.fit_transform(df['size'])</a:t>
            </a:r>
            <a:endParaRPr sz="921">
              <a:solidFill>
                <a:srgbClr val="FFFFFF"/>
              </a:solidFill>
              <a:latin typeface="Consolas"/>
              <a:ea typeface="Consolas"/>
              <a:cs typeface="Consolas"/>
              <a:sym typeface="Consolas"/>
            </a:endParaRPr>
          </a:p>
        </p:txBody>
      </p:sp>
      <p:pic>
        <p:nvPicPr>
          <p:cNvPr id="1167" name="Google Shape;1167;p85"/>
          <p:cNvPicPr preferRelativeResize="0"/>
          <p:nvPr/>
        </p:nvPicPr>
        <p:blipFill>
          <a:blip r:embed="rId4">
            <a:alphaModFix/>
          </a:blip>
          <a:stretch>
            <a:fillRect/>
          </a:stretch>
        </p:blipFill>
        <p:spPr>
          <a:xfrm>
            <a:off x="4107425" y="1021200"/>
            <a:ext cx="4884176" cy="2442088"/>
          </a:xfrm>
          <a:prstGeom prst="rect">
            <a:avLst/>
          </a:prstGeom>
          <a:noFill/>
          <a:ln>
            <a:noFill/>
          </a:ln>
        </p:spPr>
      </p:pic>
      <p:sp>
        <p:nvSpPr>
          <p:cNvPr id="1168" name="Google Shape;1168;p85"/>
          <p:cNvSpPr txBox="1"/>
          <p:nvPr/>
        </p:nvSpPr>
        <p:spPr>
          <a:xfrm>
            <a:off x="770425" y="31404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Calibri"/>
                <a:ea typeface="Calibri"/>
                <a:cs typeface="Calibri"/>
                <a:sym typeface="Calibri"/>
              </a:rPr>
              <a:t>OrdinalEncoder — when categories have natural order</a:t>
            </a:r>
            <a:endParaRPr>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173" name="Shape 1173"/>
        <p:cNvGrpSpPr/>
        <p:nvPr/>
      </p:nvGrpSpPr>
      <p:grpSpPr>
        <a:xfrm>
          <a:off x="0" y="0"/>
          <a:ext cx="0" cy="0"/>
          <a:chOff x="0" y="0"/>
          <a:chExt cx="0" cy="0"/>
        </a:xfrm>
      </p:grpSpPr>
      <p:sp>
        <p:nvSpPr>
          <p:cNvPr id="1174" name="Google Shape;1174;p86"/>
          <p:cNvSpPr/>
          <p:nvPr/>
        </p:nvSpPr>
        <p:spPr>
          <a:xfrm>
            <a:off x="0" y="0"/>
            <a:ext cx="9144000" cy="868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86"/>
          <p:cNvSpPr/>
          <p:nvPr/>
        </p:nvSpPr>
        <p:spPr>
          <a:xfrm>
            <a:off x="0" y="850392"/>
            <a:ext cx="9144000" cy="18300"/>
          </a:xfrm>
          <a:prstGeom prst="rect">
            <a:avLst/>
          </a:prstGeom>
          <a:solidFill>
            <a:srgbClr val="1B8A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86"/>
          <p:cNvSpPr/>
          <p:nvPr/>
        </p:nvSpPr>
        <p:spPr>
          <a:xfrm>
            <a:off x="548640" y="137160"/>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46"/>
              </a:buClr>
              <a:buSzPts val="2400"/>
              <a:buFont typeface="Trebuchet MS"/>
              <a:buNone/>
            </a:pPr>
            <a:r>
              <a:rPr b="1" lang="fr" sz="2400">
                <a:solidFill>
                  <a:srgbClr val="0F2B46"/>
                </a:solidFill>
                <a:latin typeface="Trebuchet MS"/>
                <a:ea typeface="Trebuchet MS"/>
                <a:cs typeface="Trebuchet MS"/>
                <a:sym typeface="Trebuchet MS"/>
              </a:rPr>
              <a:t>Manage Categorical Values : One Hot Encoding</a:t>
            </a:r>
            <a:endParaRPr b="1" sz="2400">
              <a:solidFill>
                <a:srgbClr val="0F2B46"/>
              </a:solidFill>
              <a:latin typeface="Trebuchet MS"/>
              <a:ea typeface="Trebuchet MS"/>
              <a:cs typeface="Trebuchet MS"/>
              <a:sym typeface="Trebuchet MS"/>
            </a:endParaRPr>
          </a:p>
        </p:txBody>
      </p:sp>
      <p:sp>
        <p:nvSpPr>
          <p:cNvPr id="1177" name="Google Shape;1177;p86"/>
          <p:cNvSpPr/>
          <p:nvPr/>
        </p:nvSpPr>
        <p:spPr>
          <a:xfrm>
            <a:off x="132075" y="4896676"/>
            <a:ext cx="4549200" cy="27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A4BD"/>
              </a:buClr>
              <a:buSzPts val="900"/>
              <a:buFont typeface="Calibri"/>
              <a:buNone/>
            </a:pPr>
            <a:r>
              <a:rPr lang="fr" sz="900">
                <a:solidFill>
                  <a:srgbClr val="8BA4BD"/>
                </a:solidFill>
                <a:latin typeface="Calibri"/>
                <a:ea typeface="Calibri"/>
                <a:cs typeface="Calibri"/>
                <a:sym typeface="Calibri"/>
              </a:rPr>
              <a:t>Raphael Cousin</a:t>
            </a:r>
            <a:r>
              <a:rPr b="0" i="0" lang="fr" sz="900" u="none" cap="none" strike="noStrike">
                <a:solidFill>
                  <a:srgbClr val="8BA4BD"/>
                </a:solidFill>
                <a:latin typeface="Calibri"/>
                <a:ea typeface="Calibri"/>
                <a:cs typeface="Calibri"/>
                <a:sym typeface="Calibri"/>
              </a:rPr>
              <a:t> — Sorbonne University </a:t>
            </a:r>
            <a:endParaRPr b="0" i="0" sz="900" u="none" cap="none" strike="noStrike">
              <a:solidFill>
                <a:srgbClr val="000000"/>
              </a:solidFill>
              <a:latin typeface="Calibri"/>
              <a:ea typeface="Calibri"/>
              <a:cs typeface="Calibri"/>
              <a:sym typeface="Calibri"/>
            </a:endParaRPr>
          </a:p>
        </p:txBody>
      </p:sp>
      <p:pic>
        <p:nvPicPr>
          <p:cNvPr id="1178" name="Google Shape;1178;p86"/>
          <p:cNvPicPr preferRelativeResize="0"/>
          <p:nvPr/>
        </p:nvPicPr>
        <p:blipFill>
          <a:blip r:embed="rId3">
            <a:alphaModFix/>
          </a:blip>
          <a:stretch>
            <a:fillRect/>
          </a:stretch>
        </p:blipFill>
        <p:spPr>
          <a:xfrm>
            <a:off x="8382675" y="4745600"/>
            <a:ext cx="761325" cy="397900"/>
          </a:xfrm>
          <a:prstGeom prst="rect">
            <a:avLst/>
          </a:prstGeom>
          <a:noFill/>
          <a:ln>
            <a:noFill/>
          </a:ln>
        </p:spPr>
      </p:pic>
      <p:pic>
        <p:nvPicPr>
          <p:cNvPr id="1179" name="Google Shape;1179;p86"/>
          <p:cNvPicPr preferRelativeResize="0"/>
          <p:nvPr/>
        </p:nvPicPr>
        <p:blipFill>
          <a:blip r:embed="rId4">
            <a:alphaModFix/>
          </a:blip>
          <a:stretch>
            <a:fillRect/>
          </a:stretch>
        </p:blipFill>
        <p:spPr>
          <a:xfrm>
            <a:off x="1658224" y="1095529"/>
            <a:ext cx="5079100" cy="1663325"/>
          </a:xfrm>
          <a:prstGeom prst="rect">
            <a:avLst/>
          </a:prstGeom>
          <a:noFill/>
          <a:ln>
            <a:noFill/>
          </a:ln>
        </p:spPr>
      </p:pic>
      <p:sp>
        <p:nvSpPr>
          <p:cNvPr id="1180" name="Google Shape;1180;p86"/>
          <p:cNvSpPr/>
          <p:nvPr/>
        </p:nvSpPr>
        <p:spPr>
          <a:xfrm>
            <a:off x="1871850" y="2836675"/>
            <a:ext cx="5400300" cy="1044900"/>
          </a:xfrm>
          <a:prstGeom prst="rect">
            <a:avLst/>
          </a:prstGeom>
          <a:solidFill>
            <a:srgbClr val="1E2233"/>
          </a:solidFill>
          <a:ln>
            <a:noFill/>
          </a:ln>
        </p:spPr>
        <p:txBody>
          <a:bodyPr anchorCtr="0" anchor="ctr" bIns="24375" lIns="24375" spcFirstLastPara="1" rIns="24375" wrap="square" tIns="24375">
            <a:noAutofit/>
          </a:bodyPr>
          <a:lstStyle/>
          <a:p>
            <a:pPr indent="0" lvl="0" marL="0" rtl="0" algn="l">
              <a:spcBef>
                <a:spcPts val="0"/>
              </a:spcBef>
              <a:spcAft>
                <a:spcPts val="0"/>
              </a:spcAft>
              <a:buNone/>
            </a:pPr>
            <a:r>
              <a:t/>
            </a:r>
            <a:endParaRPr/>
          </a:p>
        </p:txBody>
      </p:sp>
      <p:sp>
        <p:nvSpPr>
          <p:cNvPr id="1181" name="Google Shape;1181;p86"/>
          <p:cNvSpPr/>
          <p:nvPr/>
        </p:nvSpPr>
        <p:spPr>
          <a:xfrm>
            <a:off x="1952857" y="2858440"/>
            <a:ext cx="5238900" cy="1001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from sklearn.preprocessing import OneHotEncoder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ohe = OneHotEncoder()</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encoded = ohe.fit_transform(df[['color', 'size']])</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rPr lang="fr" sz="921">
                <a:solidFill>
                  <a:srgbClr val="FFFFFF"/>
                </a:solidFill>
                <a:latin typeface="Consolas"/>
                <a:ea typeface="Consolas"/>
                <a:cs typeface="Consolas"/>
                <a:sym typeface="Consolas"/>
              </a:rPr>
              <a:t>df_encoded = pd.DataFrame(encoded, columns=ohe.get_feature_names_out())</a:t>
            </a:r>
            <a:endParaRPr sz="921">
              <a:solidFill>
                <a:srgbClr val="FFFFFF"/>
              </a:solidFill>
              <a:latin typeface="Consolas"/>
              <a:ea typeface="Consolas"/>
              <a:cs typeface="Consolas"/>
              <a:sym typeface="Consolas"/>
            </a:endParaRPr>
          </a:p>
          <a:p>
            <a:pPr indent="0" lvl="0" marL="0" marR="0" rtl="0" algn="l">
              <a:spcBef>
                <a:spcPts val="0"/>
              </a:spcBef>
              <a:spcAft>
                <a:spcPts val="0"/>
              </a:spcAft>
              <a:buClr>
                <a:srgbClr val="FFFFFF"/>
              </a:buClr>
              <a:buSzPts val="293"/>
              <a:buFont typeface="Consolas"/>
              <a:buNone/>
            </a:pPr>
            <a:r>
              <a:t/>
            </a:r>
            <a:endParaRPr sz="921">
              <a:solidFill>
                <a:srgbClr val="FFFFFF"/>
              </a:solidFill>
              <a:latin typeface="Consolas"/>
              <a:ea typeface="Consolas"/>
              <a:cs typeface="Consolas"/>
              <a:sym typeface="Consolas"/>
            </a:endParaRPr>
          </a:p>
        </p:txBody>
      </p:sp>
      <p:sp>
        <p:nvSpPr>
          <p:cNvPr id="1182" name="Google Shape;1182;p86"/>
          <p:cNvSpPr txBox="1"/>
          <p:nvPr/>
        </p:nvSpPr>
        <p:spPr>
          <a:xfrm>
            <a:off x="3072300" y="41896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a:latin typeface="Calibri"/>
                <a:ea typeface="Calibri"/>
                <a:cs typeface="Calibri"/>
                <a:sym typeface="Calibri"/>
              </a:rPr>
              <a:t>OneHotEncoder — binary columns, no ordering assumed</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