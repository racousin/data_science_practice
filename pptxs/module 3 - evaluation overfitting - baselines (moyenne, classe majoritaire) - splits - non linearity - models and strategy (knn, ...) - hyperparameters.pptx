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</p:sldIdLst>
  <p:sldSz cy="5143500" cx="9144000"/>
  <p:notesSz cx="6858000" cy="9144000"/>
  <p:embeddedFontLst>
    <p:embeddedFont>
      <p:font typeface="Montserrat"/>
      <p:regular r:id="rId99"/>
      <p:bold r:id="rId100"/>
      <p:italic r:id="rId101"/>
      <p:boldItalic r:id="rId102"/>
    </p:embeddedFont>
    <p:embeddedFont>
      <p:font typeface="Montserrat Medium"/>
      <p:regular r:id="rId103"/>
      <p:bold r:id="rId104"/>
      <p:italic r:id="rId105"/>
      <p:boldItalic r:id="rId10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2E49CE-D0E2-433D-8271-F633AFD4A865}">
  <a:tblStyle styleId="{BE2E49CE-D0E2-433D-8271-F633AFD4A86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6" Type="http://schemas.openxmlformats.org/officeDocument/2006/relationships/font" Target="fonts/MontserratMedium-boldItalic.fntdata"/><Relationship Id="rId105" Type="http://schemas.openxmlformats.org/officeDocument/2006/relationships/font" Target="fonts/MontserratMedium-italic.fntdata"/><Relationship Id="rId104" Type="http://schemas.openxmlformats.org/officeDocument/2006/relationships/font" Target="fonts/MontserratMedium-bold.fntdata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font" Target="fonts/MontserratMedium-regular.fntdata"/><Relationship Id="rId102" Type="http://schemas.openxmlformats.org/officeDocument/2006/relationships/font" Target="fonts/Montserrat-boldItalic.fntdata"/><Relationship Id="rId101" Type="http://schemas.openxmlformats.org/officeDocument/2006/relationships/font" Target="fonts/Montserrat-italic.fntdata"/><Relationship Id="rId100" Type="http://schemas.openxmlformats.org/officeDocument/2006/relationships/font" Target="fonts/Montserrat-bold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font" Target="fonts/Montserrat-regular.fntdata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a2c37841b_0_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3fa2c37841b_0_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fa2c37841b_0_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a2c37841b_0_2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fa2c37841b_0_2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fa2c37841b_0_2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a2c37841b_0_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fa2c37841b_0_3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fa2c37841b_0_3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a2c37841b_0_4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fa2c37841b_0_4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fa2c37841b_0_4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a2c37841b_0_7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fa2c37841b_0_7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fa2c37841b_0_7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a2c37841b_0_8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fa2c37841b_0_8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fa2c37841b_0_8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a2c37841b_0_9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fa2c37841b_0_9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fa2c37841b_0_9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a2c37841b_0_10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fa2c37841b_0_10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fa2c37841b_0_10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a2c37841b_0_1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fa2c37841b_0_12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fa2c37841b_0_12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a2c37841b_0_1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fa2c37841b_0_13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fa2c37841b_0_13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a2c37841b_0_14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fa2c37841b_0_14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fa2c37841b_0_14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a2c37841b_0_16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fa2c37841b_0_16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fa2c37841b_0_16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a2c37841b_0_16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fa2c37841b_0_16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fa2c37841b_0_16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a2c37841b_0_18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fa2c37841b_0_18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fa2c37841b_0_18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a2c37841b_0_19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fa2c37841b_0_19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fa2c37841b_0_19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a2c37841b_0_2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3fa2c37841b_0_21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fa2c37841b_0_21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a2c37841b_0_22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fa2c37841b_0_22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fa2c37841b_0_22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a2c37841b_0_2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fa2c37841b_0_23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fa2c37841b_0_23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a2c37841b_0_25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fa2c37841b_0_25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fa2c37841b_0_25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a2c37841b_0_26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fa2c37841b_0_26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fa2c37841b_0_26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a2c37841b_0_26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3fa2c37841b_0_26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fa2c37841b_0_26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a2c37841b_0_28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fa2c37841b_0_28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fa2c37841b_0_28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a2c37841b_0_29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g3fa2c37841b_0_29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fa2c37841b_0_29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a2c37841b_0_3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g3fa2c37841b_0_31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fa2c37841b_0_31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a2c37841b_0_32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3fa2c37841b_0_32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fa2c37841b_0_32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fa2c37841b_0_3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g3fa2c37841b_0_33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fa2c37841b_0_33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a2c37841b_0_35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g3fa2c37841b_0_35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fa2c37841b_0_35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fa2c37841b_0_3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3fa2c37841b_0_36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fa2c37841b_0_36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fa2c37841b_0_37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g3fa2c37841b_0_37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g3fa2c37841b_0_37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fa2c37841b_0_38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3fa2c37841b_0_38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fa2c37841b_0_38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fa2c37841b_0_39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g3fa2c37841b_0_39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fa2c37841b_0_39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fa2c37841b_0_40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g3fa2c37841b_0_40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fa2c37841b_0_40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fa2c37841b_0_4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g3fa2c37841b_0_42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g3fa2c37841b_0_42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fa2c37841b_0_4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g3fa2c37841b_0_43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g3fa2c37841b_0_43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fa2c37841b_0_45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g3fa2c37841b_0_45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3fa2c37841b_0_45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fa2c37841b_0_46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g3fa2c37841b_0_46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fa2c37841b_0_46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fa2c37841b_0_48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g3fa2c37841b_0_48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3fa2c37841b_0_48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fa2c37841b_0_49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g3fa2c37841b_0_49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g3fa2c37841b_0_49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fa2c37841b_0_50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g3fa2c37841b_0_50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g3fa2c37841b_0_50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fa2c37841b_0_5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g3fa2c37841b_0_51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g3fa2c37841b_0_51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fa2c37841b_0_5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g3fa2c37841b_0_53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g3fa2c37841b_0_53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fa2c37841b_0_54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g3fa2c37841b_0_54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g3fa2c37841b_0_54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fa2c37841b_0_55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g3fa2c37841b_0_55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g3fa2c37841b_0_55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fa2c37841b_0_56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" name="Google Shape;660;g3fa2c37841b_0_56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g3fa2c37841b_0_56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fa2c37841b_0_58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" name="Google Shape;681;g3fa2c37841b_0_58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g3fa2c37841b_0_58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fa2c37841b_0_59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7" name="Google Shape;697;g3fa2c37841b_0_59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g3fa2c37841b_0_59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fa2c37841b_0_6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g3fa2c37841b_0_61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g3fa2c37841b_0_61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fa2c37841b_0_62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g3fa2c37841b_0_62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g3fa2c37841b_0_62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fa2c37841b_0_6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2" name="Google Shape;742;g3fa2c37841b_0_64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g3fa2c37841b_0_64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fa2c37841b_0_65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5" name="Google Shape;755;g3fa2c37841b_0_65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g3fa2c37841b_0_65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fa2c37841b_0_66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1" name="Google Shape;771;g3fa2c37841b_0_66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g3fa2c37841b_0_66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fa2c37841b_0_67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2" name="Google Shape;782;g3fa2c37841b_0_67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g3fa2c37841b_0_67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fa2c37841b_0_68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9" name="Google Shape;789;g3fa2c37841b_0_68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g3fa2c37841b_0_68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3fa2c37841b_0_69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2" name="Google Shape;802;g3fa2c37841b_0_69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g3fa2c37841b_0_69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fa2c37841b_0_70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4" name="Google Shape;814;g3fa2c37841b_0_70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g3fa2c37841b_0_70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fa2c37841b_0_7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6" name="Google Shape;826;g3fa2c37841b_0_71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g3fa2c37841b_0_71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fa2c37841b_0_7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0" name="Google Shape;840;g3fa2c37841b_0_73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g3fa2c37841b_0_73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fa2c37841b_0_74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2" name="Google Shape;852;g3fa2c37841b_0_74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g3fa2c37841b_0_74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fa2c37841b_0_75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4" name="Google Shape;864;g3fa2c37841b_0_75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g3fa2c37841b_0_75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fa2c37841b_0_76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6" name="Google Shape;876;g3fa2c37841b_0_76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g3fa2c37841b_0_76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fa2c37841b_0_77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8" name="Google Shape;888;g3fa2c37841b_0_77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g3fa2c37841b_0_77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fa2c37841b_0_78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5" name="Google Shape;895;g3fa2c37841b_0_78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g3fa2c37841b_0_78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fa2c37841b_0_79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7" name="Google Shape;907;g3fa2c37841b_0_79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g3fa2c37841b_0_79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fa2c37841b_0_8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8" name="Google Shape;928;g3fa2c37841b_0_81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g3fa2c37841b_0_81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fa2c37841b_0_8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0" name="Google Shape;940;g3fa2c37841b_0_82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g3fa2c37841b_0_82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fa2c37841b_0_83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2" name="Google Shape;952;g3fa2c37841b_0_83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g3fa2c37841b_0_83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fa2c37841b_0_84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4" name="Google Shape;964;g3fa2c37841b_0_84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g3fa2c37841b_0_84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fa2c37841b_0_85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5" name="Google Shape;975;g3fa2c37841b_0_85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g3fa2c37841b_0_85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3fa2c37841b_0_8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2" name="Google Shape;982;g3fa2c37841b_0_86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g3fa2c37841b_0_86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3fa2c37841b_0_87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8" name="Google Shape;998;g3fa2c37841b_0_87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g3fa2c37841b_0_87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3fa2c37841b_0_88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9" name="Google Shape;1009;g3fa2c37841b_0_88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g3fa2c37841b_0_88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3fa2c37841b_0_89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0" name="Google Shape;1020;g3fa2c37841b_0_89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g3fa2c37841b_0_89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fa2c37841b_0_90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2" name="Google Shape;1032;g3fa2c37841b_0_90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g3fa2c37841b_0_90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fa2c37841b_0_98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4" name="Google Shape;1044;g3fa2c37841b_0_98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g3fa2c37841b_0_98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fa2c37841b_0_99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1" name="Google Shape;1051;g3fa2c37841b_0_99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g3fa2c37841b_0_99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fa2c37841b_0_100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3" name="Google Shape;1063;g3fa2c37841b_0_100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g3fa2c37841b_0_100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3fa2c37841b_0_10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0" name="Google Shape;1090;g3fa2c37841b_0_103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g3fa2c37841b_0_103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3fa2c37841b_0_104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2" name="Google Shape;1102;g3fa2c37841b_0_104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g3fa2c37841b_0_104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fa2c37841b_0_11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4" name="Google Shape;1174;g3fa2c37841b_0_111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g3fa2c37841b_0_111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3fa2c37841b_0_112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9" name="Google Shape;1189;g3fa2c37841b_0_112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g3fa2c37841b_0_112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3fa2c37841b_0_114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9" name="Google Shape;1209;g3fa2c37841b_0_114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g3fa2c37841b_0_114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3fa2c37841b_0_115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2" name="Google Shape;1222;g3fa2c37841b_0_115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g3fa2c37841b_0_115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3fa2c37841b_0_117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5" name="Google Shape;1235;g3fa2c37841b_0_117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g3fa2c37841b_0_117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3fa2c37841b_0_118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3" name="Google Shape;1253;g3fa2c37841b_0_118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g3fa2c37841b_0_118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3fa2c37841b_0_119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4" name="Google Shape;1264;g3fa2c37841b_0_119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g3fa2c37841b_0_119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3fa2c37841b_0_120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6" name="Google Shape;1276;g3fa2c37841b_0_1208:notes"/>
          <p:cNvSpPr txBox="1"/>
          <p:nvPr>
            <p:ph idx="1" type="body"/>
          </p:nvPr>
        </p:nvSpPr>
        <p:spPr>
          <a:xfrm>
            <a:off x="685800" y="3300413"/>
            <a:ext cx="5486400" cy="27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g3fa2c37841b_0_120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3fa2c37841b_0_122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5" name="Google Shape;1295;g3fa2c37841b_0_122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g3fa2c37841b_0_122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3fa2c37841b_0_123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2" name="Google Shape;1302;g3fa2c37841b_0_123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g3fa2c37841b_0_123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3fa2c37841b_0_124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4" name="Google Shape;1314;g3fa2c37841b_0_124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g3fa2c37841b_0_124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3fa2c37841b_0_12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3" name="Google Shape;1333;g3fa2c37841b_0_126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g3fa2c37841b_0_126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3fa2c37841b_0_127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9" name="Google Shape;1349;g3fa2c37841b_0_127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g3fa2c37841b_0_127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34.png"/><Relationship Id="rId5" Type="http://schemas.openxmlformats.org/officeDocument/2006/relationships/image" Target="../media/image1.png"/><Relationship Id="rId6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9" Type="http://schemas.openxmlformats.org/officeDocument/2006/relationships/image" Target="../media/image6.gif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48.png"/><Relationship Id="rId6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9" Type="http://schemas.openxmlformats.org/officeDocument/2006/relationships/image" Target="../media/image18.png"/><Relationship Id="rId5" Type="http://schemas.openxmlformats.org/officeDocument/2006/relationships/image" Target="../media/image12.gif"/><Relationship Id="rId6" Type="http://schemas.openxmlformats.org/officeDocument/2006/relationships/image" Target="../media/image41.gif"/><Relationship Id="rId7" Type="http://schemas.openxmlformats.org/officeDocument/2006/relationships/image" Target="../media/image38.png"/><Relationship Id="rId8" Type="http://schemas.openxmlformats.org/officeDocument/2006/relationships/image" Target="../media/image5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29.png"/><Relationship Id="rId6" Type="http://schemas.openxmlformats.org/officeDocument/2006/relationships/image" Target="../media/image26.png"/><Relationship Id="rId7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5" Type="http://schemas.openxmlformats.org/officeDocument/2006/relationships/image" Target="../media/image16.png"/><Relationship Id="rId6" Type="http://schemas.openxmlformats.org/officeDocument/2006/relationships/image" Target="../media/image27.png"/><Relationship Id="rId7" Type="http://schemas.openxmlformats.org/officeDocument/2006/relationships/image" Target="../media/image22.png"/><Relationship Id="rId8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3.png"/><Relationship Id="rId5" Type="http://schemas.openxmlformats.org/officeDocument/2006/relationships/image" Target="../media/image23.png"/><Relationship Id="rId6" Type="http://schemas.openxmlformats.org/officeDocument/2006/relationships/image" Target="../media/image36.png"/><Relationship Id="rId7" Type="http://schemas.openxmlformats.org/officeDocument/2006/relationships/image" Target="../media/image54.png"/><Relationship Id="rId8" Type="http://schemas.openxmlformats.org/officeDocument/2006/relationships/image" Target="../media/image4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5" Type="http://schemas.openxmlformats.org/officeDocument/2006/relationships/image" Target="../media/image28.png"/><Relationship Id="rId6" Type="http://schemas.openxmlformats.org/officeDocument/2006/relationships/image" Target="../media/image31.png"/><Relationship Id="rId7" Type="http://schemas.openxmlformats.org/officeDocument/2006/relationships/image" Target="../media/image4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60.png"/><Relationship Id="rId5" Type="http://schemas.openxmlformats.org/officeDocument/2006/relationships/image" Target="../media/image70.png"/><Relationship Id="rId6" Type="http://schemas.openxmlformats.org/officeDocument/2006/relationships/image" Target="../media/image72.png"/><Relationship Id="rId7" Type="http://schemas.openxmlformats.org/officeDocument/2006/relationships/image" Target="../media/image4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44.png"/><Relationship Id="rId5" Type="http://schemas.openxmlformats.org/officeDocument/2006/relationships/image" Target="../media/image57.png"/><Relationship Id="rId6" Type="http://schemas.openxmlformats.org/officeDocument/2006/relationships/image" Target="../media/image5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40.png"/><Relationship Id="rId5" Type="http://schemas.openxmlformats.org/officeDocument/2006/relationships/image" Target="../media/image42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59.png"/><Relationship Id="rId5" Type="http://schemas.openxmlformats.org/officeDocument/2006/relationships/image" Target="../media/image5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46.png"/><Relationship Id="rId5" Type="http://schemas.openxmlformats.org/officeDocument/2006/relationships/image" Target="../media/image63.png"/><Relationship Id="rId6" Type="http://schemas.openxmlformats.org/officeDocument/2006/relationships/image" Target="../media/image68.png"/><Relationship Id="rId7" Type="http://schemas.openxmlformats.org/officeDocument/2006/relationships/image" Target="../media/image4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5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6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58.png"/><Relationship Id="rId5" Type="http://schemas.openxmlformats.org/officeDocument/2006/relationships/image" Target="../media/image5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64.png"/><Relationship Id="rId5" Type="http://schemas.openxmlformats.org/officeDocument/2006/relationships/image" Target="../media/image92.png"/><Relationship Id="rId6" Type="http://schemas.openxmlformats.org/officeDocument/2006/relationships/image" Target="../media/image6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103.png"/><Relationship Id="rId5" Type="http://schemas.openxmlformats.org/officeDocument/2006/relationships/image" Target="../media/image5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Relationship Id="rId4" Type="http://schemas.openxmlformats.org/officeDocument/2006/relationships/image" Target="../media/image61.png"/><Relationship Id="rId9" Type="http://schemas.openxmlformats.org/officeDocument/2006/relationships/image" Target="../media/image76.png"/><Relationship Id="rId5" Type="http://schemas.openxmlformats.org/officeDocument/2006/relationships/image" Target="../media/image85.png"/><Relationship Id="rId6" Type="http://schemas.openxmlformats.org/officeDocument/2006/relationships/image" Target="../media/image91.png"/><Relationship Id="rId7" Type="http://schemas.openxmlformats.org/officeDocument/2006/relationships/image" Target="../media/image62.png"/><Relationship Id="rId8" Type="http://schemas.openxmlformats.org/officeDocument/2006/relationships/image" Target="../media/image8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1" Type="http://schemas.openxmlformats.org/officeDocument/2006/relationships/image" Target="../media/image82.png"/><Relationship Id="rId10" Type="http://schemas.openxmlformats.org/officeDocument/2006/relationships/image" Target="../media/image67.png"/><Relationship Id="rId12" Type="http://schemas.openxmlformats.org/officeDocument/2006/relationships/image" Target="../media/image122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Relationship Id="rId4" Type="http://schemas.openxmlformats.org/officeDocument/2006/relationships/image" Target="../media/image73.png"/><Relationship Id="rId9" Type="http://schemas.openxmlformats.org/officeDocument/2006/relationships/image" Target="../media/image84.png"/><Relationship Id="rId5" Type="http://schemas.openxmlformats.org/officeDocument/2006/relationships/image" Target="../media/image71.png"/><Relationship Id="rId6" Type="http://schemas.openxmlformats.org/officeDocument/2006/relationships/image" Target="../media/image77.png"/><Relationship Id="rId7" Type="http://schemas.openxmlformats.org/officeDocument/2006/relationships/image" Target="../media/image80.png"/><Relationship Id="rId8" Type="http://schemas.openxmlformats.org/officeDocument/2006/relationships/image" Target="../media/image6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Relationship Id="rId4" Type="http://schemas.openxmlformats.org/officeDocument/2006/relationships/image" Target="../media/image7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Relationship Id="rId4" Type="http://schemas.openxmlformats.org/officeDocument/2006/relationships/image" Target="../media/image74.png"/><Relationship Id="rId9" Type="http://schemas.openxmlformats.org/officeDocument/2006/relationships/image" Target="../media/image100.png"/><Relationship Id="rId5" Type="http://schemas.openxmlformats.org/officeDocument/2006/relationships/image" Target="../media/image78.png"/><Relationship Id="rId6" Type="http://schemas.openxmlformats.org/officeDocument/2006/relationships/image" Target="../media/image75.png"/><Relationship Id="rId7" Type="http://schemas.openxmlformats.org/officeDocument/2006/relationships/image" Target="../media/image95.png"/><Relationship Id="rId8" Type="http://schemas.openxmlformats.org/officeDocument/2006/relationships/image" Target="../media/image8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Relationship Id="rId4" Type="http://schemas.openxmlformats.org/officeDocument/2006/relationships/image" Target="../media/image95.png"/><Relationship Id="rId9" Type="http://schemas.openxmlformats.org/officeDocument/2006/relationships/image" Target="../media/image107.png"/><Relationship Id="rId5" Type="http://schemas.openxmlformats.org/officeDocument/2006/relationships/image" Target="../media/image88.png"/><Relationship Id="rId6" Type="http://schemas.openxmlformats.org/officeDocument/2006/relationships/image" Target="../media/image128.png"/><Relationship Id="rId7" Type="http://schemas.openxmlformats.org/officeDocument/2006/relationships/image" Target="../media/image121.png"/><Relationship Id="rId8" Type="http://schemas.openxmlformats.org/officeDocument/2006/relationships/image" Target="../media/image8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png"/><Relationship Id="rId4" Type="http://schemas.openxmlformats.org/officeDocument/2006/relationships/image" Target="../media/image90.png"/><Relationship Id="rId5" Type="http://schemas.openxmlformats.org/officeDocument/2006/relationships/image" Target="../media/image9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Relationship Id="rId4" Type="http://schemas.openxmlformats.org/officeDocument/2006/relationships/image" Target="../media/image98.png"/><Relationship Id="rId9" Type="http://schemas.openxmlformats.org/officeDocument/2006/relationships/image" Target="../media/image117.png"/><Relationship Id="rId5" Type="http://schemas.openxmlformats.org/officeDocument/2006/relationships/image" Target="../media/image119.png"/><Relationship Id="rId6" Type="http://schemas.openxmlformats.org/officeDocument/2006/relationships/image" Target="../media/image94.png"/><Relationship Id="rId7" Type="http://schemas.openxmlformats.org/officeDocument/2006/relationships/image" Target="../media/image87.png"/><Relationship Id="rId8" Type="http://schemas.openxmlformats.org/officeDocument/2006/relationships/image" Target="../media/image8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png"/><Relationship Id="rId4" Type="http://schemas.openxmlformats.org/officeDocument/2006/relationships/image" Target="../media/image109.png"/><Relationship Id="rId5" Type="http://schemas.openxmlformats.org/officeDocument/2006/relationships/image" Target="../media/image9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png"/><Relationship Id="rId4" Type="http://schemas.openxmlformats.org/officeDocument/2006/relationships/image" Target="../media/image113.png"/><Relationship Id="rId5" Type="http://schemas.openxmlformats.org/officeDocument/2006/relationships/image" Target="../media/image9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png"/><Relationship Id="rId4" Type="http://schemas.openxmlformats.org/officeDocument/2006/relationships/image" Target="../media/image106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png"/><Relationship Id="rId4" Type="http://schemas.openxmlformats.org/officeDocument/2006/relationships/image" Target="../media/image99.png"/></Relationships>
</file>

<file path=ppt/slides/_rels/slide6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0.gif"/><Relationship Id="rId10" Type="http://schemas.openxmlformats.org/officeDocument/2006/relationships/image" Target="../media/image105.png"/><Relationship Id="rId12" Type="http://schemas.openxmlformats.org/officeDocument/2006/relationships/image" Target="../media/image108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png"/><Relationship Id="rId4" Type="http://schemas.openxmlformats.org/officeDocument/2006/relationships/image" Target="../media/image126.png"/><Relationship Id="rId9" Type="http://schemas.openxmlformats.org/officeDocument/2006/relationships/image" Target="../media/image96.png"/><Relationship Id="rId5" Type="http://schemas.openxmlformats.org/officeDocument/2006/relationships/image" Target="../media/image102.png"/><Relationship Id="rId6" Type="http://schemas.openxmlformats.org/officeDocument/2006/relationships/image" Target="../media/image127.png"/><Relationship Id="rId7" Type="http://schemas.openxmlformats.org/officeDocument/2006/relationships/image" Target="../media/image101.png"/><Relationship Id="rId8" Type="http://schemas.openxmlformats.org/officeDocument/2006/relationships/image" Target="../media/image116.gif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png"/><Relationship Id="rId4" Type="http://schemas.openxmlformats.org/officeDocument/2006/relationships/image" Target="../media/image125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png"/><Relationship Id="rId4" Type="http://schemas.openxmlformats.org/officeDocument/2006/relationships/image" Target="../media/image112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png"/><Relationship Id="rId4" Type="http://schemas.openxmlformats.org/officeDocument/2006/relationships/image" Target="../media/image114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png"/><Relationship Id="rId4" Type="http://schemas.openxmlformats.org/officeDocument/2006/relationships/image" Target="../media/image110.png"/></Relationships>
</file>

<file path=ppt/slides/_rels/slide7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7.png"/><Relationship Id="rId10" Type="http://schemas.openxmlformats.org/officeDocument/2006/relationships/image" Target="../media/image12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.png"/><Relationship Id="rId4" Type="http://schemas.openxmlformats.org/officeDocument/2006/relationships/image" Target="../media/image152.png"/><Relationship Id="rId9" Type="http://schemas.openxmlformats.org/officeDocument/2006/relationships/image" Target="../media/image136.png"/><Relationship Id="rId5" Type="http://schemas.openxmlformats.org/officeDocument/2006/relationships/image" Target="../media/image124.png"/><Relationship Id="rId6" Type="http://schemas.openxmlformats.org/officeDocument/2006/relationships/image" Target="../media/image111.png"/><Relationship Id="rId7" Type="http://schemas.openxmlformats.org/officeDocument/2006/relationships/image" Target="../media/image115.png"/><Relationship Id="rId8" Type="http://schemas.openxmlformats.org/officeDocument/2006/relationships/image" Target="../media/image118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.png"/><Relationship Id="rId4" Type="http://schemas.openxmlformats.org/officeDocument/2006/relationships/image" Target="../media/image139.png"/><Relationship Id="rId5" Type="http://schemas.openxmlformats.org/officeDocument/2006/relationships/image" Target="../media/image138.png"/></Relationships>
</file>

<file path=ppt/slides/_rels/slide79.xml.rels><?xml version="1.0" encoding="UTF-8" standalone="yes"?><Relationships xmlns="http://schemas.openxmlformats.org/package/2006/relationships"><Relationship Id="rId20" Type="http://schemas.openxmlformats.org/officeDocument/2006/relationships/image" Target="../media/image166.png"/><Relationship Id="rId11" Type="http://schemas.openxmlformats.org/officeDocument/2006/relationships/image" Target="../media/image133.png"/><Relationship Id="rId10" Type="http://schemas.openxmlformats.org/officeDocument/2006/relationships/image" Target="../media/image132.png"/><Relationship Id="rId13" Type="http://schemas.openxmlformats.org/officeDocument/2006/relationships/image" Target="../media/image155.png"/><Relationship Id="rId12" Type="http://schemas.openxmlformats.org/officeDocument/2006/relationships/image" Target="../media/image131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png"/><Relationship Id="rId4" Type="http://schemas.openxmlformats.org/officeDocument/2006/relationships/image" Target="../media/image124.png"/><Relationship Id="rId9" Type="http://schemas.openxmlformats.org/officeDocument/2006/relationships/image" Target="../media/image130.png"/><Relationship Id="rId15" Type="http://schemas.openxmlformats.org/officeDocument/2006/relationships/image" Target="../media/image146.png"/><Relationship Id="rId14" Type="http://schemas.openxmlformats.org/officeDocument/2006/relationships/image" Target="../media/image118.png"/><Relationship Id="rId17" Type="http://schemas.openxmlformats.org/officeDocument/2006/relationships/image" Target="../media/image135.png"/><Relationship Id="rId16" Type="http://schemas.openxmlformats.org/officeDocument/2006/relationships/image" Target="../media/image137.png"/><Relationship Id="rId5" Type="http://schemas.openxmlformats.org/officeDocument/2006/relationships/image" Target="../media/image111.png"/><Relationship Id="rId19" Type="http://schemas.openxmlformats.org/officeDocument/2006/relationships/image" Target="../media/image153.png"/><Relationship Id="rId6" Type="http://schemas.openxmlformats.org/officeDocument/2006/relationships/image" Target="../media/image115.png"/><Relationship Id="rId18" Type="http://schemas.openxmlformats.org/officeDocument/2006/relationships/image" Target="../media/image143.png"/><Relationship Id="rId7" Type="http://schemas.openxmlformats.org/officeDocument/2006/relationships/image" Target="../media/image144.png"/><Relationship Id="rId8" Type="http://schemas.openxmlformats.org/officeDocument/2006/relationships/image" Target="../media/image129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35.png"/><Relationship Id="rId6" Type="http://schemas.openxmlformats.org/officeDocument/2006/relationships/image" Target="../media/image143.png"/><Relationship Id="rId7" Type="http://schemas.openxmlformats.org/officeDocument/2006/relationships/image" Target="../media/image118.png"/></Relationships>
</file>

<file path=ppt/slides/_rels/slide8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6.png"/><Relationship Id="rId10" Type="http://schemas.openxmlformats.org/officeDocument/2006/relationships/image" Target="../media/image175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9" Type="http://schemas.openxmlformats.org/officeDocument/2006/relationships/image" Target="../media/image142.png"/><Relationship Id="rId5" Type="http://schemas.openxmlformats.org/officeDocument/2006/relationships/image" Target="../media/image141.png"/><Relationship Id="rId6" Type="http://schemas.openxmlformats.org/officeDocument/2006/relationships/image" Target="../media/image160.png"/><Relationship Id="rId7" Type="http://schemas.openxmlformats.org/officeDocument/2006/relationships/image" Target="../media/image164.png"/><Relationship Id="rId8" Type="http://schemas.openxmlformats.org/officeDocument/2006/relationships/image" Target="../media/image151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.png"/><Relationship Id="rId4" Type="http://schemas.openxmlformats.org/officeDocument/2006/relationships/image" Target="../media/image156.png"/><Relationship Id="rId5" Type="http://schemas.openxmlformats.org/officeDocument/2006/relationships/image" Target="../media/image145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.png"/><Relationship Id="rId4" Type="http://schemas.openxmlformats.org/officeDocument/2006/relationships/image" Target="../media/image157.png"/><Relationship Id="rId5" Type="http://schemas.openxmlformats.org/officeDocument/2006/relationships/image" Target="../media/image167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.png"/><Relationship Id="rId4" Type="http://schemas.openxmlformats.org/officeDocument/2006/relationships/image" Target="../media/image166.png"/><Relationship Id="rId5" Type="http://schemas.openxmlformats.org/officeDocument/2006/relationships/image" Target="../media/image148.png"/><Relationship Id="rId6" Type="http://schemas.openxmlformats.org/officeDocument/2006/relationships/image" Target="../media/image154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.png"/><Relationship Id="rId4" Type="http://schemas.openxmlformats.org/officeDocument/2006/relationships/image" Target="../media/image150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.png"/><Relationship Id="rId4" Type="http://schemas.openxmlformats.org/officeDocument/2006/relationships/image" Target="../media/image168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.png"/><Relationship Id="rId4" Type="http://schemas.openxmlformats.org/officeDocument/2006/relationships/image" Target="../media/image163.png"/><Relationship Id="rId5" Type="http://schemas.openxmlformats.org/officeDocument/2006/relationships/image" Target="../media/image162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.png"/><Relationship Id="rId4" Type="http://schemas.openxmlformats.org/officeDocument/2006/relationships/image" Target="../media/image173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74.png"/><Relationship Id="rId4" Type="http://schemas.openxmlformats.org/officeDocument/2006/relationships/image" Target="../media/image1.png"/><Relationship Id="rId5" Type="http://schemas.openxmlformats.org/officeDocument/2006/relationships/image" Target="../media/image172.png"/><Relationship Id="rId6" Type="http://schemas.openxmlformats.org/officeDocument/2006/relationships/image" Target="../media/image170.png"/><Relationship Id="rId7" Type="http://schemas.openxmlformats.org/officeDocument/2006/relationships/image" Target="../media/image161.png"/><Relationship Id="rId8" Type="http://schemas.openxmlformats.org/officeDocument/2006/relationships/image" Target="../media/image171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.png"/><Relationship Id="rId4" Type="http://schemas.openxmlformats.org/officeDocument/2006/relationships/image" Target="../media/image16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1657132" y="761134"/>
            <a:ext cx="963900" cy="1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8"/>
              <a:buFont typeface="Montserrat"/>
              <a:buNone/>
            </a:pPr>
            <a:r>
              <a:t/>
            </a:r>
            <a:endParaRPr b="0" i="0" sz="175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925" y="464000"/>
            <a:ext cx="2438610" cy="211087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/>
          <p:nvPr/>
        </p:nvSpPr>
        <p:spPr>
          <a:xfrm>
            <a:off x="347658" y="542640"/>
            <a:ext cx="1795500" cy="13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8"/>
              <a:buFont typeface="Montserrat"/>
              <a:buNone/>
            </a:pPr>
            <a:r>
              <a:rPr b="1" lang="fr" sz="11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 b="1" sz="112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260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2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Ridge</a:t>
            </a:r>
            <a:endParaRPr sz="1129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260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2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Lasso</a:t>
            </a:r>
            <a:endParaRPr sz="1129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260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2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ElasticNet</a:t>
            </a:r>
            <a:endParaRPr sz="1129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2609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78"/>
              <a:buFont typeface="Montserrat"/>
              <a:buNone/>
            </a:pPr>
            <a:r>
              <a:t/>
            </a:r>
            <a:endParaRPr sz="1129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260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8"/>
              <a:buFont typeface="Montserrat"/>
              <a:buNone/>
            </a:pPr>
            <a:r>
              <a:t/>
            </a:r>
            <a:endParaRPr sz="1129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0" y="43520"/>
            <a:ext cx="91419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2400"/>
              <a:buFont typeface="Montserrat"/>
              <a:buNone/>
            </a:pPr>
            <a:r>
              <a:rPr lang="fr" sz="2400">
                <a:solidFill>
                  <a:srgbClr val="2A292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Plan</a:t>
            </a:r>
            <a:endParaRPr i="0" sz="14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9945" y="426041"/>
            <a:ext cx="2438610" cy="211087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/>
          <p:nvPr/>
        </p:nvSpPr>
        <p:spPr>
          <a:xfrm>
            <a:off x="5558341" y="504715"/>
            <a:ext cx="1795500" cy="13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8"/>
              <a:buFont typeface="Montserrat"/>
              <a:buNone/>
            </a:pPr>
            <a:r>
              <a:rPr b="1" lang="fr" sz="11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Ensembles</a:t>
            </a:r>
            <a:endParaRPr b="1" sz="112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60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8"/>
              <a:buFont typeface="Montserrat"/>
              <a:buNone/>
            </a:pPr>
            <a:r>
              <a:rPr lang="fr" sz="112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</a:t>
            </a:r>
            <a:r>
              <a:rPr lang="fr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Bagging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60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8"/>
              <a:buFont typeface="Montserrat"/>
              <a:buNone/>
            </a:pPr>
            <a:r>
              <a:rPr lang="fr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Boosting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347532" y="2176254"/>
            <a:ext cx="17955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700" lIns="114700" spcFirstLastPara="1" rIns="114700" wrap="square" tIns="114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004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Duration : ~15 min</a:t>
            </a:r>
            <a:endParaRPr b="1" i="1" sz="1004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5505264" y="2138329"/>
            <a:ext cx="17955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700" lIns="114700" spcFirstLastPara="1" rIns="114700" wrap="square" tIns="114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004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Duration : ~30 min</a:t>
            </a:r>
            <a:endParaRPr b="1" i="1" sz="1004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21101" y="426032"/>
            <a:ext cx="2438610" cy="211087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/>
          <p:nvPr/>
        </p:nvSpPr>
        <p:spPr>
          <a:xfrm>
            <a:off x="3000860" y="592969"/>
            <a:ext cx="1795500" cy="13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8"/>
              <a:buFont typeface="Montserrat"/>
              <a:buNone/>
            </a:pPr>
            <a:r>
              <a:rPr b="1" lang="fr" sz="11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Models</a:t>
            </a:r>
            <a:endParaRPr b="1" sz="112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2609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78"/>
              <a:buFont typeface="Montserrat"/>
              <a:buNone/>
            </a:pPr>
            <a:r>
              <a:rPr lang="fr" sz="1129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KNN</a:t>
            </a:r>
            <a:endParaRPr sz="1129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2609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78"/>
              <a:buFont typeface="Montserrat"/>
              <a:buNone/>
            </a:pPr>
            <a:r>
              <a:rPr lang="fr" sz="1129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Decision Tree</a:t>
            </a:r>
            <a:endParaRPr sz="1129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2609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78"/>
              <a:buFont typeface="Montserrat"/>
              <a:buNone/>
            </a:pPr>
            <a:r>
              <a:rPr lang="fr" sz="1129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SVM</a:t>
            </a:r>
            <a:endParaRPr sz="1129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2778719" y="2226583"/>
            <a:ext cx="16659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700" lIns="114700" spcFirstLastPara="1" rIns="114700" wrap="square" tIns="114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004">
                <a:latin typeface="Montserrat"/>
                <a:ea typeface="Montserrat"/>
                <a:cs typeface="Montserrat"/>
                <a:sym typeface="Montserrat"/>
              </a:rPr>
              <a:t>Duration</a:t>
            </a:r>
            <a:r>
              <a:rPr b="1" i="1" lang="fr" sz="10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: ~</a:t>
            </a:r>
            <a:r>
              <a:rPr b="1" i="1" lang="fr" sz="1004"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1" i="1" lang="fr" sz="10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 min</a:t>
            </a:r>
            <a:endParaRPr b="1" i="1" sz="1004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925" y="2726250"/>
            <a:ext cx="2438610" cy="211087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/>
          <p:nvPr/>
        </p:nvSpPr>
        <p:spPr>
          <a:xfrm>
            <a:off x="347658" y="2804890"/>
            <a:ext cx="1795500" cy="13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609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78"/>
              <a:buFont typeface="Montserrat"/>
              <a:buNone/>
            </a:pPr>
            <a:r>
              <a:rPr b="1" lang="fr" sz="1129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Hyperparameter Opt.</a:t>
            </a:r>
            <a:endParaRPr b="1" sz="1129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2609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78"/>
              <a:buFont typeface="Montserrat"/>
              <a:buNone/>
            </a:pPr>
            <a:r>
              <a:rPr lang="fr" sz="1129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Grid</a:t>
            </a:r>
            <a:endParaRPr sz="1129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2609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78"/>
              <a:buFont typeface="Montserrat"/>
              <a:buNone/>
            </a:pPr>
            <a:r>
              <a:rPr lang="fr" sz="1129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Random</a:t>
            </a:r>
            <a:endParaRPr sz="1129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260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8"/>
              <a:buFont typeface="Montserrat"/>
              <a:buNone/>
            </a:pPr>
            <a:r>
              <a:t/>
            </a:r>
            <a:endParaRPr sz="1129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47532" y="4438504"/>
            <a:ext cx="17955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700" lIns="114700" spcFirstLastPara="1" rIns="114700" wrap="square" tIns="114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004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Duration : ~10 min</a:t>
            </a:r>
            <a:endParaRPr b="1" i="1" sz="1004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8BB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/>
          <p:nvPr/>
        </p:nvSpPr>
        <p:spPr>
          <a:xfrm>
            <a:off x="2673746" y="1931559"/>
            <a:ext cx="37965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</a:pPr>
            <a:r>
              <a:rPr b="1" lang="fr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Quiz: First session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/>
          <p:nvPr/>
        </p:nvSpPr>
        <p:spPr>
          <a:xfrm>
            <a:off x="132070" y="1282483"/>
            <a:ext cx="10058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1. What </a:t>
            </a:r>
            <a:r>
              <a:rPr lang="fr" sz="18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the objective of Machine Learning (supervised Learning)?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fr" sz="18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How do we evaluate a model?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fr" sz="18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What models did we see in first session? What their limits?</a:t>
            </a:r>
            <a:endParaRPr sz="1800">
              <a:solidFill>
                <a:srgbClr val="1B3A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5940" y="0"/>
            <a:ext cx="1168060" cy="86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ML Objective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/>
          <p:nvPr/>
        </p:nvSpPr>
        <p:spPr>
          <a:xfrm>
            <a:off x="594360" y="1280160"/>
            <a:ext cx="2469000" cy="3108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594360" y="1280160"/>
            <a:ext cx="2469000" cy="54900"/>
          </a:xfrm>
          <a:prstGeom prst="rect">
            <a:avLst/>
          </a:prstGeom>
          <a:solidFill>
            <a:srgbClr val="1A7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691370" y="1485905"/>
            <a:ext cx="2194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Georgia"/>
              <a:buNone/>
            </a:pPr>
            <a:r>
              <a:rPr b="1" lang="fr" sz="15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Dataset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731520" y="2514600"/>
            <a:ext cx="21945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fr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Pair of X variable, Y target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3337560" y="1280160"/>
            <a:ext cx="2469000" cy="3108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3337560" y="1280160"/>
            <a:ext cx="2469000" cy="54900"/>
          </a:xfrm>
          <a:prstGeom prst="rect">
            <a:avLst/>
          </a:prstGeom>
          <a:solidFill>
            <a:srgbClr val="0D4F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3434545" y="1545780"/>
            <a:ext cx="2194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Georgia"/>
              <a:buNone/>
            </a:pPr>
            <a:r>
              <a:rPr b="1" lang="fr" sz="15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Models</a:t>
            </a:r>
            <a:r>
              <a:rPr b="1" i="0" lang="fr" sz="1500" u="none" cap="none" strike="noStrik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3474720" y="2514600"/>
            <a:ext cx="21945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fr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model maps p input features to a prediction.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6080760" y="1280160"/>
            <a:ext cx="2469000" cy="3108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6080760" y="1280160"/>
            <a:ext cx="2469000" cy="549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6177720" y="1545768"/>
            <a:ext cx="2194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Georgia"/>
              <a:buNone/>
            </a:pPr>
            <a:r>
              <a:rPr b="1" lang="fr" sz="15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Optimization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6217920" y="2514600"/>
            <a:ext cx="21945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fr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Find the model that minimizes the loss.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18" title="{&quot;red&quot;:71,&quot;green&quot;:85,&quot;blue&quot;:105,&quot;origURL&quot;:&quot;https://www.codecogs.com/eqnedit.php?latex=%5Chat%7By%7D_i%20%3D%20f_%5Ctheta(x_i)#0&quot;,&quot;size&quot;:12,&quot;width&quot;:236.2204724409449,&quot;height&quot;:29.078740157480315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9450" y="4634100"/>
            <a:ext cx="1071680" cy="24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 title="{&quot;red&quot;:71,&quot;green&quot;:85,&quot;blue&quot;:105,&quot;origURL&quot;:&quot;https://www.codecogs.com/eqnedit.php?latex=%5Chat%7By%7D#0&quot;,&quot;size&quot;:12,&quot;width&quot;:236.2204724409449,&quot;height&quot;:29.078740157480315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7375" y="4678950"/>
            <a:ext cx="77724" cy="153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 title="{&quot;red&quot;:71,&quot;green&quot;:85,&quot;blue&quot;:105,&quot;origURL&quot;:&quot;https://www.codecogs.com/eqnedit.php?latex=y#0&quot;,&quot;size&quot;:12,&quot;width&quot;:236.2204724409449,&quot;height&quot;:29.078740157480315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61975" y="4700663"/>
            <a:ext cx="77724" cy="109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 title="{&quot;red&quot;:71,&quot;green&quot;:85,&quot;blue&quot;:105,&quot;origURL&quot;:&quot;https://www.codecogs.com/eqnedit.php?latex=f_%5Ctheta%20%3A%20%5Cmathbb%7BR%7D%5Ep%20%5Crightarrow%20%5Cmathbb%7BR%7D#0&quot;,&quot;size&quot;:12,&quot;width&quot;:236.2204724409449,&quot;height&quot;:45.09448818897638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53275" y="2468263"/>
            <a:ext cx="2037542" cy="36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 title="{&quot;red&quot;:0,&quot;green&quot;:0,&quot;blue&quot;:0,&quot;origURL&quot;:&quot;https://www.codecogs.com/eqnedit.php?latex=%5Carg%5Cmin_%7Bf%20%5Cin%20%5Cmathcal%7BF%7D%7D%20%5Cell(Y%2C%20f(X))#0&quot;,&quot;size&quot;:14,&quot;width&quot;:236.2204724409449,&quot;height&quot;:48.47244094488189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85600" y="2598374"/>
            <a:ext cx="2178748" cy="24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8" title="{&quot;red&quot;:71,&quot;green&quot;:85,&quot;blue&quot;:105,&quot;origURL&quot;:&quot;http://www.texrendr.com/?eqn=D%20%3D%20(X%2CY)%20%3D%20(x_i%20%2C%20y_i)_%7Bi%20%5Cin%20%5Cmathb%7BN%7D%7D#0&quot;,&quot;size&quot;:12,&quot;width&quot;:236.2204724409449,&quot;height&quot;:29.078740157480315}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16550" y="2397862"/>
            <a:ext cx="1969337" cy="24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 txBox="1"/>
          <p:nvPr/>
        </p:nvSpPr>
        <p:spPr>
          <a:xfrm>
            <a:off x="3902250" y="4570863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goal: make    as close to     as possible.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9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Model Evaluation </a:t>
            </a:r>
            <a:r>
              <a:rPr b="1" i="0" lang="fr" sz="2400" u="none" cap="none" strike="noStrike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Train/Test Split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350" y="1055200"/>
            <a:ext cx="7986825" cy="390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0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Linear Regression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0"/>
          <p:cNvPicPr preferRelativeResize="0"/>
          <p:nvPr/>
        </p:nvPicPr>
        <p:blipFill rotWithShape="1">
          <a:blip r:embed="rId4">
            <a:alphaModFix/>
          </a:blip>
          <a:srcRect b="0" l="5856" r="55671" t="0"/>
          <a:stretch/>
        </p:blipFill>
        <p:spPr>
          <a:xfrm>
            <a:off x="1454650" y="868800"/>
            <a:ext cx="2748550" cy="3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0" title="{&quot;red&quot;:0,&quot;green&quot;:0,&quot;blue&quot;:0,&quot;origURL&quot;:&quot;https://www.codecogs.com/eqnedit.php?latex=%20%5Chat%7By%7D%20%3D%20%5Ctheta_0%20%2B%20%5Ctheta_1%20x_1%20%2B%20%5Ctheta_2%20x_2%20%2B%20%5Ccdots%20%2B%20%5Ctheta_p%20x_p%20%3D%20X%5Ctheta%20#0&quot;,&quot;size&quot;:14,&quot;width&quot;:236.2204724409449,&quot;height&quot;:102.16535433070867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0550" y="2305850"/>
            <a:ext cx="4518501" cy="26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 title="{&quot;red&quot;:0,&quot;green&quot;:0,&quot;blue&quot;:0,&quot;origURL&quot;:&quot;https://www.codecogs.com/eqnedit.php?latex=%20%5Cmin_%7B%5Ctheta%7D%20%7Cy%20-%20X%5Ctheta%7C%5E2%20%5Cquad%20%5CRightarrow%20%5Cquad%20%5Chat%7B%5Ctheta%7D%20%3D%20(X%5ET%20X)%5E%7B-1%7D%20X%5ET%20y%20#0&quot;,&quot;size&quot;:14,&quot;width&quot;:236.2204724409449,&quot;height&quot;:70.53543307086615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21975" y="3053800"/>
            <a:ext cx="4207277" cy="39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1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1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Logistic Regression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1"/>
          <p:cNvPicPr preferRelativeResize="0"/>
          <p:nvPr/>
        </p:nvPicPr>
        <p:blipFill rotWithShape="1">
          <a:blip r:embed="rId4">
            <a:alphaModFix/>
          </a:blip>
          <a:srcRect b="0" l="55240" r="5610" t="0"/>
          <a:stretch/>
        </p:blipFill>
        <p:spPr>
          <a:xfrm>
            <a:off x="3737075" y="949175"/>
            <a:ext cx="2796774" cy="3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1"/>
          <p:cNvSpPr txBox="1"/>
          <p:nvPr/>
        </p:nvSpPr>
        <p:spPr>
          <a:xfrm>
            <a:off x="305400" y="3073863"/>
            <a:ext cx="3000000" cy="15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1" title="{&quot;red&quot;:0,&quot;green&quot;:0,&quot;blue&quot;:0,&quot;origURL&quot;:&quot;http://www.texrendr.com/?eqn=%20%5Chat%7By%7D%20%3D%20%5Cleft%7B%20%5Cbegin%7Barray%7D%7Bll%7D%201%20%26%20%5Ctext%7Bsi%20%7D%20%5Ctheta%5ET%20x%20%3E%200%20%5C%200%20%26%20%5Ctext%7Bsi%20%7D%20%5Ctheta%5ET%20x%20%3C%200%20%5Cend%7Barray%7D%20%5Cright.%20#0&quot;,&quot;size&quot;:14,&quot;width&quot;:236.2204724409449,&quot;height&quot;:121.67716535433071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350" y="3026550"/>
            <a:ext cx="23876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1" title="{&quot;red&quot;:0,&quot;green&quot;:0,&quot;blue&quot;:0,&quot;origURL&quot;:&quot;http://www.texrendr.com/?eqn=%20%5Chat%7By%7D%20%3D%20%5Cleft%7B%20%5Cbegin%7Barray%7D%7Bll%7D%201%20%26%20%5Ctext%7Bsi%20%7D%20P(Y%3D1%20%5Cmid%20x)%20%5Cgeq%200.5%20%5C%200%20%26%20%5Ctext%7Bsinon%7D%20%5Cend%7Barray%7D%20%5Cright.%20#0&quot;,&quot;size&quot;:14,&quot;width&quot;:236.2204724409449,&quot;height&quot;:90.04724409448819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400" y="3722650"/>
            <a:ext cx="27940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1" title="{&quot;red&quot;:0,&quot;green&quot;:0,&quot;blue&quot;:0,&quot;origURL&quot;:&quot;https://www.codecogs.com/eqnedit.php?latex=%20P(Y%20%3D%201%20%5Cmid%20x)%20%3D%20%5Csigma(%5Ctheta%5ET%20x)%20%3D%20%5Cfrac%7B1%7D%7B1%20%2B%20e%5E%7B-%5Ctheta%5ET%20x%7D%7D%20#0&quot;,&quot;size&quot;:14,&quot;width&quot;:236.2204724409449,&quot;height&quot;:102.16535433070867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5400" y="1292900"/>
            <a:ext cx="3236151" cy="45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1" title="{&quot;red&quot;:0,&quot;green&quot;:0,&quot;blue&quot;:0,&quot;origURL&quot;:&quot;https://www.codecogs.com/eqnedit.php?latex=%20%5Cmin_%7B%5Ctheta%7D%20-%5Csum_%7Bi%3D1%7D%5E%7Bn%7D%20%5Cleft%5B%20y_i%20%5Clog(%5Chat%7Bp%7D_i)%20%2B%20(1%20-%20y_i)%20%5Clog(1%20-%20%5Chat%7Bp%7D_i)%20%5Cright%5D%20#0&quot;,&quot;size&quot;:14,&quot;width&quot;:236.2204724409449,&quot;height&quot;:70.53543307086615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4350" y="2109802"/>
            <a:ext cx="3000002" cy="461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70174" y="1816825"/>
            <a:ext cx="2305351" cy="2224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2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2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Non linear data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2"/>
          <p:cNvPicPr preferRelativeResize="0"/>
          <p:nvPr/>
        </p:nvPicPr>
        <p:blipFill rotWithShape="1">
          <a:blip r:embed="rId4">
            <a:alphaModFix/>
          </a:blip>
          <a:srcRect b="17891" l="0" r="66453" t="0"/>
          <a:stretch/>
        </p:blipFill>
        <p:spPr>
          <a:xfrm>
            <a:off x="1020188" y="1105313"/>
            <a:ext cx="2772977" cy="293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2"/>
          <p:cNvPicPr preferRelativeResize="0"/>
          <p:nvPr/>
        </p:nvPicPr>
        <p:blipFill rotWithShape="1">
          <a:blip r:embed="rId5">
            <a:alphaModFix/>
          </a:blip>
          <a:srcRect b="0" l="2399" r="56670" t="0"/>
          <a:stretch/>
        </p:blipFill>
        <p:spPr>
          <a:xfrm>
            <a:off x="5055075" y="1105325"/>
            <a:ext cx="2263982" cy="269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2"/>
          <p:cNvSpPr txBox="1"/>
          <p:nvPr/>
        </p:nvSpPr>
        <p:spPr>
          <a:xfrm>
            <a:off x="1165325" y="4388050"/>
            <a:ext cx="680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Linear Regression and logistic regression will not cover those cases 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3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3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Polynomial regression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8925" y="1165875"/>
            <a:ext cx="4933950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3"/>
          <p:cNvSpPr txBox="1"/>
          <p:nvPr/>
        </p:nvSpPr>
        <p:spPr>
          <a:xfrm>
            <a:off x="0" y="0"/>
            <a:ext cx="30000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</p:txBody>
      </p:sp>
      <p:pic>
        <p:nvPicPr>
          <p:cNvPr id="191" name="Google Shape;191;p23" title="{&quot;red&quot;:0,&quot;green&quot;:0,&quot;blue&quot;:0,&quot;origURL&quot;:&quot;https://www.codecogs.com/eqnedit.php?latex=%20x%20%5Cmapsto%20%5Cphi(x)%20%3D%20(1%2C%20%3B%20x%2C%20%3B%20x%5E2%2C%20%3B%20x%5E3%2C%20%3B%20%5Cldots%2C%20%3B%20x%5Ed)%20#0&quot;,&quot;size&quot;:11,&quot;width&quot;:236.2204724409449,&quot;height&quot;:70.65354330708661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075" y="1325913"/>
            <a:ext cx="3130328" cy="22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3" title="{&quot;red&quot;:0,&quot;green&quot;:0,&quot;blue&quot;:0,&quot;origURL&quot;:&quot;https://www.codecogs.com/eqnedit.php?latex=%20%5Chat%7By%7D%20%3D%20%5Ctheta_0%20%2B%20%5Ctheta_1%20x%20%2B%20%5Ctheta_2%20x%5E2%20%2B%20%5Ccdots%20%2B%20%5Ctheta_d%20x%5Ed%20%3D%20%5Cphi(x)%5ET%20%5Ctheta%20#0&quot;,&quot;size&quot;:11,&quot;width&quot;:236.2204724409449,&quot;height&quot;:89.62204724409449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2075" y="1748851"/>
            <a:ext cx="3130325" cy="196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3" title="{&quot;red&quot;:0,&quot;green&quot;:0,&quot;blue&quot;:0,&quot;origURL&quot;:&quot;https://www.codecogs.com/eqnedit.php?latex=%20%5Cmin_%7B%5Ctheta%7D%20%7Cy%20-%20%5CPhi%20%5Ctheta%7C%5E2%20%5Cquad%20%5CRightarrow%20%5Cquad%20%5Chat%7B%5Ctheta%7D%20%3D%20(%5CPhi%5ET%20%5CPhi)%5E%7B-1%7D%20%5CPhi%5ET%20y%20#0&quot;,&quot;size&quot;:11,&quot;width&quot;:236.2204724409449,&quot;height&quot;:58.53543307086614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2075" y="2195825"/>
            <a:ext cx="3130325" cy="30436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3"/>
          <p:cNvSpPr txBox="1"/>
          <p:nvPr/>
        </p:nvSpPr>
        <p:spPr>
          <a:xfrm>
            <a:off x="64300" y="2852538"/>
            <a:ext cx="3000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 sz="1100">
                <a:solidFill>
                  <a:schemeClr val="dk1"/>
                </a:solidFill>
              </a:rPr>
              <a:t>Same linear regression, new features.</a:t>
            </a:r>
            <a:r>
              <a:rPr lang="fr" sz="1100">
                <a:solidFill>
                  <a:schemeClr val="dk1"/>
                </a:solidFill>
              </a:rPr>
              <a:t> Non-linear in X, linear in theta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4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4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Regularization in scikit-learn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4"/>
          <p:cNvSpPr/>
          <p:nvPr/>
        </p:nvSpPr>
        <p:spPr>
          <a:xfrm>
            <a:off x="548640" y="1188720"/>
            <a:ext cx="7315200" cy="2926200"/>
          </a:xfrm>
          <a:prstGeom prst="rect">
            <a:avLst/>
          </a:prstGeom>
          <a:solidFill>
            <a:srgbClr val="1E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4"/>
          <p:cNvSpPr/>
          <p:nvPr/>
        </p:nvSpPr>
        <p:spPr>
          <a:xfrm>
            <a:off x="685800" y="1280160"/>
            <a:ext cx="7041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sklearn.preprocessing import PolynomialFeatures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sklearn.linear_model import LinearRegression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sklearn.pipeline import Pipeline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model = Pipeline([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('poly', PolynomialFeatures(degree=3)),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('reg',  LinearRegression())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model.fit(X_train, y_train)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y_pred = model.predict(X_test)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2704950" y="4150448"/>
            <a:ext cx="2629200" cy="7107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4"/>
          <p:cNvSpPr/>
          <p:nvPr/>
        </p:nvSpPr>
        <p:spPr>
          <a:xfrm>
            <a:off x="2841999" y="4186025"/>
            <a:ext cx="3233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0" i="0" lang="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alpha in sklearn = lambda in formulas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5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5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Overfitting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5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4875" y="987649"/>
            <a:ext cx="5503974" cy="269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5"/>
          <p:cNvSpPr txBox="1"/>
          <p:nvPr/>
        </p:nvSpPr>
        <p:spPr>
          <a:xfrm>
            <a:off x="132075" y="2081500"/>
            <a:ext cx="30000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</a:rPr>
              <a:t>Theorem:</a:t>
            </a:r>
            <a:r>
              <a:rPr lang="fr" sz="1100">
                <a:solidFill>
                  <a:schemeClr val="dk1"/>
                </a:solidFill>
              </a:rPr>
              <a:t> For n data points with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A polynomial of degree d=n−1 fits all points exactly.</a:t>
            </a:r>
            <a:endParaRPr/>
          </a:p>
        </p:txBody>
      </p:sp>
      <p:pic>
        <p:nvPicPr>
          <p:cNvPr id="221" name="Google Shape;221;p25" title="{&quot;red&quot;:71,&quot;green&quot;:85,&quot;blue&quot;:105,&quot;origURL&quot;:&quot;https://www.codecogs.com/eqnedit.php?latex=(x_i%20%2C%20y_i)#0&quot;,&quot;size&quot;:12,&quot;width&quot;:236.2204724409449,&quot;height&quot;:29.078740157480315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4950" y="2163064"/>
            <a:ext cx="496062" cy="19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8BB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6"/>
          <p:cNvSpPr/>
          <p:nvPr/>
        </p:nvSpPr>
        <p:spPr>
          <a:xfrm>
            <a:off x="2673746" y="1931559"/>
            <a:ext cx="37965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</a:pPr>
            <a:r>
              <a:rPr b="1" lang="fr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7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7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Regularization Idea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7" name="Google Shape;237;p27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7"/>
          <p:cNvSpPr/>
          <p:nvPr/>
        </p:nvSpPr>
        <p:spPr>
          <a:xfrm>
            <a:off x="132065" y="1716105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Calibri"/>
              <a:buNone/>
            </a:pPr>
            <a:r>
              <a:rPr lang="f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Penalizing large parameters forces the model to find simpler solutions that generalize better.</a:t>
            </a:r>
            <a:r>
              <a:rPr b="0" i="0" lang="fr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7"/>
          <p:cNvSpPr/>
          <p:nvPr/>
        </p:nvSpPr>
        <p:spPr>
          <a:xfrm>
            <a:off x="-10" y="3279905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0" i="0" lang="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controls strength of regularization (hyperparameter)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</a:t>
            </a:r>
            <a:r>
              <a:rPr b="0" i="0" lang="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no penalty → standard </a:t>
            </a:r>
            <a:r>
              <a:rPr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</a:t>
            </a:r>
            <a:r>
              <a:rPr b="0" i="0" lang="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all coefficients → 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27" title="{&quot;red&quot;:27,&quot;green&quot;:58,&quot;blue&quot;:92,&quot;origURL&quot;:&quot;https://www.codecogs.com/eqnedit.php?latex=%5Ctheta%5E*%20%3D%20%5Carg%5Cmin_%5Ctheta%20%5Cfrac%7B1%7D%7Bn%7D%5C%7CY%20-%20X%5Ctheta%5C%7C%5E2%20%2B%20%5Clambda%20%5Ccdot%20R(%5Ctheta)#0&quot;,&quot;size&quot;:16,&quot;width&quot;:236.2204724409449,&quot;height&quot;:72.70866141732283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800" y="2303713"/>
            <a:ext cx="3402653" cy="44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7" title="{&quot;red&quot;:27,&quot;green&quot;:58,&quot;blue&quot;:92,&quot;origURL&quot;:&quot;https://www.codecogs.com/eqnedit.php?latex=%5Clambda#0&quot;,&quot;size&quot;:14,&quot;width&quot;:236.2204724409449,&quot;height&quot;:31.511811023622048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800" y="3375425"/>
            <a:ext cx="97345" cy="141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7" title="{&quot;red&quot;:27,&quot;green&quot;:58,&quot;blue&quot;:92,&quot;origURL&quot;:&quot;https://www.codecogs.com/eqnedit.php?latex=%5Clambda%20%3D%200#0&quot;,&quot;size&quot;:14,&quot;width&quot;:236.2204724409449,&quot;height&quot;:31.511811023622048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4475" y="3592050"/>
            <a:ext cx="456057" cy="142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7" title="{&quot;red&quot;:27,&quot;green&quot;:58,&quot;blue&quot;:92,&quot;origURL&quot;:&quot;https://www.codecogs.com/eqnedit.php?latex=%5Clambda%20%5Cto%20%5Cinfty#0&quot;,&quot;size&quot;:14,&quot;width&quot;:236.2204724409449,&quot;height&quot;:31.511811023622048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4475" y="3810000"/>
            <a:ext cx="601408" cy="141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81278" y="2204161"/>
            <a:ext cx="4409751" cy="24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8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8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Karush-Kuhn-Tucker - condition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4" name="Google Shape;254;p28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8" title="{&quot;red&quot;:0,&quot;green&quot;:0,&quot;blue&quot;:0,&quot;origURL&quot;:&quot;https://www.codecogs.com/eqnedit.php?latex=%20%5ClVert%20%5Ctheta%20%5CrVert_2%5E2%20%3D%20%5Ctheta_1%5E2%20%2B%20%5Ctheta_2%5E2%20%2B%20%5Ccdots%20%2B%20%5Ctheta_p%5E2%20#0&quot;,&quot;size&quot;:11,&quot;width&quot;:236.2204724409449,&quot;height&quot;:98.10236220472441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4575" y="1877025"/>
            <a:ext cx="2318557" cy="2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8" title="{&quot;red&quot;:0,&quot;green&quot;:0,&quot;blue&quot;:0,&quot;origURL&quot;:&quot;https://www.codecogs.com/eqnedit.php?latex=%20%5ClVert%20%5Ctheta%20%5CrVert_1%20%3D%20%5Clvert%20%5Ctheta_1%20%5Crvert%20%2B%20%5Clvert%20%5Ctheta_2%20%5Crvert%20%2B%20%5Ccdots%20%2B%20%5Clvert%20%5Ctheta_p%20%5Crvert%20#0&quot;,&quot;size&quot;:11,&quot;width&quot;:236.2204724409449,&quot;height&quot;:58.53543307086614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2450" y="1970427"/>
            <a:ext cx="2081751" cy="1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8" title="{&quot;red&quot;:0,&quot;green&quot;:0,&quot;blue&quot;:0,&quot;origURL&quot;:&quot;https://www.codecogs.com/eqnedit.php?latex=%20%5Cforall%20%5Clambda%20%5Cgeq%200%2C%20%3B%20%5Cexists%20%3B%20t%20%5Cgeq%200%20%5Cquad%20%5Ctext%7Bsuch%20that%20both%20problems%20have%20the%20same%20solution%20(KKT)%7D%20#0&quot;,&quot;size&quot;:11,&quot;width&quot;:236.2204724409449,&quot;height&quot;:58.53543307086614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8334" y="4200926"/>
            <a:ext cx="7343349" cy="23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8" title="{&quot;red&quot;:0,&quot;green&quot;:0,&quot;blue&quot;:0,&quot;origURL&quot;:&quot;https://www.codecogs.com/eqnedit.php?latex=%20%5Cmin_%7B%5Ctheta%7D%20%5ClVert%20y%20-%20X%5Ctheta%20%5CrVert%5E2%20%2B%20%5Clambda%20%5ClVert%20%5Ctheta%20%5CrVert%20%5Cquad%20%5CLongleftrightarrow%20%5Cquad%20%5Cmin_%7B%5Ctheta%7D%20%5ClVert%20y%20-%20X%5Ctheta%20%5CrVert%5E2%20%5Cquad%20%5Ctext%7Bs.t.%7D%20%5Cquad%20%5ClVert%20%5Ctheta%20%5CrVert%20%5Cleq%20t%20#0&quot;,&quot;size&quot;:11,&quot;width&quot;:236.2204724409449,&quot;height&quot;:120.28346456692914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0192" y="3436680"/>
            <a:ext cx="7828148" cy="44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8"/>
          <p:cNvPicPr preferRelativeResize="0"/>
          <p:nvPr/>
        </p:nvPicPr>
        <p:blipFill rotWithShape="1">
          <a:blip r:embed="rId8">
            <a:alphaModFix/>
          </a:blip>
          <a:srcRect b="0" l="0" r="33550" t="0"/>
          <a:stretch/>
        </p:blipFill>
        <p:spPr>
          <a:xfrm>
            <a:off x="2692300" y="947075"/>
            <a:ext cx="3554176" cy="227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9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9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Ridge / Lasso / Elastic Net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9" name="Google Shape;269;p29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9"/>
          <p:cNvPicPr preferRelativeResize="0"/>
          <p:nvPr/>
        </p:nvPicPr>
        <p:blipFill rotWithShape="1">
          <a:blip r:embed="rId4">
            <a:alphaModFix/>
          </a:blip>
          <a:srcRect b="12587" l="0" r="0" t="0"/>
          <a:stretch/>
        </p:blipFill>
        <p:spPr>
          <a:xfrm>
            <a:off x="739375" y="868800"/>
            <a:ext cx="7665151" cy="325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9"/>
          <p:cNvSpPr txBox="1"/>
          <p:nvPr/>
        </p:nvSpPr>
        <p:spPr>
          <a:xfrm>
            <a:off x="0" y="0"/>
            <a:ext cx="3000000" cy="1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9"/>
          <p:cNvSpPr txBox="1"/>
          <p:nvPr/>
        </p:nvSpPr>
        <p:spPr>
          <a:xfrm>
            <a:off x="1957325" y="1883450"/>
            <a:ext cx="3000000" cy="1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9" title="{&quot;red&quot;:0,&quot;green&quot;:0,&quot;blue&quot;:0,&quot;origURL&quot;:&quot;https://www.codecogs.com/eqnedit.php?latex=%20%5Ctext%7BRidge%3A%20%7D%20%5Cmin_%7B%5Ctheta%7D%20%5ClVert%20y%20-%20X%5Ctheta%20%5CrVert%5E2%20%2B%20%5Clambda%20%5ClVert%20%5Ctheta%20%5CrVert_2%5E2%20#0&quot;,&quot;size&quot;:14,&quot;width&quot;:236.2204724409449,&quot;height&quot;:102.16535433070867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775" y="4392700"/>
            <a:ext cx="2053385" cy="234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9" title="{&quot;red&quot;:0,&quot;green&quot;:0,&quot;blue&quot;:0,&quot;origURL&quot;:&quot;https://www.codecogs.com/eqnedit.php?latex=%20%5Ctext%7BLasso%3A%20%7D%20%5Cmin_%7B%5Ctheta%7D%20%5ClVert%20y%20-%20X%5Ctheta%20%5CrVert%5E2%20%2B%20%5Clambda%20%5ClVert%20%5Ctheta%20%5CrVert_1%20#0&quot;,&quot;size&quot;:14,&quot;width&quot;:236.2204724409449,&quot;height&quot;:102.16535433070867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8788" y="4392705"/>
            <a:ext cx="2034700" cy="23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9" title="{&quot;red&quot;:0,&quot;green&quot;:0,&quot;blue&quot;:0,&quot;origURL&quot;:&quot;https://www.codecogs.com/eqnedit.php?latex=%20%5Ctext%7BElastic%20Net%3A%20%7D%20%5Cmin_%7B%5Ctheta%7D%20%5ClVert%20y%20-%20X%5Ctheta%20%5CrVert%5E2%20%2B%20%5Clambda_1%20%5ClVert%20%5Ctheta%20%5CrVert_1%20%2B%20%5Clambda_2%20%5ClVert%20%5Ctheta%20%5CrVert_2%5E2%20#0&quot;,&quot;size&quot;:14,&quot;width&quot;:236.2204724409449,&quot;height&quot;:109.55905511811024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47550" y="4392697"/>
            <a:ext cx="3120827" cy="23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0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0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Regularization in scikit-learn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5" name="Google Shape;285;p30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0"/>
          <p:cNvSpPr/>
          <p:nvPr/>
        </p:nvSpPr>
        <p:spPr>
          <a:xfrm>
            <a:off x="548640" y="1188720"/>
            <a:ext cx="7315200" cy="2926200"/>
          </a:xfrm>
          <a:prstGeom prst="rect">
            <a:avLst/>
          </a:prstGeom>
          <a:solidFill>
            <a:srgbClr val="1E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0"/>
          <p:cNvSpPr/>
          <p:nvPr/>
        </p:nvSpPr>
        <p:spPr>
          <a:xfrm>
            <a:off x="685800" y="1280160"/>
            <a:ext cx="7041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sklearn.linear_model import Ridge, Lasso, ElasticNet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ridge   = Ridge(alpha=1.0)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lasso   = Lasso(alpha=0.1)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elastic = ElasticNet(alpha=0.1, l1_ratio=0.5)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model.fit(X_train, y_train)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y_pred = model.predict(X_test)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0"/>
          <p:cNvSpPr/>
          <p:nvPr/>
        </p:nvSpPr>
        <p:spPr>
          <a:xfrm>
            <a:off x="2704950" y="4150448"/>
            <a:ext cx="2629200" cy="7107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0"/>
          <p:cNvSpPr/>
          <p:nvPr/>
        </p:nvSpPr>
        <p:spPr>
          <a:xfrm>
            <a:off x="2841999" y="4186025"/>
            <a:ext cx="3233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0" i="0" lang="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alpha in sklearn = lambda in formulas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1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1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1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Regularization for classification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9" name="Google Shape;299;p31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1"/>
          <p:cNvSpPr txBox="1"/>
          <p:nvPr/>
        </p:nvSpPr>
        <p:spPr>
          <a:xfrm>
            <a:off x="548650" y="1620613"/>
            <a:ext cx="30000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</p:txBody>
      </p:sp>
      <p:sp>
        <p:nvSpPr>
          <p:cNvPr id="302" name="Google Shape;302;p31"/>
          <p:cNvSpPr txBox="1"/>
          <p:nvPr/>
        </p:nvSpPr>
        <p:spPr>
          <a:xfrm>
            <a:off x="5054175" y="2440488"/>
            <a:ext cx="30000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3" name="Google Shape;303;p31" title="{&quot;red&quot;:0,&quot;green&quot;:0,&quot;blue&quot;:0,&quot;origURL&quot;:&quot;https://www.codecogs.com/eqnedit.php?latex=%20%5Ctext%7BRidge%20(L2)%3A%20%7D%20%5Cmin_%7B%5Ctheta%7D%20-%5Csum_%7Bi%3D1%7D%5E%7Bn%7D%20%5Cleft%5B%20y_i%20%5Clog(%5Chat%7Bp%7D_i)%20%2B%20(1-y_i)%20%5Clog(1-%5Chat%7Bp%7D_i)%20%5Cright%5D%20%2B%20%5Clambda%20%5ClVert%20%5Ctheta%20%5CrVert_2%5E2%20#0&quot;,&quot;size&quot;:11,&quot;width&quot;:236.2204724409449,&quot;height&quot;:128.76377952755905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950" y="1128574"/>
            <a:ext cx="4071418" cy="411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1" title="{&quot;red&quot;:0,&quot;green&quot;:0,&quot;blue&quot;:0,&quot;origURL&quot;:&quot;https://www.codecogs.com/eqnedit.php?latex=%20%5Ctext%7Bwhere%20%7D%20%5Chat%7Bp%7D_i%20%3D%20%5Csigma(%5Ctheta%5ET%20x_i)%20%3D%20%5Cfrac%7B1%7D%7B1%20%2B%20e%5E%7B-%5Ctheta%5ET%20x_i%7D%7D%20#0&quot;,&quot;size&quot;:11,&quot;width&quot;:236.2204724409449,&quot;height&quot;:70.65354330708661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7525" y="3629167"/>
            <a:ext cx="2258274" cy="349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1" title="{&quot;red&quot;:0,&quot;green&quot;:0,&quot;blue&quot;:0,&quot;origURL&quot;:&quot;https://www.codecogs.com/eqnedit.php?latex=%20%5Ctext%7BElastic%20Net%3A%20%7D%20%5Cmin_%7B%5Ctheta%7D%20-%5Csum_%7Bi%3D1%7D%5E%7Bn%7D%20%5Cleft%5B%20y_i%20%5Clog(%5Chat%7Bp%7D_i)%20%2B%20(1-y_i)%20%5Clog(1-%5Chat%7Bp%7D_i)%20%5Cright%5D%20%2B%20%5Clambda_1%20%5ClVert%20%5Ctheta%20%5CrVert_1%20%2B%20%5Clambda_2%20%5ClVert%20%5Ctheta%20%5CrVert_2%5E2%20#0&quot;,&quot;size&quot;:11,&quot;width&quot;:236.2204724409449,&quot;height&quot;:89.19685039370079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3758" y="2644568"/>
            <a:ext cx="3925835" cy="33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1" title="{&quot;red&quot;:0,&quot;green&quot;:0,&quot;blue&quot;:0,&quot;origURL&quot;:&quot;https://www.codecogs.com/eqnedit.php?latex=%20%5Ctext%7BLasso%20(L1)%3A%20%7D%20%5Cmin_%7B%5Ctheta%7D%20-%5Csum_%7Bi%3D1%7D%5E%7Bn%7D%20%5Cleft%5B%20y_i%20%5Clog(%5Chat%7Bp%7D_i)%20%2B%20(1-y_i)%20%5Clog(1-%5Chat%7Bp%7D_i)%20%5Cright%5D%20%2B%20%5Clambda%20%5ClVert%20%5Ctheta%20%5CrVert_1%20#0&quot;,&quot;size&quot;:11,&quot;width&quot;:236.2204724409449,&quot;height&quot;:73.86614173228347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9706" y="1845789"/>
            <a:ext cx="4053922" cy="411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2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2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2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Regularization classification.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15" name="Google Shape;315;p32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2"/>
          <p:cNvSpPr/>
          <p:nvPr/>
        </p:nvSpPr>
        <p:spPr>
          <a:xfrm>
            <a:off x="548640" y="1188720"/>
            <a:ext cx="7315200" cy="2926200"/>
          </a:xfrm>
          <a:prstGeom prst="rect">
            <a:avLst/>
          </a:prstGeom>
          <a:solidFill>
            <a:srgbClr val="1E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2"/>
          <p:cNvSpPr/>
          <p:nvPr/>
        </p:nvSpPr>
        <p:spPr>
          <a:xfrm>
            <a:off x="685800" y="1280160"/>
            <a:ext cx="7041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sklearn.linear_model import LogisticRegression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ridge   = LogisticRegression(penalty='l2', C=1.0)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lasso   = LogisticRegression(penalty='l1', C=10, solver='saga')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elastic = LogisticRegression(penalty='elasticnet', C=10, l1_ratio=0.5, solver='saga')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model.fit(X_train, y_train)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y_pred = model.predict(X_test)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2"/>
          <p:cNvSpPr/>
          <p:nvPr/>
        </p:nvSpPr>
        <p:spPr>
          <a:xfrm>
            <a:off x="3020450" y="4149272"/>
            <a:ext cx="1983600" cy="487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2"/>
          <p:cNvSpPr/>
          <p:nvPr/>
        </p:nvSpPr>
        <p:spPr>
          <a:xfrm>
            <a:off x="3203330" y="4240710"/>
            <a:ext cx="2743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0" i="0" lang="fr" sz="13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fr" sz="13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In sklearn, C = 1/λ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3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3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3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QUIZ : Regularization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9" name="Google Shape;329;p33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0" name="Google Shape;33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5940" y="0"/>
            <a:ext cx="1168060" cy="8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3"/>
          <p:cNvSpPr txBox="1"/>
          <p:nvPr/>
        </p:nvSpPr>
        <p:spPr>
          <a:xfrm>
            <a:off x="685800" y="2522850"/>
            <a:ext cx="785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we apply regularization?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regularization method performs feature selection?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8BB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4"/>
          <p:cNvSpPr/>
          <p:nvPr/>
        </p:nvSpPr>
        <p:spPr>
          <a:xfrm>
            <a:off x="2673746" y="1931559"/>
            <a:ext cx="37965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</a:pPr>
            <a:r>
              <a:rPr b="1" lang="fr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K-Nearest Neighbors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5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5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5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KNN: The Idea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8" name="Google Shape;348;p35"/>
          <p:cNvSpPr/>
          <p:nvPr/>
        </p:nvSpPr>
        <p:spPr>
          <a:xfrm>
            <a:off x="0" y="868800"/>
            <a:ext cx="3052500" cy="427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5"/>
          <p:cNvSpPr/>
          <p:nvPr/>
        </p:nvSpPr>
        <p:spPr>
          <a:xfrm>
            <a:off x="215625" y="1125300"/>
            <a:ext cx="2534700" cy="37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Calibri"/>
              <a:buChar char="-"/>
            </a:pPr>
            <a:r>
              <a:rPr lang="fr" sz="1200">
                <a:solidFill>
                  <a:srgbClr val="2A2921"/>
                </a:solidFill>
                <a:latin typeface="Calibri"/>
                <a:ea typeface="Calibri"/>
                <a:cs typeface="Calibri"/>
                <a:sym typeface="Calibri"/>
              </a:rPr>
              <a:t>Non-parametric, instance-based (memory-based)</a:t>
            </a:r>
            <a:endParaRPr sz="1200">
              <a:solidFill>
                <a:srgbClr val="2A29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Calibri"/>
              <a:buChar char="-"/>
            </a:pPr>
            <a:r>
              <a:rPr lang="fr" sz="1200">
                <a:solidFill>
                  <a:srgbClr val="2A2921"/>
                </a:solidFill>
                <a:latin typeface="Calibri"/>
                <a:ea typeface="Calibri"/>
                <a:cs typeface="Calibri"/>
                <a:sym typeface="Calibri"/>
              </a:rPr>
              <a:t>No training phase — just store the data</a:t>
            </a:r>
            <a:endParaRPr sz="1200">
              <a:solidFill>
                <a:srgbClr val="2A29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Calibri"/>
              <a:buChar char="-"/>
            </a:pPr>
            <a:r>
              <a:rPr lang="fr" sz="1200">
                <a:solidFill>
                  <a:srgbClr val="2A2921"/>
                </a:solidFill>
                <a:latin typeface="Calibri"/>
                <a:ea typeface="Calibri"/>
                <a:cs typeface="Calibri"/>
                <a:sym typeface="Calibri"/>
              </a:rPr>
              <a:t>Prediction: look at the K closest neighbors, vote / average</a:t>
            </a:r>
            <a:endParaRPr sz="1200">
              <a:solidFill>
                <a:srgbClr val="2A29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2400"/>
              <a:buFont typeface="Montserrat"/>
              <a:buNone/>
            </a:pPr>
            <a:r>
              <a:t/>
            </a:r>
            <a:endParaRPr sz="1200">
              <a:solidFill>
                <a:srgbClr val="2A29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2400"/>
              <a:buFont typeface="Montserrat"/>
              <a:buNone/>
            </a:pPr>
            <a:r>
              <a:t/>
            </a:r>
            <a:endParaRPr sz="1200">
              <a:solidFill>
                <a:srgbClr val="2A29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5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" name="Google Shape;35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7300" y="1021200"/>
            <a:ext cx="5786702" cy="325502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5"/>
          <p:cNvSpPr txBox="1"/>
          <p:nvPr/>
        </p:nvSpPr>
        <p:spPr>
          <a:xfrm>
            <a:off x="308175" y="2839575"/>
            <a:ext cx="30000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4" name="Google Shape;354;p35" title="{&quot;red&quot;:0,&quot;green&quot;:0,&quot;blue&quot;:0,&quot;origURL&quot;:&quot;https://www.codecogs.com/eqnedit.php?latex=%20%5Cforall%20%3B%20i%20%5Cin%20%7B1%2C%20%5Cldots%2C%20n%7D%2C%20%5Cquad%20%5Ctext%7Bcompute%20%7D%20d(x%2C%20x_i)%20#0&quot;,&quot;size&quot;:14,&quot;width&quot;:236.2204724409449,&quot;height&quot;:82.65354330708661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75" y="2930050"/>
            <a:ext cx="3000001" cy="2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5" title="{&quot;red&quot;:0,&quot;green&quot;:0,&quot;blue&quot;:0,&quot;origURL&quot;:&quot;https://www.codecogs.com/eqnedit.php?latex=%20N_k(x)%20%3D%20%7B%20x_i%20%3A%20d(x%2C%20x_i)%20%5Cleq%20d(x%2C%20x_%7B(k)%7D)%20%7D%20#0&quot;,&quot;size&quot;:14,&quot;width&quot;:236.2204724409449,&quot;height&quot;:51.023622047244096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9013" y="3571050"/>
            <a:ext cx="2694482" cy="21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6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6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6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KNN Classification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4" name="Google Shape;364;p36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5" name="Google Shape;36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6"/>
          <p:cNvSpPr/>
          <p:nvPr/>
        </p:nvSpPr>
        <p:spPr>
          <a:xfrm>
            <a:off x="-10" y="1576805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0" i="0" lang="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new point x: find K nearest neighbors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6"/>
          <p:cNvSpPr/>
          <p:nvPr/>
        </p:nvSpPr>
        <p:spPr>
          <a:xfrm>
            <a:off x="-10" y="2034005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0" i="0" lang="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 majority class: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Google Shape;36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5503" y="1205530"/>
            <a:ext cx="5008047" cy="2732453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6"/>
          <p:cNvSpPr txBox="1"/>
          <p:nvPr/>
        </p:nvSpPr>
        <p:spPr>
          <a:xfrm>
            <a:off x="0" y="0"/>
            <a:ext cx="30000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0" name="Google Shape;370;p36" title="{&quot;red&quot;:0,&quot;green&quot;:0,&quot;blue&quot;:0,&quot;origURL&quot;:&quot;http://www.texrendr.com/?eqn=%20%5Chat%7By%7D%20%3D%20%5Carg%5Cmax_c%20%5Csum_%7Bi%20%5Cin%20N_k(x)%7D%20%5Cmathb%7B1%7D(y_i%20%3D%20c)%20#0&quot;,&quot;size&quot;:14,&quot;width&quot;:236.2204724409449,&quot;height&quot;:82.65354330708661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050" y="2876525"/>
            <a:ext cx="2559718" cy="54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7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7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7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KNN Regression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9" name="Google Shape;379;p37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7"/>
          <p:cNvSpPr/>
          <p:nvPr/>
        </p:nvSpPr>
        <p:spPr>
          <a:xfrm>
            <a:off x="548640" y="109728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0" i="0" lang="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idea but average the target values: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2" name="Google Shape;382;p37"/>
          <p:cNvPicPr preferRelativeResize="0"/>
          <p:nvPr/>
        </p:nvPicPr>
        <p:blipFill rotWithShape="1">
          <a:blip r:embed="rId4">
            <a:alphaModFix/>
          </a:blip>
          <a:srcRect b="1636" l="2075" r="2723" t="2155"/>
          <a:stretch/>
        </p:blipFill>
        <p:spPr>
          <a:xfrm>
            <a:off x="4138275" y="1462975"/>
            <a:ext cx="3863461" cy="2411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7" title="{&quot;red&quot;:0,&quot;green&quot;:0,&quot;blue&quot;:0,&quot;origURL&quot;:&quot;https://www.codecogs.com/eqnedit.php?latex=%20%5Chat%7By%7D%20%3D%20%5Cfrac%7B1%7D%7Bk%7D%20%5Csum_%7Bi%20%5Cin%20N_k(x)%7D%20y_i%20#0&quot;,&quot;size&quot;:14,&quot;width&quot;:236.2204724409449,&quot;height&quot;:51.023622047244096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700" y="1864125"/>
            <a:ext cx="1603021" cy="70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8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8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8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Distance Metrics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2" name="Google Shape;392;p38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3" name="Google Shape;39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8"/>
          <p:cNvSpPr/>
          <p:nvPr/>
        </p:nvSpPr>
        <p:spPr>
          <a:xfrm>
            <a:off x="548640" y="11887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Calibri"/>
              <a:buNone/>
            </a:pPr>
            <a:r>
              <a:rPr b="0" i="0" lang="fr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Euclidean: 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8"/>
          <p:cNvSpPr/>
          <p:nvPr/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Calibri"/>
              <a:buNone/>
            </a:pPr>
            <a:r>
              <a:rPr b="0" i="0" lang="fr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Manhattan: 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8"/>
          <p:cNvSpPr/>
          <p:nvPr/>
        </p:nvSpPr>
        <p:spPr>
          <a:xfrm>
            <a:off x="548640" y="24688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Calibri"/>
              <a:buNone/>
            </a:pPr>
            <a:r>
              <a:rPr b="0" i="0" lang="fr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Minkowski: 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8"/>
          <p:cNvSpPr/>
          <p:nvPr/>
        </p:nvSpPr>
        <p:spPr>
          <a:xfrm>
            <a:off x="548640" y="3291840"/>
            <a:ext cx="10972800" cy="1097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8" name="Google Shape;398;p38"/>
          <p:cNvSpPr/>
          <p:nvPr/>
        </p:nvSpPr>
        <p:spPr>
          <a:xfrm>
            <a:off x="731520" y="3474720"/>
            <a:ext cx="10058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rPr b="1" i="0" lang="f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Important: Features must be scaled! (StandardScaler)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p38" title="{&quot;red&quot;:27,&quot;green&quot;:58,&quot;blue&quot;:92,&quot;origURL&quot;:&quot;https://www.codecogs.com/eqnedit.php?latex=d(x%2C%20x')%20%3D%20%5Csqrt%7B%5Csum_%7Bj%3D1%7D%5E%7Bp%7D(x_j%20-%20x'_j)%5E2%7D#0&quot;,&quot;size&quot;:15,&quot;width&quot;:236.2204724409449,&quot;height&quot;:50.90551181102362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4575" y="987650"/>
            <a:ext cx="1371600" cy="446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8" title="{&quot;red&quot;:0,&quot;green&quot;:0,&quot;blue&quot;:0,&quot;origURL&quot;:&quot;https://www.codecogs.com/eqnedit.php?latex=d(x%2C%20x')%20%3D%20%5Csum_%7Bj%3D1%7D%5E%7Bp%7D%7Cx_j%20-%20x'_j%7C#0&quot;,&quot;size&quot;:15,&quot;width&quot;:236.2204724409449,&quot;height&quot;:50.90551181102362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4575" y="1802800"/>
            <a:ext cx="1371599" cy="417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8" title="{&quot;red&quot;:0,&quot;green&quot;:0,&quot;blue&quot;:0,&quot;origURL&quot;:&quot;https://www.codecogs.com/eqnedit.php?latex=d(x%2C%20x')%20%3D%20%5Cleft(%5Csum_%7Bj%3D1%7D%5E%7Bp%7D%7Cx_j%20-%20x'_j%7C%5Eq%5Cright)%5E%7B1%2Fq%7D#0&quot;,&quot;size&quot;:15,&quot;width&quot;:236.2204724409449,&quot;height&quot;:50.90551181102362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18425" y="2468875"/>
            <a:ext cx="1371602" cy="357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74975" y="1295833"/>
            <a:ext cx="4559949" cy="16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9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9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9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Key Hyperparameter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1" name="Google Shape;411;p39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2" name="Google Shape;41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9"/>
          <p:cNvSpPr/>
          <p:nvPr/>
        </p:nvSpPr>
        <p:spPr>
          <a:xfrm>
            <a:off x="548652" y="1188725"/>
            <a:ext cx="6774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small (e.g. 1): complex boundary, overfitting — low bias / high variance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large (e.g. n): smooth boundary, underfitting — high bias / low variance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4" name="Google Shape;414;p39"/>
          <p:cNvPicPr preferRelativeResize="0"/>
          <p:nvPr/>
        </p:nvPicPr>
        <p:blipFill rotWithShape="1">
          <a:blip r:embed="rId4">
            <a:alphaModFix/>
          </a:blip>
          <a:srcRect b="12458" l="2191" r="4176" t="3254"/>
          <a:stretch/>
        </p:blipFill>
        <p:spPr>
          <a:xfrm>
            <a:off x="1790325" y="2194706"/>
            <a:ext cx="5486400" cy="2778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0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0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0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KNN in scikit-learn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3" name="Google Shape;423;p40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4" name="Google Shape;42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0"/>
          <p:cNvSpPr/>
          <p:nvPr/>
        </p:nvSpPr>
        <p:spPr>
          <a:xfrm>
            <a:off x="548640" y="1188720"/>
            <a:ext cx="9144000" cy="3474600"/>
          </a:xfrm>
          <a:prstGeom prst="rect">
            <a:avLst/>
          </a:prstGeom>
          <a:solidFill>
            <a:srgbClr val="1E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0"/>
          <p:cNvSpPr/>
          <p:nvPr/>
        </p:nvSpPr>
        <p:spPr>
          <a:xfrm>
            <a:off x="685800" y="1280160"/>
            <a:ext cx="88698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sklearn.neighbors import KNeighborsClassifier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sklearn.preprocessing import StandardScaler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scaler = StandardScaler()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X_train_s = scaler.fit_transform(X_train)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X_test_s  = scaler.transform(X_test)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knn = KNeighborsClassifier(n_neighbors=5)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knn.fit(X_train_s, y_train)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y_pred = knn.predict(X_test_s)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1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1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1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KNN in scikit-learn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5" name="Google Shape;435;p41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6" name="Google Shape;43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1"/>
          <p:cNvSpPr/>
          <p:nvPr/>
        </p:nvSpPr>
        <p:spPr>
          <a:xfrm>
            <a:off x="548640" y="1188720"/>
            <a:ext cx="9144000" cy="3474600"/>
          </a:xfrm>
          <a:prstGeom prst="rect">
            <a:avLst/>
          </a:prstGeom>
          <a:solidFill>
            <a:srgbClr val="1E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41"/>
          <p:cNvSpPr/>
          <p:nvPr/>
        </p:nvSpPr>
        <p:spPr>
          <a:xfrm>
            <a:off x="685800" y="1280160"/>
            <a:ext cx="88698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sklearn.neighbors import KNeighborsRegressor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sklearn.preprocessing import StandardScaler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scaler = StandardScaler()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X_train_s = scaler.fit_transform(X_train)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X_test_s  = scaler.transform(X_test)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knn = KNeighborsRegressor(n_neighbors=5)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knn.fit(X_train_s, y_train)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y_pred = knn.predict(X_test_s)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2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2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2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Curse of dimension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7" name="Google Shape;447;p42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8" name="Google Shape;44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50" y="1089676"/>
            <a:ext cx="8334526" cy="2498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2"/>
          <p:cNvSpPr txBox="1"/>
          <p:nvPr/>
        </p:nvSpPr>
        <p:spPr>
          <a:xfrm>
            <a:off x="2091150" y="4057575"/>
            <a:ext cx="545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alibri"/>
                <a:ea typeface="Calibri"/>
                <a:cs typeface="Calibri"/>
                <a:sym typeface="Calibri"/>
              </a:rPr>
              <a:t>As dimensions increase, data becomes exponentially sparse. KNN neighbors become far and meaningless.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3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43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43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KNN: Pros &amp; Cons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9" name="Google Shape;459;p43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0" name="Google Shape;46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3"/>
          <p:cNvSpPr/>
          <p:nvPr/>
        </p:nvSpPr>
        <p:spPr>
          <a:xfrm>
            <a:off x="404155" y="1500565"/>
            <a:ext cx="3977700" cy="24003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43"/>
          <p:cNvSpPr/>
          <p:nvPr/>
        </p:nvSpPr>
        <p:spPr>
          <a:xfrm>
            <a:off x="404155" y="1569145"/>
            <a:ext cx="3977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Georgia"/>
              <a:buNone/>
            </a:pPr>
            <a:r>
              <a:rPr b="1" i="0" lang="fr" sz="1400" u="none" cap="none" strike="noStrike">
                <a:solidFill>
                  <a:srgbClr val="2E7D32"/>
                </a:solidFill>
                <a:latin typeface="Georgia"/>
                <a:ea typeface="Georgia"/>
                <a:cs typeface="Georgia"/>
                <a:sym typeface="Georgia"/>
              </a:rPr>
              <a:t>Pros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3"/>
          <p:cNvSpPr/>
          <p:nvPr/>
        </p:nvSpPr>
        <p:spPr>
          <a:xfrm>
            <a:off x="541315" y="1980625"/>
            <a:ext cx="3703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f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and intuitive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f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training phase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f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Works for any number of classes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f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Non-linear decision boundaries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43"/>
          <p:cNvSpPr/>
          <p:nvPr/>
        </p:nvSpPr>
        <p:spPr>
          <a:xfrm>
            <a:off x="4656115" y="1500565"/>
            <a:ext cx="3977700" cy="24003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43"/>
          <p:cNvSpPr/>
          <p:nvPr/>
        </p:nvSpPr>
        <p:spPr>
          <a:xfrm>
            <a:off x="4656115" y="1569145"/>
            <a:ext cx="3977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400"/>
              <a:buFont typeface="Georgia"/>
              <a:buNone/>
            </a:pPr>
            <a:r>
              <a:rPr b="1" i="0" lang="fr" sz="1400" u="none" cap="none" strike="noStrike">
                <a:solidFill>
                  <a:srgbClr val="C62828"/>
                </a:solidFill>
                <a:latin typeface="Georgia"/>
                <a:ea typeface="Georgia"/>
                <a:cs typeface="Georgia"/>
                <a:sym typeface="Georgia"/>
              </a:rPr>
              <a:t>Cons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3"/>
          <p:cNvSpPr/>
          <p:nvPr/>
        </p:nvSpPr>
        <p:spPr>
          <a:xfrm>
            <a:off x="4793275" y="1980625"/>
            <a:ext cx="3703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f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Slow at prediction: O(n·p) per query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f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Curse of dimensionality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f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Requires feature scaling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8BB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4"/>
          <p:cNvSpPr/>
          <p:nvPr/>
        </p:nvSpPr>
        <p:spPr>
          <a:xfrm>
            <a:off x="2673746" y="1931559"/>
            <a:ext cx="37965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</a:pPr>
            <a:r>
              <a:rPr b="1" lang="fr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Decision Trees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5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5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5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Decision Tree: The Idea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2" name="Google Shape;482;p45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3" name="Google Shape;48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45"/>
          <p:cNvSpPr/>
          <p:nvPr/>
        </p:nvSpPr>
        <p:spPr>
          <a:xfrm>
            <a:off x="58415" y="1079095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Recursive binary partitioning of feature space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internal node = a question on a feature (e.g. "Is x₁ &gt; 3.5?")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leaf = a prediction (class label or value)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725" y="1993712"/>
            <a:ext cx="3572425" cy="2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5"/>
          <p:cNvSpPr/>
          <p:nvPr/>
        </p:nvSpPr>
        <p:spPr>
          <a:xfrm>
            <a:off x="357865" y="4575505"/>
            <a:ext cx="1097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0" i="0" lang="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Goal: find feature j and threshold t that best separates </a:t>
            </a:r>
            <a:r>
              <a:rPr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 (classes/values)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7" name="Google Shape;487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0125" y="2061796"/>
            <a:ext cx="5182901" cy="212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6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6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46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Classification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96" name="Google Shape;49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46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46"/>
          <p:cNvSpPr/>
          <p:nvPr/>
        </p:nvSpPr>
        <p:spPr>
          <a:xfrm>
            <a:off x="548640" y="17373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Calibri"/>
              <a:buNone/>
            </a:pPr>
            <a:r>
              <a:rPr b="0" i="0" lang="fr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Gini Impurity: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46"/>
          <p:cNvSpPr/>
          <p:nvPr/>
        </p:nvSpPr>
        <p:spPr>
          <a:xfrm>
            <a:off x="731520" y="2286000"/>
            <a:ext cx="5029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= 0 → pure node (all same class)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= 0.5 → maximum impurity (binary case)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0" name="Google Shape;500;p46" title="{&quot;red&quot;:0,&quot;green&quot;:0,&quot;blue&quot;:0,&quot;origURL&quot;:&quot;https://www.codecogs.com/eqnedit.php?latex=G%20%3D%201%20-%20%5Csum_%7Bk%3D1%7D%5E%7BK%7D%20p_k%5E2#0&quot;,&quot;size&quot;:15,&quot;width&quot;:236.2204724409449,&quot;height&quot;:32.71653543307087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4150" y="1565875"/>
            <a:ext cx="1327309" cy="61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46" title="{&quot;red&quot;:0,&quot;green&quot;:0,&quot;blue&quot;:0,&quot;origURL&quot;:&quot;https://www.codecogs.com/eqnedit.php?latex=%20%5Ctext%7BPrediction%3A%20%7D%20%5Chat%7By%7D%20%3D%20%5Carg%5Cmax_k%20%20p_k%20%5Cquad%20%5Ctext%7B(majority%20class%20in%20leaf)%7D%20#0&quot;,&quot;size&quot;:11,&quot;width&quot;:667.6535433070866,&quot;height&quot;:27.874015748031496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125" y="3412663"/>
            <a:ext cx="4224852" cy="2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46"/>
          <p:cNvSpPr/>
          <p:nvPr/>
        </p:nvSpPr>
        <p:spPr>
          <a:xfrm>
            <a:off x="548640" y="10972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lang="fr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fr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inimize </a:t>
            </a:r>
            <a:r>
              <a:rPr lang="fr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Gini impurity</a:t>
            </a:r>
            <a:r>
              <a:rPr b="0" i="0" lang="fr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 within each child node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3" name="Google Shape;503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8802" y="1698034"/>
            <a:ext cx="4152150" cy="281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6"/>
          <p:cNvSpPr/>
          <p:nvPr/>
        </p:nvSpPr>
        <p:spPr>
          <a:xfrm>
            <a:off x="198115" y="292143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0" i="0" lang="fr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Leaf prediction = m</a:t>
            </a:r>
            <a:r>
              <a:rPr lang="fr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ajority class in leaf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7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47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47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How to Split? — Regression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13" name="Google Shape;51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47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47"/>
          <p:cNvSpPr/>
          <p:nvPr/>
        </p:nvSpPr>
        <p:spPr>
          <a:xfrm>
            <a:off x="548640" y="10972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lang="fr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fr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inimize MSE within each child node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47"/>
          <p:cNvSpPr/>
          <p:nvPr/>
        </p:nvSpPr>
        <p:spPr>
          <a:xfrm>
            <a:off x="548640" y="173736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47"/>
          <p:cNvSpPr/>
          <p:nvPr/>
        </p:nvSpPr>
        <p:spPr>
          <a:xfrm>
            <a:off x="548640" y="24688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0" i="0" lang="fr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Leaf prediction = mean of target values in the leaf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8" name="Google Shape;518;p47" title="{&quot;red&quot;:0,&quot;green&quot;:0,&quot;blue&quot;:0,&quot;origURL&quot;:&quot;https://www.codecogs.com/eqnedit.php?latex=%20%5Ctext%7BPrediction%3A%20%7D%20%5Chat%7By%7D%20%3D%20%5Cbar%7By%7D%20%3D%20%5Cfrac%7B1%7D%7Bn%7D%20%5Csum_%7Bi%3D1%7D%5E%7Bn%7D%20y_i%20%5Cquad%20%5Ctext%7B(mean%20of%20leaf)%7D%20#0&quot;,&quot;size&quot;:11,&quot;width&quot;:236.2204724409449,&quot;height&quot;:58.53543307086614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208125"/>
            <a:ext cx="4167146" cy="59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7049" y="1225349"/>
            <a:ext cx="3695650" cy="293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8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8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48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Split algorithm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28" name="Google Shape;52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8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0" name="Google Shape;530;p48" title="{&quot;red&quot;:0,&quot;green&quot;:0,&quot;blue&quot;:0,&quot;origURL&quot;:&quot;https://www.codecogs.com/eqnedit.php?latex=%20%5Ctext%7BFor%20each%20feature%20%7D%20j%20%5Cin%20%7B1%2C%20%5Cldots%2C%20p%7D%20#0&quot;,&quot;size&quot;:11,&quot;width&quot;:236.2204724409449,&quot;height&quot;:226.46456692913387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3385" y="1850681"/>
            <a:ext cx="2426582" cy="18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48" title="{&quot;red&quot;:0,&quot;green&quot;:0,&quot;blue&quot;:0,&quot;origURL&quot;:&quot;https://www.codecogs.com/eqnedit.php?latex=%20%5Ctext%7BFor%20each%20unique%20value%20%7D%20t%20%5Ctext%7B%20of%20feature%20%7D%20j%20#0&quot;,&quot;size&quot;:11,&quot;width&quot;:236.2204724409449,&quot;height&quot;:226.46456692913387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3368" y="2226040"/>
            <a:ext cx="2605097" cy="15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48" title="{&quot;red&quot;:0,&quot;green&quot;:0,&quot;blue&quot;:0,&quot;origURL&quot;:&quot;https://www.codecogs.com/eqnedit.php?latex=%20%5Ctext%7BSplit%3A%20%7D%20D_%7Bleft%7D%20%3D%20%7Bx_i%20%3A%20x_i%5E%7B(j)%7D%20%5Cleq%20t%7D%20%5Cquad%20D_%7Bright%7D%20%3D%20%7Bx_i%20%3A%20x_i%5E%7B(j)%7D%20%3E%20t%7D%20#0&quot;,&quot;size&quot;:11,&quot;width&quot;:236.2204724409449,&quot;height&quot;:226.46456692913387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93373" y="2620390"/>
            <a:ext cx="2861045" cy="18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48"/>
          <p:cNvSpPr txBox="1"/>
          <p:nvPr/>
        </p:nvSpPr>
        <p:spPr>
          <a:xfrm>
            <a:off x="776075" y="13704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For each node, test all possible splits (j, t)</a:t>
            </a:r>
            <a:endParaRPr/>
          </a:p>
        </p:txBody>
      </p:sp>
      <p:pic>
        <p:nvPicPr>
          <p:cNvPr id="534" name="Google Shape;534;p48" title="{&quot;red&quot;:0,&quot;green&quot;:0,&quot;blue&quot;:0,&quot;origURL&quot;:&quot;https://www.codecogs.com/eqnedit.php?latex=%20(j%5E*%20%2C%20t%5E*%20)%20%3D%20%5Carg%5Cmin_%7Bj%2C%20t%7D%20%3B%20G_%7Bsplit%7D(j%2C%20t)%20#0&quot;,&quot;size&quot;:11,&quot;width&quot;:236.2204724409449,&quot;height&quot;:55.32283464566929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93375" y="3620525"/>
            <a:ext cx="2426601" cy="309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48" title="{&quot;red&quot;:0,&quot;green&quot;:0,&quot;blue&quot;:0,&quot;origURL&quot;:&quot;https://www.codecogs.com/eqnedit.php?latex=%20G_%7Bsplit%7D(j%2C%20t)%20%3D%20%5Cfrac%7Bn_%7Bleft%7D%7D%7Bn%7D%20%20G_%7Bleft%7D%20%2B%20%5Cfrac%7Bn_%7Bright%7D%7D%7Bn%7D%20%20G_%7Bright%7D%20#0&quot;,&quot;size&quot;:14,&quot;width&quot;:583.9133858267717,&quot;height&quot;:31.511811023622045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93375" y="3040800"/>
            <a:ext cx="2643262" cy="30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4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43375" y="1266200"/>
            <a:ext cx="4730376" cy="294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9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9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9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45" name="Google Shape;54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9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7" name="Google Shape;547;p49"/>
          <p:cNvGraphicFramePr/>
          <p:nvPr/>
        </p:nvGraphicFramePr>
        <p:xfrm>
          <a:off x="710100" y="140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{BE2E49CE-D0E2-433D-8271-F633AFD4A865}</a:tableStyleId>
              </a:tblPr>
              <a:tblGrid>
                <a:gridCol w="1226125"/>
                <a:gridCol w="3232525"/>
                <a:gridCol w="1894925"/>
                <a:gridCol w="1025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Student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Hours studied 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Sleep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0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0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50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56" name="Google Shape;55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0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50"/>
          <p:cNvSpPr txBox="1"/>
          <p:nvPr/>
        </p:nvSpPr>
        <p:spPr>
          <a:xfrm>
            <a:off x="238288" y="850400"/>
            <a:ext cx="71301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100">
                <a:solidFill>
                  <a:srgbClr val="000000"/>
                </a:solidFill>
              </a:rPr>
              <a:t>4 Pass, 2 Fail → </a:t>
            </a:r>
            <a:endParaRPr/>
          </a:p>
        </p:txBody>
      </p:sp>
      <p:sp>
        <p:nvSpPr>
          <p:cNvPr id="559" name="Google Shape;559;p50"/>
          <p:cNvSpPr txBox="1"/>
          <p:nvPr/>
        </p:nvSpPr>
        <p:spPr>
          <a:xfrm>
            <a:off x="196425" y="1854700"/>
            <a:ext cx="40299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</a:rPr>
              <a:t>Test split: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Left (students 1,2,3): 1 Pass, 2 Fail →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100">
                <a:solidFill>
                  <a:schemeClr val="dk1"/>
                </a:solidFill>
              </a:rPr>
              <a:t>Right (students 4,5,6): 3 Pass, 0 Fail → </a:t>
            </a:r>
            <a:endParaRPr/>
          </a:p>
        </p:txBody>
      </p:sp>
      <p:pic>
        <p:nvPicPr>
          <p:cNvPr id="560" name="Google Shape;560;p50" title="{&quot;red&quot;:0,&quot;green&quot;:0,&quot;blue&quot;:0,&quot;origURL&quot;:&quot;https://www.codecogs.com/eqnedit.php?latex=p_%7Bpass%7D%20%3D%20%5Cfrac%7B4%7D%7B6%7D%2C%20p_%7Bfail%7D%20%3D%20%5Cfrac%7B2%7D%7B6%7D#0&quot;,&quot;size&quot;:11,&quot;width&quot;:236.2204724409449,&quot;height&quot;:236.2204724409449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6888" y="899723"/>
            <a:ext cx="1561865" cy="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50" title="{&quot;red&quot;:0,&quot;green&quot;:0,&quot;blue&quot;:0,&quot;origURL&quot;:&quot;https://www.codecogs.com/eqnedit.php?latex=x_1%20%5Cleq%205#0&quot;,&quot;size&quot;:11,&quot;width&quot;:236.2204724409449,&quot;height&quot;:27.874015748031496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4000" y="1971600"/>
            <a:ext cx="422243" cy="127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50" title="{&quot;red&quot;:0,&quot;green&quot;:0,&quot;blue&quot;:0,&quot;origURL&quot;:&quot;https://www.codecogs.com/eqnedit.php?latex=G_%7Bleft%7D%20%3D%201%20-%20(%5Cfrac%7B1%7D%7B3%7D)%5E2%20-%20(%5Cfrac%7B2%7D%7B3%7D)%5E2%20%3D%200.44#0&quot;,&quot;size&quot;:11,&quot;width&quot;:376.86614173228344,&quot;height&quot;:27.874015748031496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03175" y="2257300"/>
            <a:ext cx="1389928" cy="21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50" title="{&quot;red&quot;:0,&quot;green&quot;:0,&quot;blue&quot;:0,&quot;origURL&quot;:&quot;https://www.codecogs.com/eqnedit.php?latex=G_%7Bright%7D%20%3D%200#0&quot;,&quot;size&quot;:11,&quot;width&quot;:236.2204724409449,&quot;height&quot;:27.874015748031496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85675" y="2597075"/>
            <a:ext cx="916775" cy="219566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50"/>
          <p:cNvSpPr txBox="1"/>
          <p:nvPr/>
        </p:nvSpPr>
        <p:spPr>
          <a:xfrm>
            <a:off x="4226325" y="1887875"/>
            <a:ext cx="4952700" cy="25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</a:rPr>
              <a:t>Test split: 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00000"/>
                </a:solidFill>
              </a:rPr>
              <a:t>Left (students 1,2): 0 Pass, 2 Fail → 				       </a:t>
            </a:r>
            <a:r>
              <a:rPr lang="fr" sz="1100"/>
              <a:t>	  </a:t>
            </a:r>
            <a:r>
              <a:rPr lang="fr" sz="1100">
                <a:solidFill>
                  <a:srgbClr val="000000"/>
                </a:solidFill>
              </a:rPr>
              <a:t>(pure!)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00000"/>
                </a:solidFill>
              </a:rPr>
              <a:t>Right (students 3,4,5,6): 4 Pass, 0 Fail →	 		   	  (pure!)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5" name="Google Shape;565;p50" title="{&quot;red&quot;:0,&quot;green&quot;:0,&quot;blue&quot;:0,&quot;origURL&quot;:&quot;https://www.codecogs.com/eqnedit.php?latex=x_1%20%5Cleq%203#0&quot;,&quot;size&quot;:11,&quot;width&quot;:236.2204724409449,&quot;height&quot;:27.874015748031496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27300" y="1971600"/>
            <a:ext cx="423291" cy="127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50" title="{&quot;red&quot;:0,&quot;green&quot;:0,&quot;blue&quot;:0,&quot;origURL&quot;:&quot;https://www.codecogs.com/eqnedit.php?latex=G_%7Bleft%7D%20%3D%201%20-%200%5E2%20-%201%5E2%20%3D%200#0&quot;,&quot;size&quot;:11,&quot;width&quot;:236.2204724409449,&quot;height&quot;:27.874015748031496}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73474" y="2289115"/>
            <a:ext cx="1885652" cy="21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50" title="{&quot;red&quot;:0,&quot;green&quot;:0,&quot;blue&quot;:0,&quot;origURL&quot;:&quot;https://www.codecogs.com/eqnedit.php?latex=G_%7Bright%7D%20%3D%201%20-%201%5E2%20-%200%5E2%20%3D%200#0&quot;,&quot;size&quot;:11,&quot;width&quot;:236.2204724409449,&quot;height&quot;:27.874015748031496}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898850" y="2656045"/>
            <a:ext cx="1389926" cy="15563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50"/>
          <p:cNvSpPr txBox="1"/>
          <p:nvPr/>
        </p:nvSpPr>
        <p:spPr>
          <a:xfrm>
            <a:off x="3032250" y="3522300"/>
            <a:ext cx="30000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</a:rPr>
              <a:t>Conclusion:</a:t>
            </a:r>
            <a:r>
              <a:rPr lang="fr" sz="1100">
                <a:solidFill>
                  <a:srgbClr val="000000"/>
                </a:solidFill>
              </a:rPr>
              <a:t> </a:t>
            </a:r>
            <a:endParaRPr sz="11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00000"/>
                </a:solidFill>
              </a:rPr>
              <a:t>gives </a:t>
            </a:r>
            <a:r>
              <a:rPr lang="fr" sz="1100"/>
              <a:t>lower</a:t>
            </a:r>
            <a:r>
              <a:rPr lang="fr" sz="1100">
                <a:solidFill>
                  <a:srgbClr val="000000"/>
                </a:solidFill>
              </a:rPr>
              <a:t> </a:t>
            </a:r>
            <a:r>
              <a:rPr lang="fr" sz="1100"/>
              <a:t>inpurty</a:t>
            </a:r>
            <a:r>
              <a:rPr lang="fr" sz="1100">
                <a:solidFill>
                  <a:srgbClr val="000000"/>
                </a:solidFill>
              </a:rPr>
              <a:t> → algorithm picks this split.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100">
                <a:solidFill>
                  <a:srgbClr val="000000"/>
                </a:solidFill>
              </a:rPr>
              <a:t>In practice it tests ALL thresholds for ALL features and keeps the best.</a:t>
            </a:r>
            <a:endParaRPr/>
          </a:p>
        </p:txBody>
      </p:sp>
      <p:pic>
        <p:nvPicPr>
          <p:cNvPr id="569" name="Google Shape;569;p50" title="{&quot;red&quot;:0,&quot;green&quot;:0,&quot;blue&quot;:0,&quot;origURL&quot;:&quot;https://www.codecogs.com/eqnedit.php?latex=x_1%20%5Cleq%203#0&quot;,&quot;size&quot;:11,&quot;width&quot;:236.2204724409449,&quot;height&quot;:27.874015748031496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68750" y="3983063"/>
            <a:ext cx="423291" cy="12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50" title="{&quot;red&quot;:0,&quot;green&quot;:0,&quot;blue&quot;:0,&quot;origURL&quot;:&quot;https://www.codecogs.com/eqnedit.php?latex=%20G_%7Bsplit%7D%20%3D%20%5Cfrac%7B2%7D%7B6%7D%20%5Ctimes%200%20%2B%20%5Cfrac%7B4%7D%7B6%7D%20%5Ctimes%200%20%3D%200%20#0&quot;,&quot;size&quot;:11,&quot;width&quot;:236.2204724409449,&quot;height&quot;:199.01574803149606}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71800" y="2959036"/>
            <a:ext cx="1763648" cy="322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50" title="{&quot;red&quot;:0,&quot;green&quot;:0,&quot;blue&quot;:0,&quot;origURL&quot;:&quot;https://www.codecogs.com/eqnedit.php?latex=%20G_%7Bsplit%7D%20%3D%20%5Cfrac%7B3%7D%7B6%7D%20%5Ctimes%200.44%20%2B%20%5Cfrac%7B3%7D%7B6%7D%20%5Ctimes%200%20%3D%200.22%20#0&quot;,&quot;size&quot;:11,&quot;width&quot;:236.2204724409449,&quot;height&quot;:236.2204724409449}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74960" y="2896013"/>
            <a:ext cx="2023199" cy="30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1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51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51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Controlling Tree Complexity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80" name="Google Shape;58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1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51"/>
          <p:cNvSpPr/>
          <p:nvPr/>
        </p:nvSpPr>
        <p:spPr>
          <a:xfrm>
            <a:off x="548640" y="109728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fr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Trees grow until pure leaves → overfitting!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51"/>
          <p:cNvSpPr/>
          <p:nvPr/>
        </p:nvSpPr>
        <p:spPr>
          <a:xfrm>
            <a:off x="548640" y="164592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0" i="0" lang="fr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Hyperparameters to control depth: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84" name="Google Shape;584;p51"/>
          <p:cNvGraphicFramePr/>
          <p:nvPr/>
        </p:nvGraphicFramePr>
        <p:xfrm>
          <a:off x="548640" y="2194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{BE2E49CE-D0E2-433D-8271-F633AFD4A865}</a:tableStyleId>
              </a:tblPr>
              <a:tblGrid>
                <a:gridCol w="2286000"/>
                <a:gridCol w="320040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fr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fr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Effect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max_depth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Maximum tree depth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min_samples_split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 samples required to split a node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min_samples_leaf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 samples required in a leaf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max_features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features considered per split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2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52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52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600"/>
              <a:buFont typeface="Georgia"/>
              <a:buNone/>
            </a:pPr>
            <a:r>
              <a:rPr b="1" lang="fr" sz="2600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Decision Tree in scikit-learn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93" name="Google Shape;59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52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52"/>
          <p:cNvSpPr/>
          <p:nvPr/>
        </p:nvSpPr>
        <p:spPr>
          <a:xfrm>
            <a:off x="548640" y="1188720"/>
            <a:ext cx="9144000" cy="2743200"/>
          </a:xfrm>
          <a:prstGeom prst="rect">
            <a:avLst/>
          </a:prstGeom>
          <a:solidFill>
            <a:srgbClr val="1E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52"/>
          <p:cNvSpPr/>
          <p:nvPr/>
        </p:nvSpPr>
        <p:spPr>
          <a:xfrm>
            <a:off x="685800" y="1280160"/>
            <a:ext cx="88698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sklearn.tree import DecisionTreeClassifier, plot_tree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tree = DecisionTreeClassifier(max_depth=4)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tree.fit(X_train, y_train)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y_pred = tree.predict(X_test)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Visualization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plot_tree(tree, filled=True)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3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53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53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600"/>
              <a:buFont typeface="Georgia"/>
              <a:buNone/>
            </a:pPr>
            <a:r>
              <a:rPr b="1" lang="fr" sz="2600">
                <a:solidFill>
                  <a:srgbClr val="1B3A5C"/>
                </a:solidFill>
                <a:latin typeface="Georgia"/>
                <a:ea typeface="Georgia"/>
                <a:cs typeface="Georgia"/>
                <a:sym typeface="Georgia"/>
              </a:rPr>
              <a:t>Decision Tree in scikit-learn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05" name="Google Shape;60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53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53"/>
          <p:cNvSpPr/>
          <p:nvPr/>
        </p:nvSpPr>
        <p:spPr>
          <a:xfrm>
            <a:off x="548640" y="1188720"/>
            <a:ext cx="9144000" cy="2743200"/>
          </a:xfrm>
          <a:prstGeom prst="rect">
            <a:avLst/>
          </a:prstGeom>
          <a:solidFill>
            <a:srgbClr val="1E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53"/>
          <p:cNvSpPr/>
          <p:nvPr/>
        </p:nvSpPr>
        <p:spPr>
          <a:xfrm>
            <a:off x="685800" y="1280160"/>
            <a:ext cx="88698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sklearn.tree import DecisionTreeRegressor, plot_tree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tree = DecisionTreeRegressor(max_depth=4)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tree.fit(X_train, y_train)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y_pred = tree.predict(X_test)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Visualization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plot_tree(tree, filled=True)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4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54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54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Decision Trees: Pros &amp; Cons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17" name="Google Shape;61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54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54"/>
          <p:cNvSpPr txBox="1"/>
          <p:nvPr/>
        </p:nvSpPr>
        <p:spPr>
          <a:xfrm>
            <a:off x="3355413" y="4903300"/>
            <a:ext cx="18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observations / 3 variables 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54"/>
          <p:cNvSpPr txBox="1"/>
          <p:nvPr/>
        </p:nvSpPr>
        <p:spPr>
          <a:xfrm>
            <a:off x="6490463" y="4832450"/>
            <a:ext cx="18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observations / 6 variables </a:t>
            </a:r>
            <a:endParaRPr b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54"/>
          <p:cNvSpPr/>
          <p:nvPr/>
        </p:nvSpPr>
        <p:spPr>
          <a:xfrm>
            <a:off x="396250" y="1691249"/>
            <a:ext cx="4119000" cy="24855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71025" lIns="71025" spcFirstLastPara="1" rIns="71025" wrap="square" tIns="71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54"/>
          <p:cNvSpPr/>
          <p:nvPr/>
        </p:nvSpPr>
        <p:spPr>
          <a:xfrm>
            <a:off x="396250" y="1762264"/>
            <a:ext cx="41190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475" lIns="71025" spcFirstLastPara="1" rIns="71025" wrap="square" tIns="35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98"/>
              <a:buFont typeface="Georgia"/>
              <a:buNone/>
            </a:pPr>
            <a:r>
              <a:rPr b="1" i="0" lang="fr" sz="1398" u="none" cap="none" strike="noStrike">
                <a:solidFill>
                  <a:srgbClr val="2E7D32"/>
                </a:solidFill>
                <a:latin typeface="Georgia"/>
                <a:ea typeface="Georgia"/>
                <a:cs typeface="Georgia"/>
                <a:sym typeface="Georgia"/>
              </a:rPr>
              <a:t>Pros</a:t>
            </a:r>
            <a:endParaRPr b="0" i="0" sz="139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54"/>
          <p:cNvSpPr/>
          <p:nvPr/>
        </p:nvSpPr>
        <p:spPr>
          <a:xfrm>
            <a:off x="538282" y="2188359"/>
            <a:ext cx="3834900" cy="17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475" lIns="71025" spcFirstLastPara="1" rIns="71025" wrap="square" tIns="35475">
            <a:noAutofit/>
          </a:bodyPr>
          <a:lstStyle/>
          <a:p>
            <a:pPr indent="-266308" lvl="0" marL="266309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87"/>
              <a:buFont typeface="Calibri"/>
              <a:buChar char="•"/>
            </a:pPr>
            <a:r>
              <a:rPr b="0" i="0" lang="fr" sz="1087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Interpretable (white-box model)</a:t>
            </a:r>
            <a:endParaRPr b="0" i="0" sz="10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308" lvl="0" marL="266309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87"/>
              <a:buFont typeface="Calibri"/>
              <a:buChar char="•"/>
            </a:pPr>
            <a:r>
              <a:rPr b="0" i="0" lang="fr" sz="1087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No feature scaling needed</a:t>
            </a:r>
            <a:endParaRPr b="0" i="0" sz="10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308" lvl="0" marL="266309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87"/>
              <a:buFont typeface="Calibri"/>
              <a:buChar char="•"/>
            </a:pPr>
            <a:r>
              <a:rPr b="0" i="0" lang="fr" sz="1087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Handles mixed feature types</a:t>
            </a:r>
            <a:endParaRPr b="0" i="0" sz="10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308" lvl="0" marL="266309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87"/>
              <a:buFont typeface="Calibri"/>
              <a:buChar char="•"/>
            </a:pPr>
            <a:r>
              <a:rPr b="0" i="0" lang="fr" sz="1087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Fast training and prediction</a:t>
            </a:r>
            <a:endParaRPr b="0" i="0" sz="10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54"/>
          <p:cNvSpPr/>
          <p:nvPr/>
        </p:nvSpPr>
        <p:spPr>
          <a:xfrm>
            <a:off x="4799229" y="1691249"/>
            <a:ext cx="4119000" cy="24855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txBody>
          <a:bodyPr anchorCtr="0" anchor="ctr" bIns="71025" lIns="71025" spcFirstLastPara="1" rIns="71025" wrap="square" tIns="71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54"/>
          <p:cNvSpPr/>
          <p:nvPr/>
        </p:nvSpPr>
        <p:spPr>
          <a:xfrm>
            <a:off x="4799229" y="1762264"/>
            <a:ext cx="41190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475" lIns="71025" spcFirstLastPara="1" rIns="71025" wrap="square" tIns="35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398"/>
              <a:buFont typeface="Georgia"/>
              <a:buNone/>
            </a:pPr>
            <a:r>
              <a:rPr b="1" i="0" lang="fr" sz="1398" u="none" cap="none" strike="noStrike">
                <a:solidFill>
                  <a:srgbClr val="C62828"/>
                </a:solidFill>
                <a:latin typeface="Georgia"/>
                <a:ea typeface="Georgia"/>
                <a:cs typeface="Georgia"/>
                <a:sym typeface="Georgia"/>
              </a:rPr>
              <a:t>Cons</a:t>
            </a:r>
            <a:endParaRPr b="0" i="0" sz="139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54"/>
          <p:cNvSpPr/>
          <p:nvPr/>
        </p:nvSpPr>
        <p:spPr>
          <a:xfrm>
            <a:off x="4941261" y="2188359"/>
            <a:ext cx="3834900" cy="17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475" lIns="71025" spcFirstLastPara="1" rIns="71025" wrap="square" tIns="35475">
            <a:noAutofit/>
          </a:bodyPr>
          <a:lstStyle/>
          <a:p>
            <a:pPr indent="-266308" lvl="0" marL="266309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87"/>
              <a:buFont typeface="Calibri"/>
              <a:buChar char="•"/>
            </a:pPr>
            <a:r>
              <a:rPr b="0" i="0" lang="fr" sz="1087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High variance (unstable)</a:t>
            </a:r>
            <a:endParaRPr b="0" i="0" sz="10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308" lvl="0" marL="266309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87"/>
              <a:buFont typeface="Calibri"/>
              <a:buChar char="•"/>
            </a:pPr>
            <a:r>
              <a:rPr b="0" i="0" lang="fr" sz="1087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Axis-aligned splits only</a:t>
            </a:r>
            <a:endParaRPr b="0" i="0" sz="10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308" lvl="0" marL="266309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87"/>
              <a:buFont typeface="Calibri"/>
              <a:buChar char="•"/>
            </a:pPr>
            <a:r>
              <a:rPr b="0" i="0" lang="fr" sz="1087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Overfits easily without pruning</a:t>
            </a:r>
            <a:endParaRPr b="0" i="0" sz="10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308" lvl="0" marL="266309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87"/>
              <a:buFont typeface="Calibri"/>
              <a:buChar char="•"/>
            </a:pPr>
            <a:r>
              <a:rPr b="0" i="0" lang="fr" sz="1087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Weak alone — powerful in ensembles!</a:t>
            </a:r>
            <a:endParaRPr b="0" i="0" sz="10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55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55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55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QUIZ : KNN &amp; Trees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5" name="Google Shape;635;p55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6" name="Google Shape;63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5940" y="0"/>
            <a:ext cx="1168060" cy="8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55"/>
          <p:cNvSpPr txBox="1"/>
          <p:nvPr/>
        </p:nvSpPr>
        <p:spPr>
          <a:xfrm>
            <a:off x="685800" y="2522850"/>
            <a:ext cx="7852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1. You have 1000 features. Would KNN work well? Why?</a:t>
            </a:r>
            <a:endParaRPr sz="1800">
              <a:solidFill>
                <a:srgbClr val="1B3A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2. What happens to a decision tree if you set max_depth=None?</a:t>
            </a:r>
            <a:endParaRPr sz="1800">
              <a:solidFill>
                <a:srgbClr val="1B3A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3. For KNN, you forgot to scale. Feature A ∈ [0,1], Feature B ∈ [0,10000]. What happens?</a:t>
            </a:r>
            <a:endParaRPr sz="1800">
              <a:solidFill>
                <a:srgbClr val="1B3A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B3A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8BB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56"/>
          <p:cNvSpPr/>
          <p:nvPr/>
        </p:nvSpPr>
        <p:spPr>
          <a:xfrm>
            <a:off x="2673746" y="1931559"/>
            <a:ext cx="37965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</a:pPr>
            <a:r>
              <a:rPr b="1" lang="fr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Support Vector Machines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7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57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57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SVM: The Idea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4" name="Google Shape;654;p57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5" name="Google Shape;65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57"/>
          <p:cNvSpPr/>
          <p:nvPr/>
        </p:nvSpPr>
        <p:spPr>
          <a:xfrm>
            <a:off x="548640" y="118872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Char char="•"/>
            </a:pPr>
            <a:r>
              <a:rPr b="0" i="0" lang="fr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Find the hyperplane that maximizes the margin between classes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Char char="•"/>
            </a:pPr>
            <a:r>
              <a:rPr b="0" i="0" lang="fr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Margin = distance between hyperplane and nearest data points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Char char="•"/>
            </a:pPr>
            <a:r>
              <a:rPr b="0" i="0" lang="fr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Nearest points = support vectors (they define the boundary)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7" name="Google Shape;657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0450" y="2000375"/>
            <a:ext cx="6758034" cy="28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8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8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58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Linear SVM: Math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66" name="Google Shape;666;p58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7" name="Google Shape;66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58"/>
          <p:cNvSpPr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Calibri"/>
              <a:buNone/>
            </a:pPr>
            <a:r>
              <a:rPr b="0" i="0" lang="fr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Hyperplane: 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58"/>
          <p:cNvSpPr/>
          <p:nvPr/>
        </p:nvSpPr>
        <p:spPr>
          <a:xfrm>
            <a:off x="548640" y="16459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Calibri"/>
              <a:buNone/>
            </a:pPr>
            <a:r>
              <a:rPr b="0" i="0" lang="fr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Decision: 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58"/>
          <p:cNvSpPr/>
          <p:nvPr/>
        </p:nvSpPr>
        <p:spPr>
          <a:xfrm>
            <a:off x="548640" y="2195273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Calibri"/>
              <a:buNone/>
            </a:pPr>
            <a:r>
              <a:rPr b="0" i="0" lang="fr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Margin = 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58"/>
          <p:cNvSpPr/>
          <p:nvPr/>
        </p:nvSpPr>
        <p:spPr>
          <a:xfrm>
            <a:off x="132065" y="2974380"/>
            <a:ext cx="5486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Calibri"/>
              <a:buNone/>
            </a:pPr>
            <a:r>
              <a:rPr b="0" i="0" lang="fr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Objective: 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2" name="Google Shape;672;p58" title="{&quot;red&quot;:27,&quot;green&quot;:58,&quot;blue&quot;:92,&quot;origURL&quot;:&quot;https://www.codecogs.com/eqnedit.php?latex=w%5ET%20x%20%2B%20b%20%3D%200#0&quot;,&quot;size&quot;:15,&quot;width&quot;:236.2204724409449,&quot;height&quot;:32.71653543307087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6825" y="1102825"/>
            <a:ext cx="1108710" cy="201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58" title="{&quot;red&quot;:27,&quot;green&quot;:58,&quot;blue&quot;:92,&quot;origURL&quot;:&quot;https://www.codecogs.com/eqnedit.php?latex=%5Chat%7By%7D%20%3D%20%5Ctext%7Bsign%7D(w%5ET%20x%20%2B%20b)#0&quot;,&quot;size&quot;:15,&quot;width&quot;:236.2204724409449,&quot;height&quot;:32.71653543307087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61225" y="1675663"/>
            <a:ext cx="1371600" cy="201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58" title="{&quot;red&quot;:27,&quot;green&quot;:58,&quot;blue&quot;:92,&quot;origURL&quot;:&quot;https://www.codecogs.com/eqnedit.php?latex=%5Cfrac%7B2%7D%7B%5C%7Cw%5C%7C%7D#0&quot;,&quot;size&quot;:15,&quot;width&quot;:236.2204724409449,&quot;height&quot;:32.71653543307087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16025" y="2084550"/>
            <a:ext cx="368617" cy="487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5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14528" y="1059329"/>
            <a:ext cx="3637258" cy="3538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58" title="{&quot;red&quot;:0,&quot;green&quot;:0,&quot;blue&quot;:0,&quot;origURL&quot;:&quot;https://www.codecogs.com/eqnedit.php?latex=%20y_i%20%5Cin%20%7B-1%2C%20%2B1%7D%20#0&quot;,&quot;size&quot;:14,&quot;width&quot;:236.2204724409449,&quot;height&quot;:31.511811023622045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88175" y="1690300"/>
            <a:ext cx="964121" cy="172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58" title="{&quot;red&quot;:0,&quot;green&quot;:0,&quot;blue&quot;:0,&quot;origURL&quot;:&quot;https://www.codecogs.com/eqnedit.php?latex=%20%5Cmin_%7Bw%2Cb%7D%20%5Cfrac%7B1%7D%7B2%7D%20%5ClVert%20w%20%5CrVert%5E2%20%5Cquad%20%5Ctext%7Bs.t.%7D%20%5Cquad%20y_i(w%5ET%20x_i%20%2B%20b)%20%5Cgeq%201%20%5Cquad%20%5Cforall%20i%20#0&quot;,&quot;size&quot;:14,&quot;width&quot;:562.3937007874016,&quot;height&quot;:177.56692913385828}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34175" y="2928011"/>
            <a:ext cx="2701897" cy="3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8"/>
          <p:cNvSpPr txBox="1"/>
          <p:nvPr/>
        </p:nvSpPr>
        <p:spPr>
          <a:xfrm>
            <a:off x="587000" y="3998875"/>
            <a:ext cx="422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Find the hyperplane that maximizes the marge</a:t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59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59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59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Linear SVM: Math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87" name="Google Shape;687;p59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8" name="Google Shape;68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4528" y="1059329"/>
            <a:ext cx="3637258" cy="3538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59" title="{&quot;red&quot;:0,&quot;green&quot;:0,&quot;blue&quot;:0,&quot;origURL&quot;:&quot;https://www.codecogs.com/eqnedit.php?latex=%20d(x_0)%20%3D%20%5Cfrac%7B%5Clvert%20w%5ET%20x_0%20%2B%20b%20%5Crvert%7D%7B%5ClVert%20w%20%5CrVert%7D%20#0&quot;,&quot;size&quot;:14,&quot;width&quot;:236.2204724409449,&quot;height&quot;:51.023622047244096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6025" y="1216225"/>
            <a:ext cx="1280159" cy="389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59" title="{&quot;red&quot;:0,&quot;green&quot;:0,&quot;blue&quot;:0,&quot;origURL&quot;:&quot;https://www.codecogs.com/eqnedit.php?latex=%20w%5ET%20x_%2B%20%2B%20b%20%3D%20%2B1%20%5Cimplies%20d_%2B%20%3D%20%5Cfrac%7B%5Clvert%20%2B1%20%5Crvert%7D%7B%5ClVert%20w%20%5CrVert%7D%20%3D%20%5Cfrac%7B1%7D%7B%5ClVert%20w%20%5CrVert%7D%20#0&quot;,&quot;size&quot;:14,&quot;width&quot;:236.2204724409449,&quot;height&quot;:70.53543307086615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3650" y="1952942"/>
            <a:ext cx="2771376" cy="38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59" title="{&quot;red&quot;:0,&quot;green&quot;:0,&quot;blue&quot;:0,&quot;origURL&quot;:&quot;https://www.codecogs.com/eqnedit.php?latex=%20w%5ET%20x_-%20%2B%20b%20%3D%20-1%20%5Cimplies%20d_-%20%3D%20%5Cfrac%7B%5Clvert%20-1%20%5Crvert%7D%7B%5ClVert%20w%20%5CrVert%7D%20%3D%20%5Cfrac%7B1%7D%7B%5ClVert%20w%20%5CrVert%7D%20#0&quot;,&quot;size&quot;:14,&quot;width&quot;:236.2204724409449,&quot;height&quot;:70.53543307086615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73650" y="2571750"/>
            <a:ext cx="2771377" cy="388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59" title="{&quot;red&quot;:0,&quot;green&quot;:0,&quot;blue&quot;:0,&quot;origURL&quot;:&quot;https://www.codecogs.com/eqnedit.php?latex=%20%5Cmax%20%5Cfrac%7B2%7D%7B%5ClVert%20w%20%5CrVert%7D%20%5Ciff%20%5Cmin%20%5Cfrac%7B1%7D%7B2%7D%20%5ClVert%20w%20%5CrVert%5E2%20#0&quot;,&quot;size&quot;:14,&quot;width&quot;:236.2204724409449,&quot;height&quot;:177.56692913385828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81937" y="4245200"/>
            <a:ext cx="1754799" cy="35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59" title="{&quot;red&quot;:0,&quot;green&quot;:0,&quot;blue&quot;:0,&quot;origURL&quot;:&quot;https://www.codecogs.com/eqnedit.php?latex=%20%5Ctext%7Bmargin%7D%20%3D%20d_%2B%20%2B%20d_-%20%3D%20%5Cfrac%7B1%7D%7B%5ClVert%20w%20%5CrVert%7D%20%2B%20%5Cfrac%7B1%7D%7B%5ClVert%20w%20%5CrVert%7D%20%3D%20%5Cfrac%7B2%7D%7B%5ClVert%20w%20%5CrVert%7D%20#0&quot;,&quot;size&quot;:14,&quot;width&quot;:236.2204724409449,&quot;height&quot;:90.04724409448819}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34071" y="3301899"/>
            <a:ext cx="2656464" cy="35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0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60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60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Soft Margin SVM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3" name="Google Shape;703;p60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4" name="Google Shape;70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60"/>
          <p:cNvSpPr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0" i="0" lang="fr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Real data is not perfectly separable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60"/>
          <p:cNvSpPr/>
          <p:nvPr/>
        </p:nvSpPr>
        <p:spPr>
          <a:xfrm>
            <a:off x="379865" y="3792995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Char char="•"/>
            </a:pPr>
            <a:r>
              <a:rPr b="0" i="0" lang="fr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 = hyperparameter: margin vs misclassification tradeoff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Char char="•"/>
            </a:pPr>
            <a:r>
              <a:rPr b="0" i="0" lang="fr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Small C → wide margin, more errors allowed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Char char="•"/>
            </a:pPr>
            <a:r>
              <a:rPr b="0" i="0" lang="fr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Large C → narrow margin, fewer errors tolerated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7" name="Google Shape;707;p60" title="{&quot;red&quot;:27,&quot;green&quot;:58,&quot;blue&quot;:92,&quot;origURL&quot;:&quot;https://www.codecogs.com/eqnedit.php?latex=%5Cmin_%7Bw%2Cb%7D%20%5Cfrac%7B1%7D%7B2%7D%5C%7Cw%5C%7C%5E2%20%2B%20C%5Csum_%7Bi%3D1%7D%5E%7Bn%7D%5Cxi_i#0&quot;,&quot;size&quot;:16,&quot;width&quot;:236.2204724409449,&quot;height&quot;:53.31496062992126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325" y="1700675"/>
            <a:ext cx="1463038" cy="441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76600" y="911675"/>
            <a:ext cx="5257800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61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61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61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The Kernel Trick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7" name="Google Shape;717;p61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8" name="Google Shape;71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61"/>
          <p:cNvSpPr/>
          <p:nvPr/>
        </p:nvSpPr>
        <p:spPr>
          <a:xfrm>
            <a:off x="132065" y="1120155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Calibri"/>
              <a:buNone/>
            </a:pPr>
            <a:r>
              <a:rPr b="0" i="0" lang="fr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Instead of computing </a:t>
            </a:r>
            <a:r>
              <a:rPr lang="fr" sz="15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              </a:t>
            </a:r>
            <a:r>
              <a:rPr b="0" i="0" lang="fr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explicitly, use kernel: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20" name="Google Shape;720;p61"/>
          <p:cNvGraphicFramePr/>
          <p:nvPr/>
        </p:nvGraphicFramePr>
        <p:xfrm>
          <a:off x="132065" y="206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{BE2E49CE-D0E2-433D-8271-F633AFD4A865}</a:tableStyleId>
              </a:tblPr>
              <a:tblGrid>
                <a:gridCol w="1224700"/>
                <a:gridCol w="2204475"/>
              </a:tblGrid>
              <a:tr h="58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fr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Kernel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fr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Formula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</a:tr>
              <a:tr h="58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fr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Linear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fr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Polynomial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fr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RBF (Gaussian)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21" name="Google Shape;721;p61" title="{&quot;red&quot;:27,&quot;green&quot;:58,&quot;blue&quot;:92,&quot;origURL&quot;:&quot;https://www.codecogs.com/eqnedit.php?latex=%5Cphi(x)#0&quot;,&quot;size&quot;:15,&quot;width&quot;:236.2204724409449,&quot;height&quot;:32.71653543307087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0300" y="1129775"/>
            <a:ext cx="375761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61" title="{&quot;red&quot;:27,&quot;green&quot;:58,&quot;blue&quot;:92,&quot;origURL&quot;:&quot;https://www.codecogs.com/eqnedit.php?latex=K(x%2Cx')%20%3D%20%5Cphi(x)%5ET%5Cphi(x')#0&quot;,&quot;size&quot;:15,&quot;width&quot;:236.2204724409449,&quot;height&quot;:32.71653543307087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5425" y="1177750"/>
            <a:ext cx="1371599" cy="166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61" title="{&quot;red&quot;:0,&quot;green&quot;:0,&quot;blue&quot;:0,&quot;origURL&quot;:&quot;https://www.codecogs.com/eqnedit.php?latex=K(x%2Cx')%20%3D%20x%5ETx'#0&quot;,&quot;size&quot;:14,&quot;width&quot;:236.2204724409449,&quot;height&quot;:31.511811023622048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34387" y="2732225"/>
            <a:ext cx="1280161" cy="217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61" title="{&quot;red&quot;:0,&quot;green&quot;:0,&quot;blue&quot;:0,&quot;origURL&quot;:&quot;https://www.codecogs.com/eqnedit.php?latex=K(x%2Cx')%20%3D%20(x%5ETx'%20%2B%20c)%5Ed#0&quot;,&quot;size&quot;:14,&quot;width&quot;:236.2204724409449,&quot;height&quot;:31.511811023622048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74013" y="3442700"/>
            <a:ext cx="1836999" cy="220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61" title="{&quot;red&quot;:0,&quot;green&quot;:0,&quot;blue&quot;:0,&quot;origURL&quot;:&quot;https://www.codecogs.com/eqnedit.php?latex=K(x%2Cx')%20%3D%20%5Cexp(-%5Cgamma%5C%7Cx-x'%5C%7C%5E2)#0&quot;,&quot;size&quot;:14,&quot;width&quot;:236.2204724409449,&quot;height&quot;:31.511811023622048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41963" y="4089100"/>
            <a:ext cx="1836991" cy="16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6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84063" y="2269022"/>
            <a:ext cx="4857387" cy="19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2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62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62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SVM in scikit-learn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35" name="Google Shape;735;p62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6" name="Google Shape;73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62"/>
          <p:cNvSpPr/>
          <p:nvPr/>
        </p:nvSpPr>
        <p:spPr>
          <a:xfrm>
            <a:off x="444165" y="850395"/>
            <a:ext cx="9144000" cy="3657600"/>
          </a:xfrm>
          <a:prstGeom prst="rect">
            <a:avLst/>
          </a:prstGeom>
          <a:solidFill>
            <a:srgbClr val="1E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62"/>
          <p:cNvSpPr/>
          <p:nvPr/>
        </p:nvSpPr>
        <p:spPr>
          <a:xfrm>
            <a:off x="581325" y="941835"/>
            <a:ext cx="88698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sklearn.svm import SVR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sklearn.preprocessing import StandardScaler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scaler = StandardScaler()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X_train_s = scaler.fit_transform(X_train)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X_test_s  = scaler.transform(X_test)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svr_linear = SVR(kernel='linear', C=1.0)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svr_rbf    = SVR(kernel='rbf', C=1.0, gamma='scale')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svr_rbf.fit(X_train_s, y_train)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y_pred = svr_rbf.predict(X_test_s)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9" name="Google Shape;739;p62"/>
          <p:cNvSpPr/>
          <p:nvPr/>
        </p:nvSpPr>
        <p:spPr>
          <a:xfrm>
            <a:off x="994490" y="462694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SVM needs scaled features (like KNN)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63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63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SVM in scikit-learn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48" name="Google Shape;748;p63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9" name="Google Shape;74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63"/>
          <p:cNvSpPr/>
          <p:nvPr/>
        </p:nvSpPr>
        <p:spPr>
          <a:xfrm>
            <a:off x="444165" y="850395"/>
            <a:ext cx="9144000" cy="3657600"/>
          </a:xfrm>
          <a:prstGeom prst="rect">
            <a:avLst/>
          </a:prstGeom>
          <a:solidFill>
            <a:srgbClr val="1E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63"/>
          <p:cNvSpPr/>
          <p:nvPr/>
        </p:nvSpPr>
        <p:spPr>
          <a:xfrm>
            <a:off x="581325" y="941835"/>
            <a:ext cx="88698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sklearn.svm import SVC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sklearn.preprocessing import StandardScaler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scaler = StandardScaler()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X_train_s = scaler.fit_transform(X_train)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X_test_s  = scaler.transform(X_test)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svm_linear = SVC(kernel='linear', C=1.0)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svm_rbf    = SVC(kernel='rbf', C=1.0, gamma='scale')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svm_rbf.fit(X_train_s, y_train)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y_pred = svm_rbf.predict(X_test_s)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63"/>
          <p:cNvSpPr/>
          <p:nvPr/>
        </p:nvSpPr>
        <p:spPr>
          <a:xfrm>
            <a:off x="994490" y="462694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SVM needs scaled features (like KNN)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4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64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64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SVM: Pros &amp; Cons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61" name="Google Shape;761;p64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2" name="Google Shape;762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64"/>
          <p:cNvSpPr/>
          <p:nvPr/>
        </p:nvSpPr>
        <p:spPr>
          <a:xfrm>
            <a:off x="602349" y="1580674"/>
            <a:ext cx="3837300" cy="23157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66150" lIns="66150" spcFirstLastPara="1" rIns="66150" wrap="square" tIns="6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64"/>
          <p:cNvSpPr/>
          <p:nvPr/>
        </p:nvSpPr>
        <p:spPr>
          <a:xfrm>
            <a:off x="602349" y="1646835"/>
            <a:ext cx="3837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075" lIns="66150" spcFirstLastPara="1" rIns="66150" wrap="square" tIns="33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2"/>
              <a:buFont typeface="Georgia"/>
              <a:buNone/>
            </a:pPr>
            <a:r>
              <a:rPr b="1" i="0" lang="fr" sz="1302" u="none" cap="none" strike="noStrike">
                <a:solidFill>
                  <a:srgbClr val="2E7D32"/>
                </a:solidFill>
                <a:latin typeface="Georgia"/>
                <a:ea typeface="Georgia"/>
                <a:cs typeface="Georgia"/>
                <a:sym typeface="Georgia"/>
              </a:rPr>
              <a:t>Pros</a:t>
            </a:r>
            <a:endParaRPr b="0" i="0" sz="130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64"/>
          <p:cNvSpPr/>
          <p:nvPr/>
        </p:nvSpPr>
        <p:spPr>
          <a:xfrm>
            <a:off x="734671" y="2043804"/>
            <a:ext cx="3572700" cy="16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75" lIns="66150" spcFirstLastPara="1" rIns="66150" wrap="square" tIns="33075">
            <a:noAutofit/>
          </a:bodyPr>
          <a:lstStyle/>
          <a:p>
            <a:pPr indent="-248105" lvl="0" marL="248105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13"/>
              <a:buFont typeface="Calibri"/>
              <a:buChar char="•"/>
            </a:pPr>
            <a:r>
              <a:rPr b="0" i="0" lang="fr" sz="1013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Effective in high dimensions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8105" lvl="0" marL="248105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13"/>
              <a:buFont typeface="Calibri"/>
              <a:buChar char="•"/>
            </a:pPr>
            <a:r>
              <a:rPr b="0" i="0" lang="fr" sz="1013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Memory-efficient (only support vectors)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8105" lvl="0" marL="248105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13"/>
              <a:buFont typeface="Calibri"/>
              <a:buChar char="•"/>
            </a:pPr>
            <a:r>
              <a:rPr b="0" i="0" lang="fr" sz="1013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Flexible via kernel choice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64"/>
          <p:cNvSpPr/>
          <p:nvPr/>
        </p:nvSpPr>
        <p:spPr>
          <a:xfrm>
            <a:off x="4704339" y="1580674"/>
            <a:ext cx="3837300" cy="23157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txBody>
          <a:bodyPr anchorCtr="0" anchor="ctr" bIns="66150" lIns="66150" spcFirstLastPara="1" rIns="66150" wrap="square" tIns="6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64"/>
          <p:cNvSpPr/>
          <p:nvPr/>
        </p:nvSpPr>
        <p:spPr>
          <a:xfrm>
            <a:off x="4704339" y="1646835"/>
            <a:ext cx="3837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075" lIns="66150" spcFirstLastPara="1" rIns="66150" wrap="square" tIns="33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302"/>
              <a:buFont typeface="Georgia"/>
              <a:buNone/>
            </a:pPr>
            <a:r>
              <a:rPr b="1" i="0" lang="fr" sz="1302" u="none" cap="none" strike="noStrike">
                <a:solidFill>
                  <a:srgbClr val="C62828"/>
                </a:solidFill>
                <a:latin typeface="Georgia"/>
                <a:ea typeface="Georgia"/>
                <a:cs typeface="Georgia"/>
                <a:sym typeface="Georgia"/>
              </a:rPr>
              <a:t>Cons</a:t>
            </a:r>
            <a:endParaRPr b="0" i="0" sz="130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64"/>
          <p:cNvSpPr/>
          <p:nvPr/>
        </p:nvSpPr>
        <p:spPr>
          <a:xfrm>
            <a:off x="4836662" y="2043804"/>
            <a:ext cx="3572700" cy="16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75" lIns="66150" spcFirstLastPara="1" rIns="66150" wrap="square" tIns="33075">
            <a:noAutofit/>
          </a:bodyPr>
          <a:lstStyle/>
          <a:p>
            <a:pPr indent="-248105" lvl="0" marL="248105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13"/>
              <a:buFont typeface="Calibri"/>
              <a:buChar char="•"/>
            </a:pPr>
            <a:r>
              <a:rPr b="0" i="0" lang="fr" sz="1013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Slow for large datasets: O(n²) to O(n³)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8105" lvl="0" marL="248105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13"/>
              <a:buFont typeface="Calibri"/>
              <a:buChar char="•"/>
            </a:pPr>
            <a:r>
              <a:rPr b="0" i="0" lang="fr" sz="1013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Sensitive to feature scaling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8105" lvl="0" marL="248105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013"/>
              <a:buFont typeface="Calibri"/>
              <a:buChar char="•"/>
            </a:pPr>
            <a:r>
              <a:rPr b="0" i="0" lang="fr" sz="1013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No native probability output</a:t>
            </a:r>
            <a:endParaRPr b="0" i="0" sz="10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5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65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65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Models Summary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77" name="Google Shape;777;p65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8" name="Google Shape;77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79" name="Google Shape;779;p65"/>
          <p:cNvGraphicFramePr/>
          <p:nvPr/>
        </p:nvGraphicFramePr>
        <p:xfrm>
          <a:off x="548640" y="141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{BE2E49CE-D0E2-433D-8271-F633AFD4A865}</a:tableStyleId>
              </a:tblPr>
              <a:tblGrid>
                <a:gridCol w="1957250"/>
                <a:gridCol w="1258250"/>
                <a:gridCol w="1398050"/>
                <a:gridCol w="1537850"/>
                <a:gridCol w="2236875"/>
              </a:tblGrid>
              <a:tr h="51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fr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fr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fr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Parametric?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fr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Scaling?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fr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Hyperparams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</a:tr>
              <a:tr h="51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Linear/Ridge/Lasso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Reg/Clf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Recommended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lambda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Reg/Clf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Tree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Reg/Clf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needed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max_depth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SVM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Clf (Reg)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C, kernel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8BB"/>
        </a:solidFill>
      </p:bgPr>
    </p:bg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5" name="Google Shape;78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66"/>
          <p:cNvSpPr/>
          <p:nvPr/>
        </p:nvSpPr>
        <p:spPr>
          <a:xfrm>
            <a:off x="2673746" y="1931559"/>
            <a:ext cx="37965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</a:pPr>
            <a:r>
              <a:rPr b="1" lang="fr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Ensemble Methods: Bagging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7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67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67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Why Ensembles?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95" name="Google Shape;795;p67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6" name="Google Shape;79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67"/>
          <p:cNvSpPr/>
          <p:nvPr/>
        </p:nvSpPr>
        <p:spPr>
          <a:xfrm>
            <a:off x="548640" y="1188720"/>
            <a:ext cx="5486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Char char="•"/>
            </a:pPr>
            <a:r>
              <a:rPr b="0" i="0" lang="fr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Single models have weaknesses (bias or variance)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Char char="•"/>
            </a:pPr>
            <a:r>
              <a:rPr b="0" i="0" lang="fr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Idea: combine multiple models for better performance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Char char="•"/>
            </a:pPr>
            <a:r>
              <a:rPr b="0" i="0" lang="fr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"Wisdom of the crowd" — aggregate diverse opinions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8" name="Google Shape;79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450" y="2274575"/>
            <a:ext cx="3461175" cy="1950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67"/>
          <p:cNvPicPr preferRelativeResize="0"/>
          <p:nvPr/>
        </p:nvPicPr>
        <p:blipFill rotWithShape="1">
          <a:blip r:embed="rId5">
            <a:alphaModFix/>
          </a:blip>
          <a:srcRect b="0" l="0" r="51997" t="0"/>
          <a:stretch/>
        </p:blipFill>
        <p:spPr>
          <a:xfrm>
            <a:off x="4855650" y="2075500"/>
            <a:ext cx="2825815" cy="267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68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68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68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Voting SVM in scikit-learn / classification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08" name="Google Shape;808;p68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9" name="Google Shape;80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68"/>
          <p:cNvSpPr/>
          <p:nvPr/>
        </p:nvSpPr>
        <p:spPr>
          <a:xfrm>
            <a:off x="444165" y="850395"/>
            <a:ext cx="9144000" cy="3657600"/>
          </a:xfrm>
          <a:prstGeom prst="rect">
            <a:avLst/>
          </a:prstGeom>
          <a:solidFill>
            <a:srgbClr val="1E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68"/>
          <p:cNvSpPr/>
          <p:nvPr/>
        </p:nvSpPr>
        <p:spPr>
          <a:xfrm>
            <a:off x="581325" y="941835"/>
            <a:ext cx="88698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sklearn.ensemble import VotingClassifier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sklearn.svm import SVC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sklearn.tree import DecisionTreeClassifier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sklearn.neighbors import KNeighborsClassifier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model = VotingClassifier(estimators=[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('svm', SVC(kernel='rbf', C=1.0)),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('tree', DecisionTreeClassifier(max_depth=4)),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('knn', KNeighborsClassifier(n_neighbors=5))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], voting='hard')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model.fit(X_train, y_train)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y_pred = model.predict(X_test)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69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69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69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Voting SVM in scikit-learn / regression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20" name="Google Shape;820;p69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1" name="Google Shape;82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69"/>
          <p:cNvSpPr/>
          <p:nvPr/>
        </p:nvSpPr>
        <p:spPr>
          <a:xfrm>
            <a:off x="444165" y="850395"/>
            <a:ext cx="9144000" cy="3657600"/>
          </a:xfrm>
          <a:prstGeom prst="rect">
            <a:avLst/>
          </a:prstGeom>
          <a:solidFill>
            <a:srgbClr val="1E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69"/>
          <p:cNvSpPr/>
          <p:nvPr/>
        </p:nvSpPr>
        <p:spPr>
          <a:xfrm>
            <a:off x="581325" y="941835"/>
            <a:ext cx="88698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sklearn.ensemble import VotingRegressor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sklearn.svm import SVR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sklearn.tree import DecisionTreeRegressor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sklearn.neighbors import KNeighborsRegressor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model = VotingRegressor(estimators=[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('svr', SVR(kernel='rbf', C=1.0)),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('tree', DecisionTreeRegressor(max_depth=4)),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('knn', KNeighborsRegressor(n_neighbors=5))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model.fit(X_train, y_train)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y_pred = model.predict(X_test)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70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70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70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Bagging (Bootstrap Aggregating)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32" name="Google Shape;832;p70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3" name="Google Shape;83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70"/>
          <p:cNvSpPr/>
          <p:nvPr/>
        </p:nvSpPr>
        <p:spPr>
          <a:xfrm>
            <a:off x="548640" y="118872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Char char="•"/>
            </a:pPr>
            <a:r>
              <a:rPr b="0" i="0" lang="fr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1. Create B bootstrap samples (random sampling with replacement)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Char char="•"/>
            </a:pPr>
            <a:r>
              <a:rPr b="0" i="0" lang="fr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2. Train one model on each sample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Char char="•"/>
            </a:pPr>
            <a:r>
              <a:rPr b="0" i="0" lang="fr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3. Aggregate: majority vote (clf) or average (reg)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70"/>
          <p:cNvSpPr/>
          <p:nvPr/>
        </p:nvSpPr>
        <p:spPr>
          <a:xfrm>
            <a:off x="548640" y="32004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t/>
            </a:r>
            <a:endParaRPr b="1">
              <a:solidFill>
                <a:srgbClr val="1B3A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t/>
            </a:r>
            <a:endParaRPr b="1">
              <a:solidFill>
                <a:srgbClr val="1B3A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t/>
            </a:r>
            <a:endParaRPr b="1">
              <a:solidFill>
                <a:srgbClr val="1B3A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t/>
            </a:r>
            <a:endParaRPr b="1">
              <a:solidFill>
                <a:srgbClr val="1B3A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t/>
            </a:r>
            <a:endParaRPr b="1">
              <a:solidFill>
                <a:srgbClr val="1B3A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t/>
            </a:r>
            <a:endParaRPr b="1">
              <a:solidFill>
                <a:srgbClr val="1B3A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None/>
            </a:pPr>
            <a:r>
              <a:rPr b="1" i="0" lang="fr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Reduces variance (stabilizes unstable models like trees)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6" name="Google Shape;83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075" y="2146511"/>
            <a:ext cx="5486399" cy="1755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70"/>
          <p:cNvPicPr preferRelativeResize="0"/>
          <p:nvPr/>
        </p:nvPicPr>
        <p:blipFill rotWithShape="1">
          <a:blip r:embed="rId5">
            <a:alphaModFix/>
          </a:blip>
          <a:srcRect b="0" l="50891" r="0" t="0"/>
          <a:stretch/>
        </p:blipFill>
        <p:spPr>
          <a:xfrm>
            <a:off x="5710150" y="1580625"/>
            <a:ext cx="3316451" cy="306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1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71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71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Random Forest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46" name="Google Shape;846;p71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7" name="Google Shape;84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1"/>
          <p:cNvSpPr/>
          <p:nvPr/>
        </p:nvSpPr>
        <p:spPr>
          <a:xfrm>
            <a:off x="548640" y="118872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Char char="•"/>
            </a:pPr>
            <a:r>
              <a:rPr lang="fr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Bagging + random feature selection at each split :</a:t>
            </a:r>
            <a:br>
              <a:rPr lang="fr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1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At each node, only consider m random features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Char char="•"/>
            </a:pPr>
            <a:r>
              <a:rPr lang="fr" sz="11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Classification: m = sqrt(p)  |  Regression: m = p/3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00"/>
              <a:buFont typeface="Calibri"/>
              <a:buChar char="•"/>
            </a:pPr>
            <a:r>
              <a:rPr lang="fr" sz="11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Decorrelates trees → more diversity → better ensemble</a:t>
            </a:r>
            <a:endParaRPr>
              <a:solidFill>
                <a:srgbClr val="1B3A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9" name="Google Shape;849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5050" y="2057100"/>
            <a:ext cx="5048124" cy="283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72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72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72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Random Forest in scikit-learn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58" name="Google Shape;858;p72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9" name="Google Shape;85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72"/>
          <p:cNvSpPr/>
          <p:nvPr/>
        </p:nvSpPr>
        <p:spPr>
          <a:xfrm>
            <a:off x="548640" y="1188720"/>
            <a:ext cx="9144000" cy="3657600"/>
          </a:xfrm>
          <a:prstGeom prst="rect">
            <a:avLst/>
          </a:prstGeom>
          <a:solidFill>
            <a:srgbClr val="1E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72"/>
          <p:cNvSpPr/>
          <p:nvPr/>
        </p:nvSpPr>
        <p:spPr>
          <a:xfrm>
            <a:off x="685800" y="1280160"/>
            <a:ext cx="88698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sklearn.ensemble import RandomForestRegressor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rf = RandomForestRegressor(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n_estimators=100,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max_depth=10,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max_features='sqrt',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random_state=42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rf.fit(X_train, y_train)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y_pred = rf.predict(X_test)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importances = rf.feature_importances_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3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73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73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Random Forest in scikit-learn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70" name="Google Shape;870;p73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1" name="Google Shape;87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73"/>
          <p:cNvSpPr/>
          <p:nvPr/>
        </p:nvSpPr>
        <p:spPr>
          <a:xfrm>
            <a:off x="548640" y="1188720"/>
            <a:ext cx="9144000" cy="3657600"/>
          </a:xfrm>
          <a:prstGeom prst="rect">
            <a:avLst/>
          </a:prstGeom>
          <a:solidFill>
            <a:srgbClr val="1E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73"/>
          <p:cNvSpPr/>
          <p:nvPr/>
        </p:nvSpPr>
        <p:spPr>
          <a:xfrm>
            <a:off x="685800" y="1280160"/>
            <a:ext cx="88698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sklearn.ensemble import RandomForestClassifier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rf = RandomForestClassifier(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n_estimators=100,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max_depth=10,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max_features='sqrt',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random_state=42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rf.fit(X_train, y_train)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y_pred = rf.predict(X_test)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importances = rf.feature_importances_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74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74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74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Quiz: Bagging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82" name="Google Shape;882;p74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3" name="Google Shape;88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74"/>
          <p:cNvSpPr/>
          <p:nvPr/>
        </p:nvSpPr>
        <p:spPr>
          <a:xfrm>
            <a:off x="731520" y="1645920"/>
            <a:ext cx="10058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800"/>
              <a:buFont typeface="Calibri"/>
              <a:buChar char="•"/>
            </a:pPr>
            <a:r>
              <a:rPr b="0" i="0" lang="fr" sz="1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1. Why does bagging help reduce variance?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800"/>
              <a:buFont typeface="Calibri"/>
              <a:buChar char="•"/>
            </a:pPr>
            <a:r>
              <a:rPr b="0" i="0" lang="fr" sz="1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2. What is the difference between bagging and random forest?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800"/>
              <a:buFont typeface="Calibri"/>
              <a:buChar char="•"/>
            </a:pPr>
            <a:r>
              <a:rPr b="0" i="0" lang="fr" sz="1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3. Can bagging help a model that underfits?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5" name="Google Shape;88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5940" y="0"/>
            <a:ext cx="1168060" cy="86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8BB"/>
        </a:solidFill>
      </p:bgPr>
    </p:bg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1" name="Google Shape;89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75"/>
          <p:cNvSpPr/>
          <p:nvPr/>
        </p:nvSpPr>
        <p:spPr>
          <a:xfrm>
            <a:off x="2673746" y="1931559"/>
            <a:ext cx="37965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</a:pPr>
            <a:r>
              <a:rPr b="1" lang="fr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Ensemble Methods: Boosting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6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76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76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Boosting: The Idea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01" name="Google Shape;901;p76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2" name="Google Shape;902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76"/>
          <p:cNvSpPr/>
          <p:nvPr/>
        </p:nvSpPr>
        <p:spPr>
          <a:xfrm>
            <a:off x="548640" y="118872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Char char="•"/>
            </a:pPr>
            <a:r>
              <a:rPr b="0" i="0" lang="fr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Train models sequentially, each correcting previous errors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Char char="•"/>
            </a:pPr>
            <a:r>
              <a:rPr b="0" i="0" lang="fr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Focus on hard examples (misclassified or high residual)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00"/>
              <a:buFont typeface="Calibri"/>
              <a:buChar char="•"/>
            </a:pPr>
            <a:r>
              <a:rPr b="0" i="0" lang="fr" sz="14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Reduces bias (makes weak learners stronger)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4" name="Google Shape;904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5850" y="2037175"/>
            <a:ext cx="4468276" cy="278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77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77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77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AdaBoost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13" name="Google Shape;913;p77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4" name="Google Shape;91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77" title="{&quot;red&quot;:0,&quot;green&quot;:0,&quot;blue&quot;:0,&quot;origURL&quot;:&quot;https://www.codecogs.com/eqnedit.php?latex=H(x)%20%3D%20%5Ctext%7Bsign%7D%5Cleft(%5Csum_%7Bt%3D1%7D%5E%7BT%7D%20%5Calpha_t%20h_t(x)%5Cright)#0&quot;,&quot;size&quot;:16,&quot;width&quot;:466.65354330708664,&quot;height&quot;:33.94488188976378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8200" y="1238563"/>
            <a:ext cx="2723374" cy="716425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7"/>
          <p:cNvSpPr txBox="1"/>
          <p:nvPr/>
        </p:nvSpPr>
        <p:spPr>
          <a:xfrm>
            <a:off x="548650" y="1019900"/>
            <a:ext cx="3000000" cy="7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1: Initialize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 2: For each round :</a:t>
            </a:r>
            <a:endParaRPr b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2a.</a:t>
            </a:r>
            <a:r>
              <a:rPr lang="fr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Train weak learner </a:t>
            </a:r>
            <a:r>
              <a:rPr lang="fr" sz="1100"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fr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fr" sz="1100">
                <a:latin typeface="Calibri"/>
                <a:ea typeface="Calibri"/>
                <a:cs typeface="Calibri"/>
                <a:sym typeface="Calibri"/>
              </a:rPr>
              <a:t>on weighted data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2b.</a:t>
            </a:r>
            <a:r>
              <a:rPr lang="fr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Compute weighted error: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2c.</a:t>
            </a:r>
            <a:r>
              <a:rPr lang="fr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Compute learner weight (good learner → high </a:t>
            </a:r>
            <a:r>
              <a:rPr lang="fr" sz="1100"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lang="fr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):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2d.</a:t>
            </a:r>
            <a:r>
              <a:rPr lang="fr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Update sample weights (misclassified → weight increases):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7" name="Google Shape;917;p77" title="{&quot;red&quot;:0,&quot;green&quot;:0,&quot;blue&quot;:0,&quot;origURL&quot;:&quot;https://www.codecogs.com/eqnedit.php?latex=%20%5Calpha_t%20%3D%20%5Cfrac%7B1%7D%7B2%7D%20%5Cln%20%5Cfrac%7B1%20-%20%5Cepsilon_t%7D%7B%5Cepsilon_t%7D%20#0&quot;,&quot;size&quot;:11,&quot;width&quot;:236.2204724409449,&quot;height&quot;:553.3937007874016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0250" y="3577050"/>
            <a:ext cx="1501375" cy="49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77" title="{&quot;red&quot;:0,&quot;green&quot;:0,&quot;blue&quot;:0,&quot;origURL&quot;:&quot;https://www.codecogs.com/eqnedit.php?latex=%20%5Ctext%7Bthen%20normalize%3A%20%7D%20w_i%20%5Cleftarrow%20%5Cfrac%7Bw_i%7D%7B%5Csum_j%20w_j%7D%20#0&quot;,&quot;size&quot;:11,&quot;width&quot;:236.2204724409449,&quot;height&quot;:553.3937007874016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8575" y="4709488"/>
            <a:ext cx="1784722" cy="321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77" title="{&quot;red&quot;:0,&quot;green&quot;:0,&quot;blue&quot;:0,&quot;origURL&quot;:&quot;https://www.codecogs.com/eqnedit.php?latex=%20w_i%20%3D%20%5Cfrac%7B1%7D%7Bn%7D%20%5Cquad%20%5Cforall%20i%20%5Cin%20%7B1%2C%20%5Cldots%2C%20n%7D%20#0&quot;,&quot;size&quot;:11,&quot;width&quot;:236.2204724409449,&quot;height&quot;:43.20472440944882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1375" y="1327725"/>
            <a:ext cx="1257657" cy="2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77" title="{&quot;red&quot;:0,&quot;green&quot;:0,&quot;blue&quot;:0,&quot;origURL&quot;:&quot;http://www.texrendr.com/?eqn=%20%5Cepsilon_t%20%3D%20%5Csum_%7Bi%3D1%7D%5E%7Bn%7D%20w_i%20%20%5Cmathb%7B1%7D(h_t(x_i)%20%5Cneq%20y_i)%20#0&quot;,&quot;size&quot;:11,&quot;width&quot;:236.2204724409449,&quot;height&quot;:43.20472440944882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51050" y="2750275"/>
            <a:ext cx="1416957" cy="346755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77"/>
          <p:cNvSpPr txBox="1"/>
          <p:nvPr/>
        </p:nvSpPr>
        <p:spPr>
          <a:xfrm>
            <a:off x="4754600" y="547050"/>
            <a:ext cx="3000000" cy="3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3: Final prediction (weighted vote):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Intuition:</a:t>
            </a: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learner with low epsilon gets high alpha→ strong vote.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learner with high error gets low alpha → weak vote.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learner with epsilon_t = 0.5 (random) gets alpha_t = 0 → ignored.</a:t>
            </a:r>
            <a:endParaRPr/>
          </a:p>
        </p:txBody>
      </p:sp>
      <p:pic>
        <p:nvPicPr>
          <p:cNvPr id="922" name="Google Shape;922;p77" title="{&quot;red&quot;:0,&quot;green&quot;:0,&quot;blue&quot;:0,&quot;origURL&quot;:&quot;https://www.codecogs.com/eqnedit.php?latex=t%20%3D%201%2C%20%5Cldots%2C%20T#0&quot;,&quot;size&quot;:11,&quot;width&quot;:236.2204724409449,&quot;height&quot;:27.874015748031496}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93000" y="1817750"/>
            <a:ext cx="786860" cy="137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77" title="{&quot;red&quot;:0,&quot;green&quot;:0,&quot;blue&quot;:0,&quot;origURL&quot;:&quot;https://www.codecogs.com/eqnedit.php?latex=%5Calpha_t#0&quot;,&quot;size&quot;:11,&quot;width&quot;:236.2204724409449,&quot;height&quot;:27.874015748031496}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51375" y="3426550"/>
            <a:ext cx="128873" cy="94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77" title="{&quot;red&quot;:0,&quot;green&quot;:0,&quot;blue&quot;:0,&quot;origURL&quot;:&quot;http://www.texrendr.com/?eqn=%20w_i%20%5Cleftarrow%20w_i%20%5Ccdot%20%5Cexp(%5Calpha_t%20%20%5Cmathb%7B1%7D(h_t(x_i)%20%5Cneq%20y_i))%20#0&quot;,&quot;size&quot;:14,&quot;width&quot;:528.6614173228346,&quot;height&quot;:31.511811023622045}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51375" y="4467700"/>
            <a:ext cx="1872674" cy="19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77" title="{&quot;red&quot;:0,&quot;green&quot;:0,&quot;blue&quot;:0,&quot;origURL&quot;:&quot;https://www.codecogs.com/eqnedit.php?latex=h_t#0&quot;,&quot;size&quot;:14,&quot;width&quot;:236.2204724409449,&quot;height&quot;:31.511811023622045}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974638" y="2172325"/>
            <a:ext cx="148019" cy="170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78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78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78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Gradient Boosting Hyperparameters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34" name="Google Shape;934;p78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5" name="Google Shape;93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6" name="Google Shape;936;p78"/>
          <p:cNvGraphicFramePr/>
          <p:nvPr/>
        </p:nvGraphicFramePr>
        <p:xfrm>
          <a:off x="450340" y="130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{BE2E49CE-D0E2-433D-8271-F633AFD4A865}</a:tableStyleId>
              </a:tblPr>
              <a:tblGrid>
                <a:gridCol w="2060825"/>
                <a:gridCol w="1717350"/>
                <a:gridCol w="4465125"/>
              </a:tblGrid>
              <a:tr h="558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fr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fr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fr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Effect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5C"/>
                    </a:solidFill>
                  </a:tcPr>
                </a:tc>
              </a:tr>
              <a:tr h="558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n_estimators (T)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Boosting rounds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More rounds → better fit (risk of overfit)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learning_rate (η)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Shrinkage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Smaller → needs more rounds, but generalizes better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max_depth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Tree depth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f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Usually shallow: 3–8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7" name="Google Shape;937;p78"/>
          <p:cNvSpPr/>
          <p:nvPr/>
        </p:nvSpPr>
        <p:spPr>
          <a:xfrm>
            <a:off x="548640" y="42062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Font typeface="Calibri"/>
              <a:buNone/>
            </a:pPr>
            <a:r>
              <a:rPr b="1" i="0" lang="fr" sz="15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Tradeoff: small η + large T → better but slower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79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79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79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Gradient Boosting in Code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46" name="Google Shape;946;p79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7" name="Google Shape;94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79"/>
          <p:cNvSpPr/>
          <p:nvPr/>
        </p:nvSpPr>
        <p:spPr>
          <a:xfrm>
            <a:off x="548640" y="1188720"/>
            <a:ext cx="9144000" cy="3474600"/>
          </a:xfrm>
          <a:prstGeom prst="rect">
            <a:avLst/>
          </a:prstGeom>
          <a:solidFill>
            <a:srgbClr val="1E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79"/>
          <p:cNvSpPr/>
          <p:nvPr/>
        </p:nvSpPr>
        <p:spPr>
          <a:xfrm>
            <a:off x="685800" y="1280160"/>
            <a:ext cx="88698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sklearn.ensemble import GradientBoostingClassifier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xgboost import XGBClassifier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gb = GradientBoostingClassifier(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n_estimators=200, learning_rate=0.1, max_depth=4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xgb = XGBClassifier(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n_estimators=200, learning_rate=0.1, max_depth=4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model.fit(X_train, y_train)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80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80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80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Gradient Boosting in Code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58" name="Google Shape;958;p80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9" name="Google Shape;95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80"/>
          <p:cNvSpPr/>
          <p:nvPr/>
        </p:nvSpPr>
        <p:spPr>
          <a:xfrm>
            <a:off x="548640" y="1188720"/>
            <a:ext cx="9144000" cy="3474600"/>
          </a:xfrm>
          <a:prstGeom prst="rect">
            <a:avLst/>
          </a:prstGeom>
          <a:solidFill>
            <a:srgbClr val="1E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80"/>
          <p:cNvSpPr/>
          <p:nvPr/>
        </p:nvSpPr>
        <p:spPr>
          <a:xfrm>
            <a:off x="685800" y="1280160"/>
            <a:ext cx="88698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sklearn.ensemble import GradientBoostingRegressor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xgboost import XGBRegressor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gb = GradientBoostingRegressor(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n_estimators=200, learning_rate=0.1, max_depth=4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xgb = XGBRegressor(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n_estimators=200, learning_rate=0.1, max_depth=4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model.fit(X_train, y_train)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81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81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81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Ensemble Summary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70" name="Google Shape;970;p81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1" name="Google Shape;97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3998" y="923850"/>
            <a:ext cx="4423149" cy="391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8BB"/>
        </a:solidFill>
      </p:bgPr>
    </p:bg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8" name="Google Shape;97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82"/>
          <p:cNvSpPr/>
          <p:nvPr/>
        </p:nvSpPr>
        <p:spPr>
          <a:xfrm>
            <a:off x="2408850" y="1931550"/>
            <a:ext cx="43263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</a:pPr>
            <a:r>
              <a:rPr b="1" lang="fr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Hyperparameter Optimization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83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83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83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Parameters vs Hyperparameters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88" name="Google Shape;988;p83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9" name="Google Shape;98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83"/>
          <p:cNvSpPr/>
          <p:nvPr/>
        </p:nvSpPr>
        <p:spPr>
          <a:xfrm>
            <a:off x="132075" y="1350150"/>
            <a:ext cx="4355700" cy="26283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83"/>
          <p:cNvSpPr/>
          <p:nvPr/>
        </p:nvSpPr>
        <p:spPr>
          <a:xfrm>
            <a:off x="132075" y="1425249"/>
            <a:ext cx="43557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25" lIns="75100" spcFirstLastPara="1" rIns="75100" wrap="square" tIns="37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478"/>
              <a:buFont typeface="Georgia"/>
              <a:buNone/>
            </a:pPr>
            <a:r>
              <a:rPr b="1" i="0" lang="fr" sz="1478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Parameters (θ)</a:t>
            </a:r>
            <a:endParaRPr i="0" sz="147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83"/>
          <p:cNvSpPr/>
          <p:nvPr/>
        </p:nvSpPr>
        <p:spPr>
          <a:xfrm>
            <a:off x="282273" y="1950944"/>
            <a:ext cx="40554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25" lIns="75100" spcFirstLastPara="1" rIns="75100" wrap="square" tIns="37525">
            <a:noAutofit/>
          </a:bodyPr>
          <a:lstStyle/>
          <a:p>
            <a:pPr indent="-281621" lvl="0" marL="281621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50"/>
              <a:buFont typeface="Calibri"/>
              <a:buChar char="•"/>
            </a:pPr>
            <a:r>
              <a:rPr i="0" lang="fr" sz="11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Learned during training</a:t>
            </a:r>
            <a:endParaRPr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1621" lvl="0" marL="281621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50"/>
              <a:buFont typeface="Calibri"/>
              <a:buChar char="•"/>
            </a:pPr>
            <a:r>
              <a:rPr i="0" lang="fr" sz="11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Weights, coefficients, splits</a:t>
            </a:r>
            <a:endParaRPr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1621" lvl="0" marL="281621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50"/>
              <a:buFont typeface="Calibri"/>
              <a:buChar char="•"/>
            </a:pPr>
            <a:r>
              <a:rPr i="0" lang="fr" sz="11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Minimize training loss</a:t>
            </a:r>
            <a:endParaRPr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83"/>
          <p:cNvSpPr/>
          <p:nvPr/>
        </p:nvSpPr>
        <p:spPr>
          <a:xfrm>
            <a:off x="4788212" y="1350150"/>
            <a:ext cx="4355700" cy="26283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83"/>
          <p:cNvSpPr/>
          <p:nvPr/>
        </p:nvSpPr>
        <p:spPr>
          <a:xfrm>
            <a:off x="4788212" y="1425249"/>
            <a:ext cx="43557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25" lIns="75100" spcFirstLastPara="1" rIns="75100" wrap="square" tIns="37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84F"/>
              </a:buClr>
              <a:buSzPts val="1478"/>
              <a:buFont typeface="Georgia"/>
              <a:buNone/>
            </a:pPr>
            <a:r>
              <a:rPr b="1" i="0" lang="fr" sz="1478" u="none" cap="none" strike="noStrike">
                <a:solidFill>
                  <a:srgbClr val="E8884F"/>
                </a:solidFill>
                <a:latin typeface="Calibri"/>
                <a:ea typeface="Calibri"/>
                <a:cs typeface="Calibri"/>
                <a:sym typeface="Calibri"/>
              </a:rPr>
              <a:t>Hyperparameters</a:t>
            </a:r>
            <a:endParaRPr i="0" sz="147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83"/>
          <p:cNvSpPr/>
          <p:nvPr/>
        </p:nvSpPr>
        <p:spPr>
          <a:xfrm>
            <a:off x="4938410" y="1950944"/>
            <a:ext cx="40554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25" lIns="75100" spcFirstLastPara="1" rIns="75100" wrap="square" tIns="37525">
            <a:noAutofit/>
          </a:bodyPr>
          <a:lstStyle/>
          <a:p>
            <a:pPr indent="-281621" lvl="0" marL="281621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50"/>
              <a:buFont typeface="Calibri"/>
              <a:buChar char="•"/>
            </a:pPr>
            <a:r>
              <a:rPr i="0" lang="fr" sz="11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Set before training</a:t>
            </a:r>
            <a:endParaRPr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1621" lvl="0" marL="281621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50"/>
              <a:buFont typeface="Calibri"/>
              <a:buChar char="•"/>
            </a:pPr>
            <a:r>
              <a:rPr i="0" lang="fr" sz="11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K, C, λ, max_depth, lr, ...</a:t>
            </a:r>
            <a:endParaRPr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1621" lvl="0" marL="281621" marR="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150"/>
              <a:buFont typeface="Calibri"/>
              <a:buChar char="•"/>
            </a:pPr>
            <a:r>
              <a:rPr i="0" lang="fr" sz="115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Optimize validation performance</a:t>
            </a:r>
            <a:endParaRPr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84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84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84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Grid Search / Random Search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04" name="Google Shape;1004;p84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5" name="Google Shape;100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2300" y="1021200"/>
            <a:ext cx="7125504" cy="372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85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85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85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Model Selection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15" name="Google Shape;1015;p85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6" name="Google Shape;1016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21200"/>
            <a:ext cx="8839204" cy="3107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6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86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86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Grid &amp; Random Search in scikit-learn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26" name="Google Shape;1026;p86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7" name="Google Shape;102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86"/>
          <p:cNvSpPr/>
          <p:nvPr/>
        </p:nvSpPr>
        <p:spPr>
          <a:xfrm>
            <a:off x="548640" y="1188720"/>
            <a:ext cx="9144000" cy="4389000"/>
          </a:xfrm>
          <a:prstGeom prst="rect">
            <a:avLst/>
          </a:prstGeom>
          <a:solidFill>
            <a:srgbClr val="1E22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86"/>
          <p:cNvSpPr/>
          <p:nvPr/>
        </p:nvSpPr>
        <p:spPr>
          <a:xfrm>
            <a:off x="685800" y="1280160"/>
            <a:ext cx="8869800" cy="42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sklearn.model_selection import GridSearchCV, RandomizedSearchCV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param_grid = {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'n_estimators': [50, 100, 200],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'max_depth': [3, 5, 7, 10],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'learning_rate': [0.01, 0.1, 0.3]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grid = GridSearchCV(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model, param_grid, cv=5, scoring='accuracy'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grid.fit(X_train, y_train)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print(grid.best_params_)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fr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print(grid.best_score_)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87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87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87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rgbClr val="0F2B46"/>
                </a:solidFill>
                <a:latin typeface="Trebuchet MS"/>
                <a:ea typeface="Trebuchet MS"/>
                <a:cs typeface="Trebuchet MS"/>
                <a:sym typeface="Trebuchet MS"/>
              </a:rPr>
              <a:t>Quiz: Hyperparameter Optimization</a:t>
            </a:r>
            <a:endParaRPr b="1" sz="2400">
              <a:solidFill>
                <a:srgbClr val="0F2B4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38" name="Google Shape;1038;p87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9" name="Google Shape;1039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7"/>
          <p:cNvSpPr/>
          <p:nvPr/>
        </p:nvSpPr>
        <p:spPr>
          <a:xfrm>
            <a:off x="731520" y="1645920"/>
            <a:ext cx="10058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1. What is the difference between a parameter and a hyperparameter?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fr" sz="1800" u="none" cap="none" strike="noStrik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. Why might random search outperform grid search?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1" name="Google Shape;1041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5940" y="0"/>
            <a:ext cx="1168060" cy="86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8BB"/>
        </a:solidFill>
      </p:bgPr>
    </p:bg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7" name="Google Shape;1047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88"/>
          <p:cNvSpPr/>
          <p:nvPr/>
        </p:nvSpPr>
        <p:spPr>
          <a:xfrm>
            <a:off x="2673746" y="1931559"/>
            <a:ext cx="37965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</a:pPr>
            <a:r>
              <a:rPr b="1" lang="fr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Multi-Layer</a:t>
            </a:r>
            <a:endParaRPr b="1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</a:pPr>
            <a:r>
              <a:rPr b="1" lang="fr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Perceptron</a:t>
            </a:r>
            <a:endParaRPr b="1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89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89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89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600"/>
              <a:buFont typeface="Georgia"/>
              <a:buNone/>
            </a:pPr>
            <a:r>
              <a:rPr b="1" lang="fr" sz="2600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Le neurone biologique</a:t>
            </a:r>
            <a:endParaRPr b="1" sz="2600">
              <a:solidFill>
                <a:srgbClr val="1E3A5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57" name="Google Shape;1057;p89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8" name="Google Shape;1058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9" name="Google Shape;1059;p89"/>
          <p:cNvPicPr preferRelativeResize="0"/>
          <p:nvPr/>
        </p:nvPicPr>
        <p:blipFill rotWithShape="1">
          <a:blip r:embed="rId4">
            <a:alphaModFix/>
          </a:blip>
          <a:srcRect b="0" l="1745" r="50192" t="0"/>
          <a:stretch/>
        </p:blipFill>
        <p:spPr>
          <a:xfrm>
            <a:off x="4270350" y="1005075"/>
            <a:ext cx="3477925" cy="361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89"/>
          <p:cNvSpPr txBox="1"/>
          <p:nvPr/>
        </p:nvSpPr>
        <p:spPr>
          <a:xfrm>
            <a:off x="506300" y="1665575"/>
            <a:ext cx="3000000" cy="22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latin typeface="Calibri"/>
                <a:ea typeface="Calibri"/>
                <a:cs typeface="Calibri"/>
                <a:sym typeface="Calibri"/>
              </a:rPr>
              <a:t>Le neurone artificiel est inspiré (de manière très simplifiée) du neurone biologique 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fr" sz="1200">
                <a:latin typeface="Calibri"/>
                <a:ea typeface="Calibri"/>
                <a:cs typeface="Calibri"/>
                <a:sym typeface="Calibri"/>
              </a:rPr>
              <a:t>Les dendrites reçoivent des signaux d'entrée (inputs)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fr" sz="1200">
                <a:latin typeface="Calibri"/>
                <a:ea typeface="Calibri"/>
                <a:cs typeface="Calibri"/>
                <a:sym typeface="Calibri"/>
              </a:rPr>
              <a:t>Le corps cellulaire (cell body) intègre ces signaux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fr" sz="1200">
                <a:latin typeface="Calibri"/>
                <a:ea typeface="Calibri"/>
                <a:cs typeface="Calibri"/>
                <a:sym typeface="Calibri"/>
              </a:rPr>
              <a:t>Si le signal total dépasse un certain seuil, le neurone s'active et transmet un signal via l'axone (outputs)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90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90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90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600"/>
              <a:buFont typeface="Georgia"/>
              <a:buNone/>
            </a:pPr>
            <a:r>
              <a:rPr b="1" lang="fr" sz="2600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Le neurone artificiel</a:t>
            </a:r>
            <a:endParaRPr b="1" sz="2600">
              <a:solidFill>
                <a:srgbClr val="1E3A5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69" name="Google Shape;1069;p90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0" name="Google Shape;1070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90"/>
          <p:cNvSpPr/>
          <p:nvPr/>
        </p:nvSpPr>
        <p:spPr>
          <a:xfrm>
            <a:off x="4567300" y="2029025"/>
            <a:ext cx="972300" cy="829800"/>
          </a:xfrm>
          <a:prstGeom prst="ellipse">
            <a:avLst/>
          </a:prstGeom>
          <a:solidFill>
            <a:srgbClr val="EEEEEE"/>
          </a:solidFill>
          <a:ln cap="flat" cmpd="sng" w="11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975" lIns="105975" spcFirstLastPara="1" rIns="105975" wrap="square" tIns="10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3"/>
          </a:p>
        </p:txBody>
      </p:sp>
      <p:cxnSp>
        <p:nvCxnSpPr>
          <p:cNvPr id="1072" name="Google Shape;1072;p90"/>
          <p:cNvCxnSpPr>
            <a:stCxn id="1071" idx="6"/>
          </p:cNvCxnSpPr>
          <p:nvPr/>
        </p:nvCxnSpPr>
        <p:spPr>
          <a:xfrm flipH="1" rot="10800000">
            <a:off x="5539600" y="2431025"/>
            <a:ext cx="819900" cy="12900"/>
          </a:xfrm>
          <a:prstGeom prst="straightConnector1">
            <a:avLst/>
          </a:prstGeom>
          <a:noFill/>
          <a:ln cap="flat" cmpd="sng" w="1105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3" name="Google Shape;1073;p90"/>
          <p:cNvCxnSpPr>
            <a:stCxn id="1071" idx="2"/>
          </p:cNvCxnSpPr>
          <p:nvPr/>
        </p:nvCxnSpPr>
        <p:spPr>
          <a:xfrm rot="10800000">
            <a:off x="3952300" y="1917725"/>
            <a:ext cx="615000" cy="526200"/>
          </a:xfrm>
          <a:prstGeom prst="straightConnector1">
            <a:avLst/>
          </a:prstGeom>
          <a:noFill/>
          <a:ln cap="flat" cmpd="sng" w="1105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4" name="Google Shape;1074;p90"/>
          <p:cNvCxnSpPr>
            <a:stCxn id="1071" idx="2"/>
          </p:cNvCxnSpPr>
          <p:nvPr/>
        </p:nvCxnSpPr>
        <p:spPr>
          <a:xfrm rot="10800000">
            <a:off x="3952300" y="2443925"/>
            <a:ext cx="615000" cy="0"/>
          </a:xfrm>
          <a:prstGeom prst="straightConnector1">
            <a:avLst/>
          </a:prstGeom>
          <a:noFill/>
          <a:ln cap="flat" cmpd="sng" w="1105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5" name="Google Shape;1075;p90"/>
          <p:cNvCxnSpPr>
            <a:stCxn id="1071" idx="2"/>
          </p:cNvCxnSpPr>
          <p:nvPr/>
        </p:nvCxnSpPr>
        <p:spPr>
          <a:xfrm flipH="1">
            <a:off x="3952300" y="2443925"/>
            <a:ext cx="615000" cy="525900"/>
          </a:xfrm>
          <a:prstGeom prst="straightConnector1">
            <a:avLst/>
          </a:prstGeom>
          <a:noFill/>
          <a:ln cap="flat" cmpd="sng" w="1105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6" name="Google Shape;1076;p90"/>
          <p:cNvSpPr txBox="1"/>
          <p:nvPr/>
        </p:nvSpPr>
        <p:spPr>
          <a:xfrm>
            <a:off x="3191661" y="2958595"/>
            <a:ext cx="37236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975" lIns="105975" spcFirstLastPara="1" rIns="105975" wrap="square" tIns="1059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2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</a:t>
            </a:r>
            <a:r>
              <a:rPr b="1" lang="fr" sz="927">
                <a:latin typeface="Montserrat"/>
                <a:ea typeface="Montserrat"/>
                <a:cs typeface="Montserrat"/>
                <a:sym typeface="Montserrat"/>
              </a:rPr>
              <a:t>neuron</a:t>
            </a:r>
            <a:endParaRPr b="1" sz="927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77" name="Google Shape;1077;p90" title="{&quot;red&quot;:0,&quot;green&quot;:0,&quot;blue&quot;:0,&quot;origURL&quot;:&quot;https://www.codecogs.com/eqnedit.php?latex=z%20%3D%20%5Csum_i%20w_i%20x_i%20%2B%20b#0&quot;,&quot;size&quot;:14,&quot;width&quot;:236.2204724409449,&quot;height&quot;:31.511811023622045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9325" y="2164600"/>
            <a:ext cx="1252157" cy="190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p90" title="{&quot;red&quot;:0,&quot;green&quot;:0,&quot;blue&quot;:0,&quot;origURL&quot;:&quot;https://www.codecogs.com/eqnedit.php?latex=x_1#0&quot;,&quot;size&quot;:9.27280044555664,&quot;width&quot;:236.2204724409449,&quot;height&quot;:25.771653543307085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1005" y="1828210"/>
            <a:ext cx="145262" cy="96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p90" title="{&quot;red&quot;:0,&quot;green&quot;:0,&quot;blue&quot;:0,&quot;origURL&quot;:&quot;https://www.codecogs.com/eqnedit.php?latex=x_2#0&quot;,&quot;size&quot;:9.27280044555664,&quot;width&quot;:236.2204724409449,&quot;height&quot;:25.771653543307085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96348" y="2393400"/>
            <a:ext cx="148894" cy="96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90" title="{&quot;red&quot;:0,&quot;green&quot;:0,&quot;blue&quot;:0,&quot;origURL&quot;:&quot;https://www.codecogs.com/eqnedit.php?latex=x_3#0&quot;,&quot;size&quot;:9.27280044555664,&quot;width&quot;:236.2204724409449,&quot;height&quot;:25.771653543307085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95747" y="2903035"/>
            <a:ext cx="150104" cy="99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0"/>
          <p:cNvSpPr txBox="1"/>
          <p:nvPr/>
        </p:nvSpPr>
        <p:spPr>
          <a:xfrm>
            <a:off x="191650" y="3446450"/>
            <a:ext cx="30000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À noter: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avec une activation identité, le neurone est équivalent à une régression linéaire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82" name="Google Shape;1082;p90"/>
          <p:cNvGrpSpPr/>
          <p:nvPr/>
        </p:nvGrpSpPr>
        <p:grpSpPr>
          <a:xfrm>
            <a:off x="132075" y="786650"/>
            <a:ext cx="3522000" cy="2445900"/>
            <a:chOff x="23600" y="1516675"/>
            <a:chExt cx="3522000" cy="2445900"/>
          </a:xfrm>
        </p:grpSpPr>
        <p:sp>
          <p:nvSpPr>
            <p:cNvPr id="1083" name="Google Shape;1083;p90"/>
            <p:cNvSpPr txBox="1"/>
            <p:nvPr/>
          </p:nvSpPr>
          <p:spPr>
            <a:xfrm>
              <a:off x="23600" y="1516675"/>
              <a:ext cx="3522000" cy="24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fr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Entrée</a:t>
              </a:r>
              <a:r>
                <a:rPr lang="fr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</a:t>
              </a:r>
              <a:endParaRPr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fr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Paramètres : </a:t>
              </a:r>
              <a:r>
                <a:rPr lang="fr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dimension de l'entrée + biais</a:t>
              </a:r>
              <a:endParaRPr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fr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Opération :</a:t>
              </a:r>
              <a:endParaRPr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fr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Activation</a:t>
              </a:r>
              <a:endParaRPr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lang="fr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Sortie</a:t>
              </a:r>
              <a:r>
                <a:rPr lang="fr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dimension 1</a:t>
              </a:r>
              <a:endParaRPr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084" name="Google Shape;1084;p90" title="{&quot;red&quot;:0,&quot;green&quot;:0,&quot;blue&quot;:0,&quot;origURL&quot;:&quot;https://www.codecogs.com/eqnedit.php?latex=X%20%3D%20(x_1%2C%20%5Cldots%2C%20x_%7Br_0%7D)#0&quot;,&quot;size&quot;:14,&quot;width&quot;:236.2204724409449,&quot;height&quot;:31.511811023622045}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699850" y="1994275"/>
              <a:ext cx="1280160" cy="1733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5" name="Google Shape;1085;p90" title="{&quot;red&quot;:0,&quot;green&quot;:0,&quot;blue&quot;:0,&quot;origURL&quot;:&quot;https://www.codecogs.com/eqnedit.php?latex=w%20%3D%20(b%2C%20w_1%2C%20%5Cldots%2C%20w_%7Br_0%7D)#0&quot;,&quot;size&quot;:14,&quot;width&quot;:236.2204724409449,&quot;height&quot;:31.511811023622045}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32425" y="2647550"/>
              <a:ext cx="1596106" cy="190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6" name="Google Shape;1086;p90" title="{&quot;red&quot;:0,&quot;green&quot;:0,&quot;blue&quot;:0,&quot;origURL&quot;:&quot;https://www.codecogs.com/eqnedit.php?latex=o%20%3D%20%5Csigma(w%20%5Ccdot%20X)#0&quot;,&quot;size&quot;:14,&quot;width&quot;:236.2204724409449,&quot;height&quot;:31.511811023622048}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933725" y="3318150"/>
              <a:ext cx="989457" cy="18135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87" name="Google Shape;1087;p90" title="{&quot;red&quot;:89,&quot;green&quot;:89,&quot;blue&quot;:89,&quot;origURL&quot;:&quot;https://www.codecogs.com/eqnedit.php?latex=%5Csigma(z)#0&quot;,&quot;size&quot;:18,&quot;width&quot;:332.78740157480314,&quot;height&quot;:36.354330708661415}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769324" y="2494229"/>
            <a:ext cx="386700" cy="224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91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91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91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600"/>
              <a:buFont typeface="Georgia"/>
              <a:buNone/>
            </a:pPr>
            <a:r>
              <a:rPr b="1" lang="fr" sz="2600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Fonctions d'activation</a:t>
            </a:r>
            <a:endParaRPr b="1" sz="2600">
              <a:solidFill>
                <a:srgbClr val="1E3A5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96" name="Google Shape;1096;p91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7" name="Google Shape;1097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" name="Google Shape;1098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00" y="1914725"/>
            <a:ext cx="4215600" cy="210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67475" y="1614400"/>
            <a:ext cx="4553800" cy="281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92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92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92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600"/>
              <a:buFont typeface="Georgia"/>
              <a:buNone/>
            </a:pPr>
            <a:r>
              <a:rPr b="1" lang="fr" sz="2600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Multi-Layer Perceptron (MLP)</a:t>
            </a:r>
            <a:endParaRPr b="1" sz="2600">
              <a:solidFill>
                <a:srgbClr val="1E3A5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08" name="Google Shape;1108;p92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9" name="Google Shape;1109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92"/>
          <p:cNvSpPr txBox="1"/>
          <p:nvPr/>
        </p:nvSpPr>
        <p:spPr>
          <a:xfrm>
            <a:off x="70692" y="934936"/>
            <a:ext cx="2785200" cy="37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84875" lIns="84875" spcFirstLastPara="1" rIns="84875" wrap="square" tIns="848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14"/>
              </a:spcBef>
              <a:spcAft>
                <a:spcPts val="0"/>
              </a:spcAft>
              <a:buNone/>
            </a:pPr>
            <a:r>
              <a:rPr b="1" lang="fr" sz="102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 modèle comme les autres</a:t>
            </a:r>
            <a:endParaRPr b="1" sz="102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114"/>
              </a:spcBef>
              <a:spcAft>
                <a:spcPts val="0"/>
              </a:spcAft>
              <a:buNone/>
            </a:pPr>
            <a:r>
              <a:rPr b="1" lang="fr" sz="102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Entrée</a:t>
            </a:r>
            <a:r>
              <a:rPr lang="fr" sz="102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endParaRPr sz="102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114"/>
              </a:spcBef>
              <a:spcAft>
                <a:spcPts val="0"/>
              </a:spcAft>
              <a:buNone/>
            </a:pPr>
            <a:r>
              <a:rPr b="1" lang="fr" sz="102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Paramètres</a:t>
            </a:r>
            <a:r>
              <a:rPr lang="fr" sz="102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02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114"/>
              </a:spcBef>
              <a:spcAft>
                <a:spcPts val="0"/>
              </a:spcAft>
              <a:buNone/>
            </a:pPr>
            <a:r>
              <a:t/>
            </a:r>
            <a:endParaRPr sz="102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114"/>
              </a:spcBef>
              <a:spcAft>
                <a:spcPts val="0"/>
              </a:spcAft>
              <a:buNone/>
            </a:pPr>
            <a:r>
              <a:t/>
            </a:r>
            <a:endParaRPr sz="102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114"/>
              </a:spcBef>
              <a:spcAft>
                <a:spcPts val="0"/>
              </a:spcAft>
              <a:buNone/>
            </a:pPr>
            <a:r>
              <a:t/>
            </a:r>
            <a:endParaRPr sz="102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114"/>
              </a:spcBef>
              <a:spcAft>
                <a:spcPts val="0"/>
              </a:spcAft>
              <a:buNone/>
            </a:pPr>
            <a:r>
              <a:t/>
            </a:r>
            <a:endParaRPr sz="102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114"/>
              </a:spcBef>
              <a:spcAft>
                <a:spcPts val="0"/>
              </a:spcAft>
              <a:buClr>
                <a:schemeClr val="dk1"/>
              </a:buClr>
              <a:buSzPts val="1021"/>
              <a:buFont typeface="Arial"/>
              <a:buNone/>
            </a:pPr>
            <a:r>
              <a:t/>
            </a:r>
            <a:endParaRPr b="1" sz="102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114"/>
              </a:spcBef>
              <a:spcAft>
                <a:spcPts val="0"/>
              </a:spcAft>
              <a:buClr>
                <a:schemeClr val="dk1"/>
              </a:buClr>
              <a:buSzPts val="1021"/>
              <a:buFont typeface="Arial"/>
              <a:buNone/>
            </a:pPr>
            <a:r>
              <a:rPr b="1" lang="fr" sz="102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Opération: </a:t>
            </a:r>
            <a:endParaRPr b="1" sz="102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114"/>
              </a:spcBef>
              <a:spcAft>
                <a:spcPts val="0"/>
              </a:spcAft>
              <a:buNone/>
            </a:pPr>
            <a:r>
              <a:t/>
            </a:r>
            <a:endParaRPr b="1" sz="102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114"/>
              </a:spcBef>
              <a:spcAft>
                <a:spcPts val="1114"/>
              </a:spcAft>
              <a:buNone/>
            </a:pPr>
            <a:r>
              <a:rPr b="1" lang="fr" sz="102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Sortie</a:t>
            </a:r>
            <a:r>
              <a:rPr lang="fr" sz="102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 nombre de neurones de la dernière couche</a:t>
            </a:r>
            <a:endParaRPr sz="102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1" name="Google Shape;1111;p92"/>
          <p:cNvSpPr/>
          <p:nvPr/>
        </p:nvSpPr>
        <p:spPr>
          <a:xfrm>
            <a:off x="4324589" y="850400"/>
            <a:ext cx="902700" cy="770400"/>
          </a:xfrm>
          <a:prstGeom prst="ellipse">
            <a:avLst/>
          </a:prstGeom>
          <a:solidFill>
            <a:srgbClr val="EEEEEE"/>
          </a:solidFill>
          <a:ln cap="flat" cmpd="sng" w="102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375" lIns="98375" spcFirstLastPara="1" rIns="98375" wrap="square" tIns="98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7"/>
          </a:p>
        </p:txBody>
      </p:sp>
      <p:cxnSp>
        <p:nvCxnSpPr>
          <p:cNvPr id="1112" name="Google Shape;1112;p92"/>
          <p:cNvCxnSpPr>
            <a:stCxn id="1111" idx="6"/>
          </p:cNvCxnSpPr>
          <p:nvPr/>
        </p:nvCxnSpPr>
        <p:spPr>
          <a:xfrm flipH="1" rot="10800000">
            <a:off x="5227289" y="1223600"/>
            <a:ext cx="761400" cy="12000"/>
          </a:xfrm>
          <a:prstGeom prst="straightConnector1">
            <a:avLst/>
          </a:prstGeom>
          <a:noFill/>
          <a:ln cap="flat" cmpd="sng" w="1027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3" name="Google Shape;1113;p92"/>
          <p:cNvCxnSpPr>
            <a:stCxn id="1111" idx="2"/>
          </p:cNvCxnSpPr>
          <p:nvPr/>
        </p:nvCxnSpPr>
        <p:spPr>
          <a:xfrm flipH="1">
            <a:off x="3753689" y="1235600"/>
            <a:ext cx="570900" cy="122100"/>
          </a:xfrm>
          <a:prstGeom prst="straightConnector1">
            <a:avLst/>
          </a:prstGeom>
          <a:noFill/>
          <a:ln cap="flat" cmpd="sng" w="1027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4" name="Google Shape;1114;p92"/>
          <p:cNvCxnSpPr>
            <a:stCxn id="1111" idx="2"/>
          </p:cNvCxnSpPr>
          <p:nvPr/>
        </p:nvCxnSpPr>
        <p:spPr>
          <a:xfrm flipH="1">
            <a:off x="3753689" y="1235600"/>
            <a:ext cx="570900" cy="610500"/>
          </a:xfrm>
          <a:prstGeom prst="straightConnector1">
            <a:avLst/>
          </a:prstGeom>
          <a:noFill/>
          <a:ln cap="flat" cmpd="sng" w="1027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5" name="Google Shape;1115;p92"/>
          <p:cNvCxnSpPr>
            <a:stCxn id="1111" idx="2"/>
          </p:cNvCxnSpPr>
          <p:nvPr/>
        </p:nvCxnSpPr>
        <p:spPr>
          <a:xfrm flipH="1">
            <a:off x="3753689" y="1235600"/>
            <a:ext cx="570900" cy="1099200"/>
          </a:xfrm>
          <a:prstGeom prst="straightConnector1">
            <a:avLst/>
          </a:prstGeom>
          <a:noFill/>
          <a:ln cap="flat" cmpd="sng" w="1027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6" name="Google Shape;1116;p92"/>
          <p:cNvSpPr txBox="1"/>
          <p:nvPr/>
        </p:nvSpPr>
        <p:spPr>
          <a:xfrm>
            <a:off x="3156451" y="1646091"/>
            <a:ext cx="34569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8375" lIns="98375" spcFirstLastPara="1" rIns="98375" wrap="square" tIns="98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6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neuron layer</a:t>
            </a:r>
            <a:endParaRPr b="1" sz="86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7" name="Google Shape;1117;p92"/>
          <p:cNvSpPr/>
          <p:nvPr/>
        </p:nvSpPr>
        <p:spPr>
          <a:xfrm>
            <a:off x="4324589" y="2002555"/>
            <a:ext cx="902700" cy="770400"/>
          </a:xfrm>
          <a:prstGeom prst="ellipse">
            <a:avLst/>
          </a:prstGeom>
          <a:solidFill>
            <a:srgbClr val="EEEEEE"/>
          </a:solidFill>
          <a:ln cap="flat" cmpd="sng" w="102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375" lIns="98375" spcFirstLastPara="1" rIns="98375" wrap="square" tIns="98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7"/>
          </a:p>
        </p:txBody>
      </p:sp>
      <p:cxnSp>
        <p:nvCxnSpPr>
          <p:cNvPr id="1118" name="Google Shape;1118;p92"/>
          <p:cNvCxnSpPr>
            <a:endCxn id="1117" idx="2"/>
          </p:cNvCxnSpPr>
          <p:nvPr/>
        </p:nvCxnSpPr>
        <p:spPr>
          <a:xfrm>
            <a:off x="3753689" y="1357555"/>
            <a:ext cx="570900" cy="103020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9" name="Google Shape;1119;p92"/>
          <p:cNvCxnSpPr>
            <a:endCxn id="1117" idx="2"/>
          </p:cNvCxnSpPr>
          <p:nvPr/>
        </p:nvCxnSpPr>
        <p:spPr>
          <a:xfrm>
            <a:off x="3753689" y="1845955"/>
            <a:ext cx="570900" cy="54180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0" name="Google Shape;1120;p92"/>
          <p:cNvCxnSpPr>
            <a:endCxn id="1117" idx="2"/>
          </p:cNvCxnSpPr>
          <p:nvPr/>
        </p:nvCxnSpPr>
        <p:spPr>
          <a:xfrm>
            <a:off x="3753689" y="2334655"/>
            <a:ext cx="570900" cy="5310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1" name="Google Shape;1121;p92"/>
          <p:cNvCxnSpPr>
            <a:stCxn id="1117" idx="6"/>
          </p:cNvCxnSpPr>
          <p:nvPr/>
        </p:nvCxnSpPr>
        <p:spPr>
          <a:xfrm>
            <a:off x="5227289" y="2387755"/>
            <a:ext cx="835500" cy="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2" name="Google Shape;1122;p92"/>
          <p:cNvCxnSpPr>
            <a:stCxn id="1123" idx="6"/>
            <a:endCxn id="1124" idx="2"/>
          </p:cNvCxnSpPr>
          <p:nvPr/>
        </p:nvCxnSpPr>
        <p:spPr>
          <a:xfrm flipH="1" rot="10800000">
            <a:off x="4729565" y="3095792"/>
            <a:ext cx="777000" cy="97200"/>
          </a:xfrm>
          <a:prstGeom prst="straightConnector1">
            <a:avLst/>
          </a:prstGeom>
          <a:noFill/>
          <a:ln cap="flat" cmpd="sng" w="1027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92"/>
          <p:cNvCxnSpPr>
            <a:stCxn id="1123" idx="2"/>
          </p:cNvCxnSpPr>
          <p:nvPr/>
        </p:nvCxnSpPr>
        <p:spPr>
          <a:xfrm flipH="1">
            <a:off x="3255982" y="3192992"/>
            <a:ext cx="570900" cy="122100"/>
          </a:xfrm>
          <a:prstGeom prst="straightConnector1">
            <a:avLst/>
          </a:prstGeom>
          <a:noFill/>
          <a:ln cap="flat" cmpd="sng" w="1027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92"/>
          <p:cNvCxnSpPr>
            <a:stCxn id="1123" idx="2"/>
          </p:cNvCxnSpPr>
          <p:nvPr/>
        </p:nvCxnSpPr>
        <p:spPr>
          <a:xfrm flipH="1">
            <a:off x="3255982" y="3192992"/>
            <a:ext cx="570900" cy="610500"/>
          </a:xfrm>
          <a:prstGeom prst="straightConnector1">
            <a:avLst/>
          </a:prstGeom>
          <a:noFill/>
          <a:ln cap="flat" cmpd="sng" w="1027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7" name="Google Shape;1127;p92"/>
          <p:cNvCxnSpPr>
            <a:stCxn id="1123" idx="2"/>
          </p:cNvCxnSpPr>
          <p:nvPr/>
        </p:nvCxnSpPr>
        <p:spPr>
          <a:xfrm flipH="1">
            <a:off x="3255982" y="3192992"/>
            <a:ext cx="570900" cy="1099200"/>
          </a:xfrm>
          <a:prstGeom prst="straightConnector1">
            <a:avLst/>
          </a:prstGeom>
          <a:noFill/>
          <a:ln cap="flat" cmpd="sng" w="1027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8" name="Google Shape;1128;p92"/>
          <p:cNvSpPr txBox="1"/>
          <p:nvPr/>
        </p:nvSpPr>
        <p:spPr>
          <a:xfrm>
            <a:off x="2903956" y="3554865"/>
            <a:ext cx="34569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8375" lIns="98375" spcFirstLastPara="1" rIns="98375" wrap="square" tIns="98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6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</a:t>
            </a:r>
            <a:r>
              <a:rPr b="1" lang="fr" sz="861">
                <a:latin typeface="Montserrat"/>
                <a:ea typeface="Montserrat"/>
                <a:cs typeface="Montserrat"/>
                <a:sym typeface="Montserrat"/>
              </a:rPr>
              <a:t>multilayer</a:t>
            </a:r>
            <a:r>
              <a:rPr b="1" lang="fr" sz="86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network</a:t>
            </a:r>
            <a:endParaRPr b="1" sz="86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29" name="Google Shape;1129;p92"/>
          <p:cNvCxnSpPr>
            <a:endCxn id="1130" idx="2"/>
          </p:cNvCxnSpPr>
          <p:nvPr/>
        </p:nvCxnSpPr>
        <p:spPr>
          <a:xfrm>
            <a:off x="3255982" y="3314983"/>
            <a:ext cx="570900" cy="103020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1" name="Google Shape;1131;p92"/>
          <p:cNvCxnSpPr>
            <a:endCxn id="1130" idx="2"/>
          </p:cNvCxnSpPr>
          <p:nvPr/>
        </p:nvCxnSpPr>
        <p:spPr>
          <a:xfrm>
            <a:off x="3255982" y="3803383"/>
            <a:ext cx="570900" cy="54180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2" name="Google Shape;1132;p92"/>
          <p:cNvCxnSpPr>
            <a:endCxn id="1130" idx="2"/>
          </p:cNvCxnSpPr>
          <p:nvPr/>
        </p:nvCxnSpPr>
        <p:spPr>
          <a:xfrm>
            <a:off x="3255982" y="4292083"/>
            <a:ext cx="570900" cy="5310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3" name="Google Shape;1133;p92"/>
          <p:cNvCxnSpPr>
            <a:stCxn id="1130" idx="6"/>
            <a:endCxn id="1124" idx="2"/>
          </p:cNvCxnSpPr>
          <p:nvPr/>
        </p:nvCxnSpPr>
        <p:spPr>
          <a:xfrm flipH="1" rot="10800000">
            <a:off x="4729565" y="3095983"/>
            <a:ext cx="777000" cy="124920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4" name="Google Shape;1134;p92"/>
          <p:cNvCxnSpPr>
            <a:stCxn id="1123" idx="6"/>
            <a:endCxn id="1135" idx="2"/>
          </p:cNvCxnSpPr>
          <p:nvPr/>
        </p:nvCxnSpPr>
        <p:spPr>
          <a:xfrm>
            <a:off x="4729565" y="3192992"/>
            <a:ext cx="777000" cy="73410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6" name="Google Shape;1136;p92"/>
          <p:cNvCxnSpPr>
            <a:stCxn id="1123" idx="6"/>
            <a:endCxn id="1137" idx="2"/>
          </p:cNvCxnSpPr>
          <p:nvPr/>
        </p:nvCxnSpPr>
        <p:spPr>
          <a:xfrm>
            <a:off x="4729565" y="3192992"/>
            <a:ext cx="777000" cy="156540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8" name="Google Shape;1138;p92"/>
          <p:cNvCxnSpPr>
            <a:stCxn id="1130" idx="6"/>
            <a:endCxn id="1135" idx="2"/>
          </p:cNvCxnSpPr>
          <p:nvPr/>
        </p:nvCxnSpPr>
        <p:spPr>
          <a:xfrm flipH="1" rot="10800000">
            <a:off x="4729565" y="3927283"/>
            <a:ext cx="777000" cy="41790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9" name="Google Shape;1139;p92"/>
          <p:cNvCxnSpPr>
            <a:stCxn id="1130" idx="6"/>
            <a:endCxn id="1137" idx="2"/>
          </p:cNvCxnSpPr>
          <p:nvPr/>
        </p:nvCxnSpPr>
        <p:spPr>
          <a:xfrm>
            <a:off x="4729565" y="4345183"/>
            <a:ext cx="777000" cy="41340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0" name="Google Shape;1140;p92"/>
          <p:cNvCxnSpPr>
            <a:stCxn id="1124" idx="6"/>
            <a:endCxn id="1141" idx="2"/>
          </p:cNvCxnSpPr>
          <p:nvPr/>
        </p:nvCxnSpPr>
        <p:spPr>
          <a:xfrm>
            <a:off x="6409176" y="3095885"/>
            <a:ext cx="555300" cy="80910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2" name="Google Shape;1142;p92"/>
          <p:cNvCxnSpPr>
            <a:stCxn id="1135" idx="6"/>
            <a:endCxn id="1141" idx="2"/>
          </p:cNvCxnSpPr>
          <p:nvPr/>
        </p:nvCxnSpPr>
        <p:spPr>
          <a:xfrm flipH="1" rot="10800000">
            <a:off x="6409174" y="3905273"/>
            <a:ext cx="555300" cy="2190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3" name="Google Shape;1143;p92"/>
          <p:cNvCxnSpPr>
            <a:stCxn id="1137" idx="6"/>
            <a:endCxn id="1141" idx="2"/>
          </p:cNvCxnSpPr>
          <p:nvPr/>
        </p:nvCxnSpPr>
        <p:spPr>
          <a:xfrm flipH="1" rot="10800000">
            <a:off x="6409174" y="3905260"/>
            <a:ext cx="555300" cy="853200"/>
          </a:xfrm>
          <a:prstGeom prst="straightConnector1">
            <a:avLst/>
          </a:prstGeom>
          <a:noFill/>
          <a:ln cap="flat" cmpd="sng" w="8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4" name="Google Shape;1144;p92"/>
          <p:cNvSpPr txBox="1"/>
          <p:nvPr/>
        </p:nvSpPr>
        <p:spPr>
          <a:xfrm>
            <a:off x="2586778" y="4732202"/>
            <a:ext cx="34569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8375" lIns="98375" spcFirstLastPara="1" rIns="98375" wrap="square" tIns="98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61">
                <a:latin typeface="Montserrat"/>
                <a:ea typeface="Montserrat"/>
                <a:cs typeface="Montserrat"/>
                <a:sym typeface="Montserrat"/>
              </a:rPr>
              <a:t>input layer</a:t>
            </a:r>
            <a:endParaRPr b="1" sz="86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5" name="Google Shape;1145;p92"/>
          <p:cNvSpPr txBox="1"/>
          <p:nvPr/>
        </p:nvSpPr>
        <p:spPr>
          <a:xfrm>
            <a:off x="5687102" y="4422892"/>
            <a:ext cx="34569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8375" lIns="98375" spcFirstLastPara="1" rIns="98375" wrap="square" tIns="98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861">
                <a:latin typeface="Montserrat"/>
                <a:ea typeface="Montserrat"/>
                <a:cs typeface="Montserrat"/>
                <a:sym typeface="Montserrat"/>
              </a:rPr>
              <a:t>Output layer</a:t>
            </a:r>
            <a:endParaRPr b="1" sz="86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46" name="Google Shape;1146;p92" title="{&quot;red&quot;:0,&quot;green&quot;:0,&quot;blue&quot;:0,&quot;origURL&quot;:&quot;https://www.codecogs.com/eqnedit.php?latex=x_1#0&quot;,&quot;size&quot;:9.27280044555664,&quot;width&quot;:236.2204724409449,&quot;height&quot;:25.771653543307085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3058" y="1327715"/>
            <a:ext cx="134857" cy="89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7" name="Google Shape;1147;p92" title="{&quot;red&quot;:0,&quot;green&quot;:0,&quot;blue&quot;:0,&quot;origURL&quot;:&quot;https://www.codecogs.com/eqnedit.php?latex=x_2#0&quot;,&quot;size&quot;:9.27280044555664,&quot;width&quot;:236.2204724409449,&quot;height&quot;:25.771653543307085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93031" y="1852422"/>
            <a:ext cx="138229" cy="89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p92" title="{&quot;red&quot;:0,&quot;green&quot;:0,&quot;blue&quot;:0,&quot;origURL&quot;:&quot;https://www.codecogs.com/eqnedit.php?latex=x_3#0&quot;,&quot;size&quot;:9.27280044555664,&quot;width&quot;:236.2204724409449,&quot;height&quot;:25.771653543307085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92474" y="2325552"/>
            <a:ext cx="139352" cy="92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92" title="{&quot;red&quot;:0,&quot;green&quot;:0,&quot;blue&quot;:0,&quot;origURL&quot;:&quot;https://www.codecogs.com/eqnedit.php?latex=x_1#0&quot;,&quot;size&quot;:9.27280044555664,&quot;width&quot;:236.2204724409449,&quot;height&quot;:25.771653543307085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8230" y="3192233"/>
            <a:ext cx="134857" cy="89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92" title="{&quot;red&quot;:0,&quot;green&quot;:0,&quot;blue&quot;:0,&quot;origURL&quot;:&quot;https://www.codecogs.com/eqnedit.php?latex=x_2#0&quot;,&quot;size&quot;:9.27280044555664,&quot;width&quot;:236.2204724409449,&quot;height&quot;:25.771653543307085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8204" y="3716940"/>
            <a:ext cx="138229" cy="89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" name="Google Shape;1151;p92" title="{&quot;red&quot;:0,&quot;green&quot;:0,&quot;blue&quot;:0,&quot;origURL&quot;:&quot;https://www.codecogs.com/eqnedit.php?latex=x_3#0&quot;,&quot;size&quot;:9.27280044555664,&quot;width&quot;:236.2204724409449,&quot;height&quot;:25.771653543307085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17646" y="4190070"/>
            <a:ext cx="139352" cy="921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2" name="Google Shape;1152;p92"/>
          <p:cNvGrpSpPr/>
          <p:nvPr/>
        </p:nvGrpSpPr>
        <p:grpSpPr>
          <a:xfrm>
            <a:off x="3826882" y="3959990"/>
            <a:ext cx="902683" cy="770386"/>
            <a:chOff x="4045875" y="3735012"/>
            <a:chExt cx="972300" cy="829800"/>
          </a:xfrm>
        </p:grpSpPr>
        <p:sp>
          <p:nvSpPr>
            <p:cNvPr id="1130" name="Google Shape;1130;p92"/>
            <p:cNvSpPr/>
            <p:nvPr/>
          </p:nvSpPr>
          <p:spPr>
            <a:xfrm>
              <a:off x="4045875" y="3735012"/>
              <a:ext cx="972300" cy="829800"/>
            </a:xfrm>
            <a:prstGeom prst="ellipse">
              <a:avLst/>
            </a:prstGeom>
            <a:solidFill>
              <a:srgbClr val="EEEEEE"/>
            </a:solidFill>
            <a:ln cap="flat" cmpd="sng" w="10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8375" lIns="98375" spcFirstLastPara="1" rIns="98375" wrap="square" tIns="98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7"/>
            </a:p>
          </p:txBody>
        </p:sp>
        <p:pic>
          <p:nvPicPr>
            <p:cNvPr id="1153" name="Google Shape;1153;p92" title="{&quot;red&quot;:0,&quot;green&quot;:0,&quot;blue&quot;:0,&quot;origURL&quot;:&quot;https://www.codecogs.com/eqnedit.php?latex=%5Csigma(w%5E1_2.X)#0&quot;,&quot;size&quot;:14,&quot;width&quot;:236.2204724409449,&quot;height&quot;:31.511811023622048}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203317" y="4048566"/>
              <a:ext cx="657415" cy="2026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4" name="Google Shape;1154;p92"/>
          <p:cNvGrpSpPr/>
          <p:nvPr/>
        </p:nvGrpSpPr>
        <p:grpSpPr>
          <a:xfrm>
            <a:off x="3826882" y="2807799"/>
            <a:ext cx="902683" cy="770386"/>
            <a:chOff x="4045875" y="2493962"/>
            <a:chExt cx="972300" cy="829800"/>
          </a:xfrm>
        </p:grpSpPr>
        <p:sp>
          <p:nvSpPr>
            <p:cNvPr id="1123" name="Google Shape;1123;p92"/>
            <p:cNvSpPr/>
            <p:nvPr/>
          </p:nvSpPr>
          <p:spPr>
            <a:xfrm>
              <a:off x="4045875" y="2493962"/>
              <a:ext cx="972300" cy="829800"/>
            </a:xfrm>
            <a:prstGeom prst="ellipse">
              <a:avLst/>
            </a:prstGeom>
            <a:solidFill>
              <a:srgbClr val="EEEEEE"/>
            </a:solidFill>
            <a:ln cap="flat" cmpd="sng" w="10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8375" lIns="98375" spcFirstLastPara="1" rIns="98375" wrap="square" tIns="98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7"/>
            </a:p>
          </p:txBody>
        </p:sp>
        <p:pic>
          <p:nvPicPr>
            <p:cNvPr id="1155" name="Google Shape;1155;p92" title="{&quot;red&quot;:0,&quot;green&quot;:0,&quot;blue&quot;:0,&quot;origURL&quot;:&quot;https://www.codecogs.com/eqnedit.php?latex=%5Csigma(w%5E1_1.X)#0&quot;,&quot;size&quot;:14,&quot;width&quot;:236.2204724409449,&quot;height&quot;:31.511811023622048}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203317" y="2807516"/>
              <a:ext cx="657415" cy="2026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6" name="Google Shape;1156;p92"/>
          <p:cNvGrpSpPr/>
          <p:nvPr/>
        </p:nvGrpSpPr>
        <p:grpSpPr>
          <a:xfrm>
            <a:off x="5506492" y="2710692"/>
            <a:ext cx="902683" cy="770386"/>
            <a:chOff x="5888588" y="2389367"/>
            <a:chExt cx="972300" cy="829800"/>
          </a:xfrm>
        </p:grpSpPr>
        <p:sp>
          <p:nvSpPr>
            <p:cNvPr id="1124" name="Google Shape;1124;p92"/>
            <p:cNvSpPr/>
            <p:nvPr/>
          </p:nvSpPr>
          <p:spPr>
            <a:xfrm>
              <a:off x="5888588" y="2389367"/>
              <a:ext cx="972300" cy="829800"/>
            </a:xfrm>
            <a:prstGeom prst="ellipse">
              <a:avLst/>
            </a:prstGeom>
            <a:solidFill>
              <a:srgbClr val="EEEEEE"/>
            </a:solidFill>
            <a:ln cap="flat" cmpd="sng" w="10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8375" lIns="98375" spcFirstLastPara="1" rIns="98375" wrap="square" tIns="98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7"/>
            </a:p>
          </p:txBody>
        </p:sp>
        <p:pic>
          <p:nvPicPr>
            <p:cNvPr id="1157" name="Google Shape;1157;p92" title="{&quot;red&quot;:0,&quot;green&quot;:0,&quot;blue&quot;:0,&quot;origURL&quot;:&quot;https://www.codecogs.com/eqnedit.php?latex=%5Csigma(w%5E2_1.o%5E1)#0&quot;,&quot;size&quot;:14,&quot;width&quot;:236.2204724409449,&quot;height&quot;:31.511811023622048}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045364" y="2702921"/>
              <a:ext cx="658749" cy="2026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8" name="Google Shape;1158;p92"/>
          <p:cNvGrpSpPr/>
          <p:nvPr/>
        </p:nvGrpSpPr>
        <p:grpSpPr>
          <a:xfrm>
            <a:off x="5506491" y="4373267"/>
            <a:ext cx="902683" cy="770386"/>
            <a:chOff x="5838063" y="4180162"/>
            <a:chExt cx="972300" cy="829800"/>
          </a:xfrm>
        </p:grpSpPr>
        <p:sp>
          <p:nvSpPr>
            <p:cNvPr id="1137" name="Google Shape;1137;p92"/>
            <p:cNvSpPr/>
            <p:nvPr/>
          </p:nvSpPr>
          <p:spPr>
            <a:xfrm>
              <a:off x="5838063" y="4180162"/>
              <a:ext cx="972300" cy="829800"/>
            </a:xfrm>
            <a:prstGeom prst="ellipse">
              <a:avLst/>
            </a:prstGeom>
            <a:solidFill>
              <a:srgbClr val="EEEEEE"/>
            </a:solidFill>
            <a:ln cap="flat" cmpd="sng" w="10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8375" lIns="98375" spcFirstLastPara="1" rIns="98375" wrap="square" tIns="98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7"/>
            </a:p>
          </p:txBody>
        </p:sp>
        <p:pic>
          <p:nvPicPr>
            <p:cNvPr id="1159" name="Google Shape;1159;p92" title="{&quot;red&quot;:0,&quot;green&quot;:0,&quot;blue&quot;:0,&quot;origURL&quot;:&quot;https://www.codecogs.com/eqnedit.php?latex=%5Csigma(w%5E2_3.o%5E1)#0&quot;,&quot;size&quot;:14,&quot;width&quot;:236.2204724409449,&quot;height&quot;:31.511811023622048}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5994838" y="4492383"/>
              <a:ext cx="658749" cy="2053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0" name="Google Shape;1160;p92"/>
          <p:cNvGrpSpPr/>
          <p:nvPr/>
        </p:nvGrpSpPr>
        <p:grpSpPr>
          <a:xfrm>
            <a:off x="5506490" y="3541980"/>
            <a:ext cx="902683" cy="770386"/>
            <a:chOff x="5821450" y="3289850"/>
            <a:chExt cx="972300" cy="829800"/>
          </a:xfrm>
        </p:grpSpPr>
        <p:sp>
          <p:nvSpPr>
            <p:cNvPr id="1135" name="Google Shape;1135;p92"/>
            <p:cNvSpPr/>
            <p:nvPr/>
          </p:nvSpPr>
          <p:spPr>
            <a:xfrm>
              <a:off x="5821450" y="3289850"/>
              <a:ext cx="972300" cy="829800"/>
            </a:xfrm>
            <a:prstGeom prst="ellipse">
              <a:avLst/>
            </a:prstGeom>
            <a:solidFill>
              <a:srgbClr val="EEEEEE"/>
            </a:solidFill>
            <a:ln cap="flat" cmpd="sng" w="10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8375" lIns="98375" spcFirstLastPara="1" rIns="98375" wrap="square" tIns="98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7"/>
            </a:p>
          </p:txBody>
        </p:sp>
        <p:pic>
          <p:nvPicPr>
            <p:cNvPr id="1161" name="Google Shape;1161;p92" title="{&quot;red&quot;:0,&quot;green&quot;:0,&quot;blue&quot;:0,&quot;origURL&quot;:&quot;https://www.codecogs.com/eqnedit.php?latex=%5Csigma(w%5E2_2.o%5E1)#0&quot;,&quot;size&quot;:14,&quot;width&quot;:236.2204724409449,&quot;height&quot;:31.511811023622048}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5978226" y="3603404"/>
              <a:ext cx="658749" cy="2026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2" name="Google Shape;1162;p92"/>
          <p:cNvGrpSpPr/>
          <p:nvPr/>
        </p:nvGrpSpPr>
        <p:grpSpPr>
          <a:xfrm>
            <a:off x="6964398" y="3519933"/>
            <a:ext cx="902683" cy="770386"/>
            <a:chOff x="7425363" y="3232187"/>
            <a:chExt cx="972300" cy="829800"/>
          </a:xfrm>
        </p:grpSpPr>
        <p:sp>
          <p:nvSpPr>
            <p:cNvPr id="1141" name="Google Shape;1141;p92"/>
            <p:cNvSpPr/>
            <p:nvPr/>
          </p:nvSpPr>
          <p:spPr>
            <a:xfrm>
              <a:off x="7425363" y="3232187"/>
              <a:ext cx="972300" cy="829800"/>
            </a:xfrm>
            <a:prstGeom prst="ellipse">
              <a:avLst/>
            </a:prstGeom>
            <a:solidFill>
              <a:srgbClr val="EEEEEE"/>
            </a:solidFill>
            <a:ln cap="flat" cmpd="sng" w="10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8375" lIns="98375" spcFirstLastPara="1" rIns="98375" wrap="square" tIns="98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7"/>
            </a:p>
          </p:txBody>
        </p:sp>
        <p:pic>
          <p:nvPicPr>
            <p:cNvPr id="1163" name="Google Shape;1163;p92" title="{&quot;red&quot;:0,&quot;green&quot;:0,&quot;blue&quot;:0,&quot;origURL&quot;:&quot;https://www.codecogs.com/eqnedit.php?latex=%5Csigma(w%5E3_1.o%5E2)#0&quot;,&quot;size&quot;:14,&quot;width&quot;:236.2204724409449,&quot;height&quot;:31.511811023622048}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7582138" y="3545741"/>
              <a:ext cx="658749" cy="20269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64" name="Google Shape;1164;p92" title="{&quot;red&quot;:0,&quot;green&quot;:0,&quot;blue&quot;:0,&quot;origURL&quot;:&quot;https://www.codecogs.com/eqnedit.php?latex=o%20%3D%20%5Cbegin%7Bpmatrix%7D%20%5Csigma(w_1%20%5Ccdot%20X)%20%5C%20%5Csigma(w_2%20%5Ccdot%20X)%20%5Cend%7Bpmatrix%7D%20%3D%20%5Csigma(WX)#0&quot;,&quot;size&quot;:14,&quot;width&quot;:236.2204724409449,&quot;height&quot;:70.53543307086615}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744509" y="1685170"/>
            <a:ext cx="2530316" cy="190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5" name="Google Shape;1165;p92" title="{&quot;red&quot;:0,&quot;green&quot;:0,&quot;blue&quot;:0,&quot;origURL&quot;:&quot;https://www.codecogs.com/eqnedit.php?latex=X%20%3D%20(x_1%2C%20%5Cldots%2C%20x_%7Br_0%7D)#0&quot;,&quot;size&quot;:14,&quot;width&quot;:236.2204724409449,&quot;height&quot;:31.511811023622045}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49432" y="1337515"/>
            <a:ext cx="1188460" cy="160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6" name="Google Shape;1166;p92" title="{&quot;red&quot;:0,&quot;green&quot;:0,&quot;blue&quot;:0,&quot;origURL&quot;:&quot;https://www.codecogs.com/eqnedit.php?latex=W%5Ek%20%5Cin%20%5Cmathbb%7BR%7D%5E%7Br_%7Bk-1%7D%20%5Ctimes%20r_k%7D#0&quot;,&quot;size&quot;:14,&quot;width&quot;:363.54330708661416,&quot;height&quot;:31.511811023622048}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362221" y="1967170"/>
            <a:ext cx="1188451" cy="169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7" name="Google Shape;1167;p92" title="{&quot;red&quot;:0,&quot;green&quot;:0,&quot;blue&quot;:0,&quot;origURL&quot;:&quot;https://www.codecogs.com/eqnedit.php?latex=W%5E1%2C%20%5Cldots%2C%20W%5El#0&quot;,&quot;size&quot;:14,&quot;width&quot;:236.2204724409449,&quot;height&quot;:31.511811023622045}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73764" y="1963026"/>
            <a:ext cx="838114" cy="178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8" name="Google Shape;1168;p92" title="{&quot;red&quot;:0,&quot;green&quot;:0,&quot;blue&quot;:0,&quot;origURL&quot;:&quot;https://www.codecogs.com/eqnedit.php?latex=l%20%5Ctext%7B%20Layers%7D#0&quot;,&quot;size&quot;:14,&quot;width&quot;:236.2204724409449,&quot;height&quot;:31.511811023622048}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73764" y="2387733"/>
            <a:ext cx="575662" cy="152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9" name="Google Shape;1169;p92" title="{&quot;red&quot;:0,&quot;green&quot;:0,&quot;blue&quot;:0,&quot;origURL&quot;:&quot;https://www.codecogs.com/eqnedit.php?latex=r_k%20%5Ctext%7B%20neurons%20per%20layer%7D#0&quot;,&quot;size&quot;:14,&quot;width&quot;:236.2204724409449,&quot;height&quot;:31.511811023622045}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73764" y="2788356"/>
            <a:ext cx="1734902" cy="178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0" name="Google Shape;1170;p92" title="{&quot;red&quot;:0,&quot;green&quot;:0,&quot;blue&quot;:0,&quot;origURL&quot;:&quot;https://www.codecogs.com/eqnedit.php?latex=%5Ctext%7Btotal%7D%20%3D%20%5Csum_%7Bk%3D1%7D%5E%7Bl%7D%20r_k%20%5Ccdot%20(r_%7Bk-1%7D%20%2B%201)#0&quot;,&quot;size&quot;:14,&quot;width&quot;:236.2204724409449,&quot;height&quot;:51.023622047244096}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73764" y="3214969"/>
            <a:ext cx="1523803" cy="160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1" name="Google Shape;1171;p92" title="{&quot;red&quot;:0,&quot;green&quot;:0,&quot;blue&quot;:0,&quot;origURL&quot;:&quot;https://www.codecogs.com/eqnedit.php?latex=f_%5Ctheta(X)%20%3D%20W%5El%20%5Csigma(W%5E%7Bl-1%7D%20%5Csigma(%5Cldots%20%5Csigma(W%5E1%20X)))#0&quot;,&quot;size&quot;:14,&quot;width&quot;:236.2204724409449,&quot;height&quot;:51.023622047244096}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43801" y="3889687"/>
            <a:ext cx="2638868" cy="190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93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93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93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Quiz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80" name="Google Shape;1180;p93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1" name="Google Shape;1181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2" name="Google Shape;1182;p93"/>
          <p:cNvSpPr/>
          <p:nvPr/>
        </p:nvSpPr>
        <p:spPr>
          <a:xfrm>
            <a:off x="132074" y="1282475"/>
            <a:ext cx="9012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Combien de paramètres à apprendre dans un MLP avec dimension de X=3, 1 couche cachée de taille 5, une couche cachée de taille 3, et une couche de sortie de taille 1 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Quelle est la formule générale 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Y a-t-il un intérêt à faire suivre 2 couches sans fonction d'activation 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3" name="Google Shape;1183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5940" y="0"/>
            <a:ext cx="1168060" cy="86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4" name="Google Shape;1184;p93" title="{&quot;red&quot;:0,&quot;green&quot;:0,&quot;blue&quot;:0,&quot;origURL&quot;:&quot;https://www.codecogs.com/eqnedit.php?latex=l%20%5Ctext%7B%20Layers%7D#0&quot;,&quot;size&quot;:14,&quot;width&quot;:236.2204724409449,&quot;height&quot;:31.511811023622048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3414" y="1964433"/>
            <a:ext cx="575662" cy="152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5" name="Google Shape;1185;p93" title="{&quot;red&quot;:0,&quot;green&quot;:0,&quot;blue&quot;:0,&quot;origURL&quot;:&quot;https://www.codecogs.com/eqnedit.php?latex=r_k%20%5Ctext%7B%20neurons%20per%20layer%7D#0&quot;,&quot;size&quot;:14,&quot;width&quot;:236.2204724409449,&quot;height&quot;:31.511811023622045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2689" y="1951444"/>
            <a:ext cx="1734902" cy="178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6" name="Google Shape;1186;p93" title="{&quot;red&quot;:0,&quot;green&quot;:0,&quot;blue&quot;:0,&quot;origURL&quot;:&quot;https://www.codecogs.com/eqnedit.php?latex=X%20%3D%20(x_1%2C%20%5Cldots%2C%20x_%7Br_0%7D)#0&quot;,&quot;size&quot;:14,&quot;width&quot;:236.2204724409449,&quot;height&quot;:31.511811023622045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2807" y="1960102"/>
            <a:ext cx="1188460" cy="16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94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94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94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Quiz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95" name="Google Shape;1195;p94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6" name="Google Shape;1196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94"/>
          <p:cNvSpPr/>
          <p:nvPr/>
        </p:nvSpPr>
        <p:spPr>
          <a:xfrm>
            <a:off x="132070" y="1282483"/>
            <a:ext cx="10058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b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Poids 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Biais 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par couche 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8" name="Google Shape;1198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5940" y="0"/>
            <a:ext cx="1168060" cy="86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" name="Google Shape;1199;p94" title="{&quot;red&quot;:0,&quot;green&quot;:0,&quot;blue&quot;:0,&quot;origURL&quot;:&quot;https://www.codecogs.com/eqnedit.php?latex=%5Ctext%7Btotal%7D%20%3D%20%5Csum_%7Bk%3D1%7D%5E%7Bl%7D%20r_k%20%5Ccdot%20(r_%7Bk-1%7D%20%2B%201)#0&quot;,&quot;size&quot;:14,&quot;width&quot;:236.2204724409449,&quot;height&quot;:51.023622047244096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78950" y="1739375"/>
            <a:ext cx="2297001" cy="62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0" name="Google Shape;1200;p94" title="{&quot;red&quot;:0,&quot;green&quot;:0,&quot;blue&quot;:0,&quot;origURL&quot;:&quot;https://www.codecogs.com/eqnedit.php?latex=r_0%20%3D%203%20%5Cto%20r_1%20%3D%205%20%5Cto%20r_2%20%3D%203%20%5Cto%20r_3%20%3D%201#0&quot;,&quot;size&quot;:14,&quot;width&quot;:236.2204724409449,&quot;height&quot;:51.023622047244096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6925" y="3074320"/>
            <a:ext cx="2885650" cy="1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1" name="Google Shape;1201;p94" title="{&quot;red&quot;:0,&quot;green&quot;:0,&quot;blue&quot;:0,&quot;origURL&quot;:&quot;https://www.codecogs.com/eqnedit.php?latex=W%5Ek%20%5Cin%20%5Cmathbb%7BR%7D%5E%7Br_%7Bk-1%7D%20%5Ctimes%20r_k%7D%20%5Crightarrow%20%20r_%7Bk-1%7D%20%5Ccdot%20r_k#0&quot;,&quot;size&quot;:14,&quot;width&quot;:369.3070866141732,&quot;height&quot;:51.023622047244096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9925" y="1680568"/>
            <a:ext cx="2139647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2" name="Google Shape;1202;p94" title="{&quot;red&quot;:0,&quot;green&quot;:0,&quot;blue&quot;:0,&quot;origURL&quot;:&quot;https://www.codecogs.com/eqnedit.php?latex=r_k(r_%7Bk-1%7D%20%2B%201)#0&quot;,&quot;size&quot;:14,&quot;width&quot;:236.2204724409449,&quot;height&quot;:31.511811023622048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42950" y="2571738"/>
            <a:ext cx="992124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3" name="Google Shape;1203;p94" title="{&quot;red&quot;:0,&quot;green&quot;:0,&quot;blue&quot;:0,&quot;origURL&quot;:&quot;https://www.codecogs.com/eqnedit.php?latex=b%5Ek%20%5Cin%20%5Cmathbb%7BR%7D%5E%7Br_k%7D%20%5Crightarrow%20%20r_k#0&quot;,&quot;size&quot;:14,&quot;width&quot;:236.2204724409449,&quot;height&quot;:31.511811023622048}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99050" y="2063850"/>
            <a:ext cx="1165479" cy="205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4" name="Google Shape;1204;p94" title="{&quot;red&quot;:0,&quot;green&quot;:0,&quot;blue&quot;:0,&quot;origURL&quot;:&quot;https://www.codecogs.com/eqnedit.php?latex=%3D%20r_1(r_0%2B1)%20%2B%20r_2(r_1%2B1)%20%2B%20r_3(r_2%2B1)%3D%205%20%5Ctimes%204%20%2B%203%20%5Ctimes%206%20%2B%201%20%5Ctimes%204%20%3D%2020%20%2B%2018%20%2B%204%20%3D%20%5Cboxed%7B42%7D#0&quot;,&quot;size&quot;:14,&quot;width&quot;:236.2204724409449,&quot;height&quot;:90.04724409448819}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3650" y="3500225"/>
            <a:ext cx="4591555" cy="1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5" name="Google Shape;1205;p94" title="{&quot;red&quot;:0,&quot;green&quot;:0,&quot;blue&quot;:0,&quot;origURL&quot;:&quot;https://www.codecogs.com/eqnedit.php?latex=W%5E2(W%5E1%20X%20%2B%20b%5E1)%20%2B%20b%5E2%20%3D%20%5Cunderbrace%7BW%5E2%20W%5E1%7D%20X%20%2B%20%5Cunderbrace%7BW%5E2%20b%5E1%20%2B%20b%5E2%7D%20%3D%20W'%20X%20%2B%20b'#0&quot;,&quot;size&quot;:14,&quot;width&quot;:637.4173228346457,&quot;height&quot;:31.511811023622045}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96925" y="4037625"/>
            <a:ext cx="5803624" cy="35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94"/>
          <p:cNvSpPr txBox="1"/>
          <p:nvPr/>
        </p:nvSpPr>
        <p:spPr>
          <a:xfrm>
            <a:off x="6400550" y="38081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alibri"/>
                <a:ea typeface="Calibri"/>
                <a:cs typeface="Calibri"/>
                <a:sym typeface="Calibri"/>
              </a:rPr>
              <a:t>Non, c'est équivalent à une seule couche linéaire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95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95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95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Entraînement des réseaux de neurones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15" name="Google Shape;1215;p95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6" name="Google Shape;121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7" name="Google Shape;1217;p95"/>
          <p:cNvSpPr txBox="1"/>
          <p:nvPr/>
        </p:nvSpPr>
        <p:spPr>
          <a:xfrm>
            <a:off x="100675" y="865100"/>
            <a:ext cx="3000000" cy="44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Même objectif et entraînement que les autres modèles paramétriques 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0. Initialiser les poids aléatoirement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Train</a:t>
            </a: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AutoNum type="arabicPeriod"/>
            </a:pP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Calculer le gradient de la loss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AutoNum type="arabicPeriod"/>
            </a:pP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Mettre à jour les paramètres par descente de gradient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AutoNum type="arabicPeriod"/>
            </a:pP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Itérer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Inference</a:t>
            </a: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utiliser le modèle pour prédire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18" name="Google Shape;1218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3088" y="958339"/>
            <a:ext cx="5602274" cy="333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9" name="Google Shape;1219;p95" title="{&quot;red&quot;:0,&quot;green&quot;:0,&quot;blue&quot;:0,&quot;origURL&quot;:&quot;https://www.codecogs.com/eqnedit.php?latex=%5Carg%5Cmin_%7B%5Ctheta%20%5Cin%20%5Cmathbb%7BR%7D%5Ep%7D%20%5Cell(Y%2C%20f_%7B%5Ctheta%7D(X))#0&quot;,&quot;size&quot;:14,&quot;width&quot;:236.2204724409449,&quot;height&quot;:65.45669291338582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8263" y="4520179"/>
            <a:ext cx="2771901" cy="27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96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96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96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Chain Rules - Regle de la chaine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28" name="Google Shape;1228;p96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9" name="Google Shape;122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0" name="Google Shape;1230;p96"/>
          <p:cNvSpPr/>
          <p:nvPr/>
        </p:nvSpPr>
        <p:spPr>
          <a:xfrm>
            <a:off x="2100" y="500420"/>
            <a:ext cx="91419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2400"/>
              <a:buFont typeface="Montserrat"/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31" name="Google Shape;1231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8944" y="2213375"/>
            <a:ext cx="3569532" cy="2683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2" name="Google Shape;1232;p96"/>
          <p:cNvPicPr preferRelativeResize="0"/>
          <p:nvPr/>
        </p:nvPicPr>
        <p:blipFill rotWithShape="1">
          <a:blip r:embed="rId5">
            <a:alphaModFix/>
          </a:blip>
          <a:srcRect b="40764" l="0" r="0" t="37224"/>
          <a:stretch/>
        </p:blipFill>
        <p:spPr>
          <a:xfrm>
            <a:off x="1623688" y="1484350"/>
            <a:ext cx="5480051" cy="678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97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97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97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Backpropagation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41" name="Google Shape;1241;p97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2" name="Google Shape;1242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p97"/>
          <p:cNvSpPr txBox="1"/>
          <p:nvPr/>
        </p:nvSpPr>
        <p:spPr>
          <a:xfrm>
            <a:off x="-69450" y="800325"/>
            <a:ext cx="30000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Calculer directement le gradient de la loss pour un réseau de neurones peut sembler complexe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4" name="Google Shape;1244;p97"/>
          <p:cNvSpPr/>
          <p:nvPr/>
        </p:nvSpPr>
        <p:spPr>
          <a:xfrm>
            <a:off x="2100" y="500420"/>
            <a:ext cx="91419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2400"/>
              <a:buFont typeface="Montserrat"/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45" name="Google Shape;1245;p97" title="{&quot;red&quot;:0,&quot;green&quot;:0,&quot;blue&quot;:0,&quot;origURL&quot;:&quot;https://www.codecogs.com/eqnedit.php?latex=f_%5Ctheta(X)%20%3D%20W%5El%20%5Csigma(W%5E%7Bl-1%7D%20%5Csigma(%5Cldots%20%5Csigma(W%5E1%20X)))#0&quot;,&quot;size&quot;:14,&quot;width&quot;:236.2204724409449,&quot;height&quot;:51.023622047244096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00" y="1668675"/>
            <a:ext cx="2842478" cy="2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6" name="Google Shape;1246;p97" title="{&quot;red&quot;:0,&quot;green&quot;:0,&quot;blue&quot;:0,&quot;origURL&quot;:&quot;https://www.codecogs.com/eqnedit.php?latex=%5Cnabla%20%5Cell(Y%2C%20f_%5Ctheta(X))%20%3D%20%5Cfrac%7B%5Cpartial%20%5Cell(Y%2C%20f(X))%7D%7B%5Cpartial%20w%5Ek_i%7D%20%3D%20%3F#0&quot;,&quot;size&quot;:14,&quot;width&quot;:236.2204724409449,&quot;height&quot;:70.53543307086615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00" y="2345375"/>
            <a:ext cx="2768292" cy="38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7" name="Google Shape;1247;p97" title="{&quot;red&quot;:0,&quot;green&quot;:0,&quot;blue&quot;:0,&quot;origURL&quot;:&quot;https://www.codecogs.com/eqnedit.php?latex=%5Cforall%20k%20%5Cin%20%5B0%2C%20l%5D%2C%20%5Cforall%20i%20%5Cin%20%5B0%2C%20r_k%5D#0&quot;,&quot;size&quot;:14,&quot;width&quot;:236.2204724409449,&quot;height&quot;:51.023622047244096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0300" y="2978131"/>
            <a:ext cx="1940474" cy="214716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97"/>
          <p:cNvSpPr txBox="1"/>
          <p:nvPr/>
        </p:nvSpPr>
        <p:spPr>
          <a:xfrm>
            <a:off x="9300" y="3879250"/>
            <a:ext cx="30000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 peut les calculer efficacement en deux étapes (contre un coup de mémoire)</a:t>
            </a:r>
            <a:endParaRPr/>
          </a:p>
        </p:txBody>
      </p:sp>
      <p:sp>
        <p:nvSpPr>
          <p:cNvPr id="1249" name="Google Shape;1249;p97"/>
          <p:cNvSpPr txBox="1"/>
          <p:nvPr/>
        </p:nvSpPr>
        <p:spPr>
          <a:xfrm>
            <a:off x="3260275" y="3443100"/>
            <a:ext cx="5576400" cy="20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Step 1 : Forward Pass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Pour chaque couche k, calculer les valeurs de pré-activation et d'activation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Step 2 : Backward Pass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Calculer le gradient en utilisant les valeurs du forward pass et le gradient de la couche suivante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Step 3: Apply Gradient Descent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50" name="Google Shape;1250;p97" title="backprop.gif"/>
          <p:cNvPicPr preferRelativeResize="0"/>
          <p:nvPr/>
        </p:nvPicPr>
        <p:blipFill/>
        <p:spPr>
          <a:xfrm>
            <a:off x="3177725" y="850402"/>
            <a:ext cx="5509701" cy="2626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98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98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98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600"/>
              <a:buFont typeface="Georgia"/>
              <a:buNone/>
            </a:pPr>
            <a:r>
              <a:rPr b="1" lang="fr" sz="2600">
                <a:solidFill>
                  <a:srgbClr val="1E3A5F"/>
                </a:solidFill>
                <a:latin typeface="Georgia"/>
                <a:ea typeface="Georgia"/>
                <a:cs typeface="Georgia"/>
                <a:sym typeface="Georgia"/>
              </a:rPr>
              <a:t>Résoudre des problèmes non-linéaires</a:t>
            </a:r>
            <a:endParaRPr b="1" sz="2600">
              <a:solidFill>
                <a:srgbClr val="1E3A5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59" name="Google Shape;1259;p98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0" name="Google Shape;1260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1" name="Google Shape;1261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1975" y="1021150"/>
            <a:ext cx="6402063" cy="372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99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99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99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La promesse du Deep Learning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70" name="Google Shape;1270;p99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1" name="Google Shape;127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2" name="Google Shape;1272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675" y="1088550"/>
            <a:ext cx="6029313" cy="372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3" name="Google Shape;1273;p99"/>
          <p:cNvSpPr txBox="1"/>
          <p:nvPr/>
        </p:nvSpPr>
        <p:spPr>
          <a:xfrm>
            <a:off x="6123000" y="2069150"/>
            <a:ext cx="3000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alibri"/>
                <a:ea typeface="Calibri"/>
                <a:cs typeface="Calibri"/>
                <a:sym typeface="Calibri"/>
              </a:rPr>
              <a:t>Deep Learning : le modèle apprend automatiquement les features pertinentes à partir des données brutes (images, texte, audio). L'extraction de caractéristiques et la classification sont unifiées dans un seul réseau bout-en-bout.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9" name="Google Shape;127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100"/>
          <p:cNvSpPr/>
          <p:nvPr/>
        </p:nvSpPr>
        <p:spPr>
          <a:xfrm>
            <a:off x="0" y="0"/>
            <a:ext cx="2856900" cy="5142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100"/>
          <p:cNvSpPr txBox="1"/>
          <p:nvPr/>
        </p:nvSpPr>
        <p:spPr>
          <a:xfrm>
            <a:off x="23600" y="1516675"/>
            <a:ext cx="3000000" cy="20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Avantages clés :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Modularité : </a:t>
            </a: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architectures très variées et adaptables à différents types de données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Parallélisation : </a:t>
            </a: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entraînement rapide et efficace sur GPU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Performance : </a:t>
            </a: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capacité à modéliser des informations complexes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2" name="Google Shape;1282;p100"/>
          <p:cNvSpPr/>
          <p:nvPr/>
        </p:nvSpPr>
        <p:spPr>
          <a:xfrm>
            <a:off x="0" y="43520"/>
            <a:ext cx="91419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2400"/>
              <a:buFont typeface="Montserrat"/>
              <a:buNone/>
            </a:pPr>
            <a:r>
              <a:rPr lang="fr" sz="240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Les réseaux de neurones sont devenus le standard</a:t>
            </a:r>
            <a:endParaRPr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3" name="Google Shape;1283;p100"/>
          <p:cNvSpPr txBox="1"/>
          <p:nvPr/>
        </p:nvSpPr>
        <p:spPr>
          <a:xfrm>
            <a:off x="2914575" y="24959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Vision par ordinateur</a:t>
            </a:r>
            <a:endParaRPr/>
          </a:p>
        </p:txBody>
      </p:sp>
      <p:sp>
        <p:nvSpPr>
          <p:cNvPr id="1284" name="Google Shape;1284;p100"/>
          <p:cNvSpPr txBox="1"/>
          <p:nvPr/>
        </p:nvSpPr>
        <p:spPr>
          <a:xfrm>
            <a:off x="2914575" y="302142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2012</a:t>
            </a: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AlexNet wins ImageNet by a massive margin (15.3% vs 26.2% error)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5" name="Google Shape;1285;p100"/>
          <p:cNvSpPr txBox="1"/>
          <p:nvPr/>
        </p:nvSpPr>
        <p:spPr>
          <a:xfrm>
            <a:off x="5972250" y="24959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Reconnaissance vocale</a:t>
            </a:r>
            <a:endParaRPr/>
          </a:p>
        </p:txBody>
      </p:sp>
      <p:sp>
        <p:nvSpPr>
          <p:cNvPr id="1286" name="Google Shape;1286;p100"/>
          <p:cNvSpPr txBox="1"/>
          <p:nvPr/>
        </p:nvSpPr>
        <p:spPr>
          <a:xfrm>
            <a:off x="5972250" y="2936675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2012</a:t>
            </a: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Deep neural networks replace GMM-HMMs as the standard for acoustic modeling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7" name="Google Shape;1287;p100"/>
          <p:cNvSpPr txBox="1"/>
          <p:nvPr/>
        </p:nvSpPr>
        <p:spPr>
          <a:xfrm>
            <a:off x="5972250" y="3910106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Traduction automatique</a:t>
            </a:r>
            <a:endParaRPr/>
          </a:p>
        </p:txBody>
      </p:sp>
      <p:sp>
        <p:nvSpPr>
          <p:cNvPr id="1288" name="Google Shape;1288;p100"/>
          <p:cNvSpPr txBox="1"/>
          <p:nvPr/>
        </p:nvSpPr>
        <p:spPr>
          <a:xfrm>
            <a:off x="2914575" y="3910106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Jeux</a:t>
            </a:r>
            <a:endParaRPr/>
          </a:p>
        </p:txBody>
      </p:sp>
      <p:sp>
        <p:nvSpPr>
          <p:cNvPr id="1289" name="Google Shape;1289;p100"/>
          <p:cNvSpPr txBox="1"/>
          <p:nvPr/>
        </p:nvSpPr>
        <p:spPr>
          <a:xfrm>
            <a:off x="5972250" y="4256350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2017</a:t>
            </a: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Transformer architecture ("Attention Is All You Need") becomes the new paradigm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0" name="Google Shape;1290;p100"/>
          <p:cNvSpPr txBox="1"/>
          <p:nvPr/>
        </p:nvSpPr>
        <p:spPr>
          <a:xfrm>
            <a:off x="2914575" y="42563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2016</a:t>
            </a: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— AlphaGo defeats Lee Sedol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91" name="Google Shape;1291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6901" y="426024"/>
            <a:ext cx="3000000" cy="1687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2" name="Google Shape;1292;p100"/>
          <p:cNvPicPr preferRelativeResize="0"/>
          <p:nvPr/>
        </p:nvPicPr>
        <p:blipFill rotWithShape="1">
          <a:blip r:embed="rId5">
            <a:alphaModFix/>
          </a:blip>
          <a:srcRect b="45424" l="0" r="0" t="0"/>
          <a:stretch/>
        </p:blipFill>
        <p:spPr>
          <a:xfrm>
            <a:off x="6006012" y="578426"/>
            <a:ext cx="3137976" cy="145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2A8BB"/>
        </a:solidFill>
      </p:bgPr>
    </p:bg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8" name="Google Shape;1298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9" name="Google Shape;1299;p101"/>
          <p:cNvSpPr/>
          <p:nvPr/>
        </p:nvSpPr>
        <p:spPr>
          <a:xfrm>
            <a:off x="2673746" y="1931559"/>
            <a:ext cx="37965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</a:pPr>
            <a:r>
              <a:rPr b="1" lang="fr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Practical</a:t>
            </a:r>
            <a:endParaRPr b="1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</a:pPr>
            <a:r>
              <a:rPr b="1" lang="fr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Considerations</a:t>
            </a:r>
            <a:endParaRPr b="1" sz="3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102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102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102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Wide and Deep MLP - Nouveau Hyperparameter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08" name="Google Shape;1308;p102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9" name="Google Shape;1309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0" name="Google Shape;1310;p102"/>
          <p:cNvPicPr preferRelativeResize="0"/>
          <p:nvPr/>
        </p:nvPicPr>
        <p:blipFill rotWithShape="1">
          <a:blip r:embed="rId4">
            <a:alphaModFix/>
          </a:blip>
          <a:srcRect b="2415" l="1792" r="2377" t="1735"/>
          <a:stretch/>
        </p:blipFill>
        <p:spPr>
          <a:xfrm>
            <a:off x="0" y="1335750"/>
            <a:ext cx="6495551" cy="32436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p102"/>
          <p:cNvSpPr txBox="1"/>
          <p:nvPr/>
        </p:nvSpPr>
        <p:spPr>
          <a:xfrm>
            <a:off x="6097375" y="1080200"/>
            <a:ext cx="3000000" cy="3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300">
                <a:latin typeface="Calibri"/>
                <a:ea typeface="Calibri"/>
                <a:cs typeface="Calibri"/>
                <a:sym typeface="Calibri"/>
              </a:rPr>
              <a:t>Wide MLP (peu profond et large) : peu de couches mais beaucoup de neurones par couche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300">
                <a:latin typeface="Calibri"/>
                <a:ea typeface="Calibri"/>
                <a:cs typeface="Calibri"/>
                <a:sym typeface="Calibri"/>
              </a:rPr>
              <a:t>Deep MLP (profond et étroit) : beaucoup de couches mais peu de neurones par couche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300">
                <a:latin typeface="Calibri"/>
                <a:ea typeface="Calibri"/>
                <a:cs typeface="Calibri"/>
                <a:sym typeface="Calibri"/>
              </a:rPr>
              <a:t>En pratique, les réseaux profonds et étroits permettent d'apprendre des représentations hiérarchiques avec moins de paramètres.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7" name="Google Shape;1317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7912" y="2910050"/>
            <a:ext cx="5173215" cy="1483896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103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103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103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Mini-batch Gradient Descent - hyperparameter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21" name="Google Shape;1321;p103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2" name="Google Shape;1322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3" name="Google Shape;1323;p103"/>
          <p:cNvSpPr txBox="1"/>
          <p:nvPr/>
        </p:nvSpPr>
        <p:spPr>
          <a:xfrm>
            <a:off x="1838425" y="2445025"/>
            <a:ext cx="7305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Batch size: </a:t>
            </a: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nombre d'échantillons traités avant de mettre à jour les paramètres du modèle.</a:t>
            </a:r>
            <a:b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Epoch</a:t>
            </a:r>
            <a:r>
              <a:rPr lang="fr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un passage complet à travers tout le jeu de données d'entraînement.</a:t>
            </a:r>
            <a:endParaRPr/>
          </a:p>
        </p:txBody>
      </p:sp>
      <p:pic>
        <p:nvPicPr>
          <p:cNvPr id="1324" name="Google Shape;1324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4473" y="902199"/>
            <a:ext cx="4601928" cy="15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5" name="Google Shape;1325;p103" title="{&quot;red&quot;:0,&quot;green&quot;:0,&quot;blue&quot;:0,&quot;origURL&quot;:&quot;https://www.codecogs.com/eqnedit.php?latex=%5Cnabla_%5Ctheta%20%5Cmathcal%7BL%7D%20%3D%20%5Cfrac%7B1%7D%7Bn%7D%5Csum_%7Bi%3D1%7D%5En%20%5Cnabla_%5Ctheta%20%5Cell(f_%5Ctheta(x_i)%2C%20y_i)#0&quot;,&quot;size&quot;:14,&quot;width&quot;:236.2204724409449,&quot;height&quot;:82.41732283464567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28339" y="4498775"/>
            <a:ext cx="1721287" cy="3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6" name="Google Shape;1326;p103" title="{&quot;red&quot;:0,&quot;green&quot;:0,&quot;blue&quot;:0,&quot;origURL&quot;:&quot;https://www.codecogs.com/eqnedit.php?latex=%5Cnabla_%5Ctheta%20%5Cmathcal%7BL%7D%20%5Capprox%20%5Cnabla_%5Ctheta%20%5Cell(f_%5Ctheta(x_i)%2C%20y_i)#0&quot;,&quot;size&quot;:14,&quot;width&quot;:236.2204724409449,&quot;height&quot;:65.45669291338582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17753" y="4627751"/>
            <a:ext cx="1414385" cy="15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7" name="Google Shape;1327;p103" title="{&quot;red&quot;:0,&quot;green&quot;:0,&quot;blue&quot;:0,&quot;origURL&quot;:&quot;https://www.codecogs.com/eqnedit.php?latex=%5Cnabla_%5Ctheta%20%5Cmathcal%7BL%7D%20%5Capprox%20%5Cfrac%7B1%7D%7Bm%7D%5Csum_%7Bi%20%5Cin%20%5Cmathcal%7BB%7D%7D%20%5Cnabla_%5Ctheta%20%5Cell(f_%5Ctheta(x_i)%2C%20y_i)#0&quot;,&quot;size&quot;:14,&quot;width&quot;:236.2204724409449,&quot;height&quot;:82.41732283464567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49294" y="4498775"/>
            <a:ext cx="1473726" cy="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8" name="Google Shape;1328;p103"/>
          <p:cNvSpPr txBox="1"/>
          <p:nvPr/>
        </p:nvSpPr>
        <p:spPr>
          <a:xfrm>
            <a:off x="1871050" y="4819438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Calibri"/>
                <a:ea typeface="Calibri"/>
                <a:cs typeface="Calibri"/>
                <a:sym typeface="Calibri"/>
              </a:rPr>
              <a:t>tout le dataset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103"/>
          <p:cNvSpPr txBox="1"/>
          <p:nvPr/>
        </p:nvSpPr>
        <p:spPr>
          <a:xfrm>
            <a:off x="3917750" y="4819438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Calibri"/>
                <a:ea typeface="Calibri"/>
                <a:cs typeface="Calibri"/>
                <a:sym typeface="Calibri"/>
              </a:rPr>
              <a:t>un seul échantillon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103"/>
          <p:cNvSpPr txBox="1"/>
          <p:nvPr/>
        </p:nvSpPr>
        <p:spPr>
          <a:xfrm>
            <a:off x="6249300" y="4819438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Calibri"/>
                <a:ea typeface="Calibri"/>
                <a:cs typeface="Calibri"/>
                <a:sym typeface="Calibri"/>
              </a:rPr>
              <a:t>sous-ensemble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104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104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104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Overfitting dans les réseaux de neurones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39" name="Google Shape;1339;p104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0" name="Google Shape;1340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104"/>
          <p:cNvSpPr/>
          <p:nvPr/>
        </p:nvSpPr>
        <p:spPr>
          <a:xfrm>
            <a:off x="457200" y="1051560"/>
            <a:ext cx="8229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104"/>
          <p:cNvSpPr/>
          <p:nvPr/>
        </p:nvSpPr>
        <p:spPr>
          <a:xfrm>
            <a:off x="457200" y="1051560"/>
            <a:ext cx="63900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104"/>
          <p:cNvSpPr/>
          <p:nvPr/>
        </p:nvSpPr>
        <p:spPr>
          <a:xfrm>
            <a:off x="731520" y="118872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500"/>
              <a:buFont typeface="Calibri"/>
              <a:buNone/>
            </a:pPr>
            <a:r>
              <a:rPr b="1" lang="fr" sz="15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Les réseaux de neurones ont beaucoup de paramètres → ils sont susceptibles à l'overfitting 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104"/>
          <p:cNvSpPr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fr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le modèle mémorise les données d'entraînement au lieu d'apprendre des patterns généralisables.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5" name="Google Shape;1345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075" y="2609675"/>
            <a:ext cx="4293176" cy="2100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6" name="Google Shape;1346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5832" y="2605900"/>
            <a:ext cx="4297742" cy="21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105"/>
          <p:cNvSpPr/>
          <p:nvPr/>
        </p:nvSpPr>
        <p:spPr>
          <a:xfrm>
            <a:off x="0" y="0"/>
            <a:ext cx="9144000" cy="86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05"/>
          <p:cNvSpPr/>
          <p:nvPr/>
        </p:nvSpPr>
        <p:spPr>
          <a:xfrm>
            <a:off x="0" y="850392"/>
            <a:ext cx="9144000" cy="18300"/>
          </a:xfrm>
          <a:prstGeom prst="rect">
            <a:avLst/>
          </a:prstGeom>
          <a:solidFill>
            <a:srgbClr val="1B8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105"/>
          <p:cNvSpPr/>
          <p:nvPr/>
        </p:nvSpPr>
        <p:spPr>
          <a:xfrm>
            <a:off x="548640" y="137160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B46"/>
              </a:buClr>
              <a:buSzPts val="2400"/>
              <a:buFont typeface="Trebuchet MS"/>
              <a:buNone/>
            </a:pPr>
            <a:r>
              <a:rPr b="1" lang="fr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Early Stopping</a:t>
            </a:r>
            <a:endParaRPr b="1"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55" name="Google Shape;1355;p105"/>
          <p:cNvSpPr/>
          <p:nvPr/>
        </p:nvSpPr>
        <p:spPr>
          <a:xfrm>
            <a:off x="132075" y="4896676"/>
            <a:ext cx="45492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4BD"/>
              </a:buClr>
              <a:buSzPts val="900"/>
              <a:buFont typeface="Calibri"/>
              <a:buNone/>
            </a:pPr>
            <a:r>
              <a:rPr lang="fr" sz="900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Raphael Cousin</a:t>
            </a:r>
            <a:r>
              <a:rPr b="0" i="0" lang="fr" sz="900" u="none" cap="none" strike="noStrike">
                <a:solidFill>
                  <a:srgbClr val="8BA4BD"/>
                </a:solidFill>
                <a:latin typeface="Calibri"/>
                <a:ea typeface="Calibri"/>
                <a:cs typeface="Calibri"/>
                <a:sym typeface="Calibri"/>
              </a:rPr>
              <a:t> — Sorbonne University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6" name="Google Shape;1356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675" y="4745600"/>
            <a:ext cx="761325" cy="3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7" name="Google Shape;1357;p105"/>
          <p:cNvSpPr/>
          <p:nvPr/>
        </p:nvSpPr>
        <p:spPr>
          <a:xfrm>
            <a:off x="132075" y="1020575"/>
            <a:ext cx="4940400" cy="3291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105"/>
          <p:cNvSpPr/>
          <p:nvPr/>
        </p:nvSpPr>
        <p:spPr>
          <a:xfrm>
            <a:off x="296752" y="1249175"/>
            <a:ext cx="46659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500"/>
              <a:buFont typeface="Calibri"/>
              <a:buNone/>
            </a:pPr>
            <a:r>
              <a:rPr b="1" i="0" lang="fr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How it works: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b="0" i="0" lang="fr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fr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Diviser les données en ensembles d'entraînement + validation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b="0" i="0" lang="fr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fr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Entraîner le modèle, évaluer sur la validation après chaque epoch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b="0" i="0" lang="fr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fr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Suivre l'évolution de la loss de validation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b="0" i="0" lang="fr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lang="fr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Quand la loss de validation ne s'améliore plus pendant N epochs → arrêter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b="0" i="0" lang="fr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lang="fr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Retourner le modèle de la meilleure epoch (celle avec la loss de validation la plus basse)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9EA6"/>
              </a:buClr>
              <a:buSzPts val="1400"/>
              <a:buFont typeface="Calibri"/>
              <a:buNone/>
            </a:pPr>
            <a:r>
              <a:rPr b="1" i="0" lang="fr" sz="1300" u="none" cap="none" strike="noStrike">
                <a:solidFill>
                  <a:srgbClr val="5B9EA6"/>
                </a:solidFill>
                <a:latin typeface="Calibri"/>
                <a:ea typeface="Calibri"/>
                <a:cs typeface="Calibri"/>
                <a:sym typeface="Calibri"/>
              </a:rPr>
              <a:t>In scikit-learn: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onsolas"/>
              <a:buNone/>
            </a:pPr>
            <a:r>
              <a:rPr b="0" i="0" lang="fr" sz="1200" u="none" cap="none" strike="noStrike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MLPClassifier(early_stopping=True,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onsolas"/>
              <a:buNone/>
            </a:pPr>
            <a:r>
              <a:rPr b="0" i="0" lang="fr" sz="1200" u="none" cap="none" strike="noStrike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              validation_fraction=0.1,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onsolas"/>
              <a:buNone/>
            </a:pPr>
            <a:r>
              <a:rPr b="0" i="0" lang="fr" sz="1200" u="none" cap="none" strike="noStrike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              n_iter_no_change=10)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9" name="Google Shape;1359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4875" y="1021200"/>
            <a:ext cx="3766724" cy="3051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